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69" r:id="rId5"/>
    <p:sldId id="272" r:id="rId6"/>
    <p:sldId id="273" r:id="rId7"/>
    <p:sldId id="278" r:id="rId8"/>
    <p:sldId id="279" r:id="rId9"/>
    <p:sldId id="256" r:id="rId10"/>
    <p:sldId id="257" r:id="rId11"/>
    <p:sldId id="258" r:id="rId12"/>
    <p:sldId id="274" r:id="rId13"/>
    <p:sldId id="260" r:id="rId14"/>
    <p:sldId id="275" r:id="rId15"/>
    <p:sldId id="276" r:id="rId16"/>
    <p:sldId id="277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E2E8C-D905-611B-B218-2DC9191F6ADD}" v="216" dt="2026-07-21T01:16:34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971A-87C7-53D3-360C-D3937E7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1BDAA-06E1-D702-D5AA-4A11732D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FE348-DF90-ED7B-9C98-8D89F2002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AE7B-E425-1161-9DAE-0DD3727B3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6A2CE-D60F-8F51-1BE8-EC10DC151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8CDC1-D6F9-E712-83B8-F12FC9B57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A0BF7-07BC-C053-B94D-A35D0C6C2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6B3D1-5B13-C82F-D15D-E407BAB70D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614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065AF-5E47-7FA3-92FC-7CF5E1148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7501D-8809-601E-6493-B8ED2D661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52B87-6944-4BA7-61D9-DF7F0F697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2FC3E-CC9A-EA9A-AA0C-1D753D088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755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E06A-934E-9D07-9904-9371D1B6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93E45-FD64-CB3A-E6ED-4DAC7E2A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B9976-0180-275C-B0C9-E1C3D466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732E-C6CA-097E-73A2-CA0338590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 dirty="0"/>
          </a:p>
        </p:txBody>
      </p:sp>
      <p:sp>
        <p:nvSpPr>
          <p:cNvPr id="3" name="Freeform 3"/>
          <p:cNvSpPr/>
          <p:nvPr/>
        </p:nvSpPr>
        <p:spPr>
          <a:xfrm>
            <a:off x="522891" y="891013"/>
            <a:ext cx="2544517" cy="653755"/>
          </a:xfrm>
          <a:custGeom>
            <a:avLst/>
            <a:gdLst/>
            <a:ahLst/>
            <a:cxnLst/>
            <a:rect l="l" t="t" r="r" b="b"/>
            <a:pathLst>
              <a:path w="5089034" h="1307510">
                <a:moveTo>
                  <a:pt x="0" y="0"/>
                </a:moveTo>
                <a:lnTo>
                  <a:pt x="5089034" y="0"/>
                </a:lnTo>
                <a:lnTo>
                  <a:pt x="5089034" y="1307510"/>
                </a:lnTo>
                <a:lnTo>
                  <a:pt x="0" y="1307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000"/>
            </a:blip>
            <a:stretch>
              <a:fillRect/>
            </a:stretch>
          </a:blipFill>
        </p:spPr>
        <p:txBody>
          <a:bodyPr/>
          <a:lstStyle/>
          <a:p>
            <a:endParaRPr lang="en-US" sz="900" dirty="0"/>
          </a:p>
        </p:txBody>
      </p:sp>
      <p:sp>
        <p:nvSpPr>
          <p:cNvPr id="4" name="AutoShape 4"/>
          <p:cNvSpPr/>
          <p:nvPr/>
        </p:nvSpPr>
        <p:spPr>
          <a:xfrm flipV="1">
            <a:off x="522891" y="1737971"/>
            <a:ext cx="5719123" cy="0"/>
          </a:xfrm>
          <a:prstGeom prst="line">
            <a:avLst/>
          </a:prstGeom>
          <a:ln w="57150" cap="rnd">
            <a:gradFill>
              <a:gsLst>
                <a:gs pos="0">
                  <a:srgbClr val="1667CC">
                    <a:alpha val="100000"/>
                  </a:srgbClr>
                </a:gs>
                <a:gs pos="100000">
                  <a:srgbClr val="3DC570">
                    <a:alpha val="100000"/>
                  </a:srgbClr>
                </a:gs>
              </a:gsLst>
              <a:lin ang="27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900"/>
          </a:p>
        </p:txBody>
      </p:sp>
      <p:sp>
        <p:nvSpPr>
          <p:cNvPr id="5" name="TextBox 5"/>
          <p:cNvSpPr txBox="1"/>
          <p:nvPr/>
        </p:nvSpPr>
        <p:spPr>
          <a:xfrm>
            <a:off x="522891" y="1880847"/>
            <a:ext cx="5719123" cy="297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dirty="0">
                <a:solidFill>
                  <a:srgbClr val="FFFFFF"/>
                </a:solidFill>
                <a:highlight>
                  <a:srgbClr val="00FF00"/>
                </a:highlight>
                <a:latin typeface="Montserrat"/>
                <a:ea typeface="Montserrat"/>
                <a:cs typeface="Montserrat"/>
                <a:sym typeface="Montserrat"/>
              </a:rPr>
              <a:t>Customer Name </a:t>
            </a:r>
            <a:r>
              <a:rPr lang="en-US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Onboarding Kick-off Call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A4CFBC94-6E4E-6A95-33E4-9648209A10C3}"/>
              </a:ext>
            </a:extLst>
          </p:cNvPr>
          <p:cNvSpPr txBox="1"/>
          <p:nvPr/>
        </p:nvSpPr>
        <p:spPr>
          <a:xfrm>
            <a:off x="522890" y="2178301"/>
            <a:ext cx="4791079" cy="284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  <a:spcBef>
                <a:spcPct val="0"/>
              </a:spcBef>
            </a:pPr>
            <a:r>
              <a:rPr lang="en-US" sz="1400" dirty="0">
                <a:solidFill>
                  <a:srgbClr val="FFFFFF"/>
                </a:solidFill>
                <a:highlight>
                  <a:srgbClr val="00FF00"/>
                </a:highlight>
                <a:latin typeface="Montserrat"/>
                <a:ea typeface="Montserrat"/>
                <a:cs typeface="Montserrat"/>
                <a:sym typeface="Montserrat"/>
              </a:rPr>
              <a:t>January 30, 2026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741FC1-5157-E652-D4CC-992A9A21E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9D047F12-78D6-0929-7E37-A0703CBCFF3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B64594EE-7C45-FD13-4EFD-F1A5ED9509F6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OVERVIEW</a:t>
            </a:r>
            <a:endParaRPr lang="en-US" sz="1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552FDBD5-28F9-280B-0B7D-E0A8F4108299}"/>
              </a:ext>
            </a:extLst>
          </p:cNvPr>
          <p:cNvSpPr/>
          <p:nvPr/>
        </p:nvSpPr>
        <p:spPr>
          <a:xfrm>
            <a:off x="441378" y="588926"/>
            <a:ext cx="3988797" cy="55849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D3756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Contract</a:t>
            </a:r>
            <a:r>
              <a:rPr lang="en-US" sz="2800" b="1" dirty="0">
                <a:solidFill>
                  <a:srgbClr val="1D3756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 Review</a:t>
            </a:r>
            <a:endParaRPr lang="en-US" sz="2800">
              <a:latin typeface="Montserrat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1815EC7-7305-CD8B-F26E-BAAD93A4A0E5}"/>
              </a:ext>
            </a:extLst>
          </p:cNvPr>
          <p:cNvGrpSpPr/>
          <p:nvPr/>
        </p:nvGrpSpPr>
        <p:grpSpPr>
          <a:xfrm>
            <a:off x="446315" y="1155626"/>
            <a:ext cx="8251370" cy="3289010"/>
            <a:chOff x="4572000" y="1060704"/>
            <a:chExt cx="4114800" cy="384962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67D1B6D0-F6DE-8B68-2E91-90567BC6EBD7}"/>
                </a:ext>
              </a:extLst>
            </p:cNvPr>
            <p:cNvGrpSpPr/>
            <p:nvPr/>
          </p:nvGrpSpPr>
          <p:grpSpPr>
            <a:xfrm>
              <a:off x="4572000" y="1060704"/>
              <a:ext cx="4114800" cy="3849624"/>
              <a:chOff x="4572000" y="685800"/>
              <a:chExt cx="4114800" cy="3840480"/>
            </a:xfrm>
          </p:grpSpPr>
          <p:sp>
            <p:nvSpPr>
              <p:cNvPr id="13" name="Shape 12">
                <a:extLst>
                  <a:ext uri="{FF2B5EF4-FFF2-40B4-BE49-F238E27FC236}">
                    <a16:creationId xmlns:a16="http://schemas.microsoft.com/office/drawing/2014/main" id="{20E9BB06-1A39-B041-30CC-3A71BF4C62D6}"/>
                  </a:ext>
                </a:extLst>
              </p:cNvPr>
              <p:cNvSpPr/>
              <p:nvPr/>
            </p:nvSpPr>
            <p:spPr>
              <a:xfrm>
                <a:off x="4572000" y="685800"/>
                <a:ext cx="4114800" cy="3840480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Shape 13">
                <a:extLst>
                  <a:ext uri="{FF2B5EF4-FFF2-40B4-BE49-F238E27FC236}">
                    <a16:creationId xmlns:a16="http://schemas.microsoft.com/office/drawing/2014/main" id="{8ADCBA2C-AEDF-B0B4-D548-10638E630312}"/>
                  </a:ext>
                </a:extLst>
              </p:cNvPr>
              <p:cNvSpPr/>
              <p:nvPr/>
            </p:nvSpPr>
            <p:spPr>
              <a:xfrm>
                <a:off x="4572000" y="685800"/>
                <a:ext cx="109728" cy="384048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Shape 17">
                <a:extLst>
                  <a:ext uri="{FF2B5EF4-FFF2-40B4-BE49-F238E27FC236}">
                    <a16:creationId xmlns:a16="http://schemas.microsoft.com/office/drawing/2014/main" id="{EBA1EED3-B530-6D9F-6713-5C546C956C24}"/>
                  </a:ext>
                </a:extLst>
              </p:cNvPr>
              <p:cNvSpPr/>
              <p:nvPr/>
            </p:nvSpPr>
            <p:spPr>
              <a:xfrm>
                <a:off x="4892040" y="2148840"/>
                <a:ext cx="3566160" cy="18288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Shape 20">
                <a:extLst>
                  <a:ext uri="{FF2B5EF4-FFF2-40B4-BE49-F238E27FC236}">
                    <a16:creationId xmlns:a16="http://schemas.microsoft.com/office/drawing/2014/main" id="{1D775402-C0A7-C621-2A80-68334B84F584}"/>
                  </a:ext>
                </a:extLst>
              </p:cNvPr>
              <p:cNvSpPr/>
              <p:nvPr/>
            </p:nvSpPr>
            <p:spPr>
              <a:xfrm>
                <a:off x="4892040" y="3291840"/>
                <a:ext cx="3566160" cy="18288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" name="Text 14">
              <a:extLst>
                <a:ext uri="{FF2B5EF4-FFF2-40B4-BE49-F238E27FC236}">
                  <a16:creationId xmlns:a16="http://schemas.microsoft.com/office/drawing/2014/main" id="{3B094176-B40C-DE45-F6CA-0BE136B810D2}"/>
                </a:ext>
              </a:extLst>
            </p:cNvPr>
            <p:cNvSpPr/>
            <p:nvPr/>
          </p:nvSpPr>
          <p:spPr>
            <a:xfrm>
              <a:off x="4892040" y="1243583"/>
              <a:ext cx="3566160" cy="36663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2399B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CONTRACT SPECIFICS</a:t>
              </a:r>
              <a:endParaRPr lang="en-US" sz="1400" dirty="0"/>
            </a:p>
          </p:txBody>
        </p:sp>
        <p:sp>
          <p:nvSpPr>
            <p:cNvPr id="16" name="Text 15">
              <a:extLst>
                <a:ext uri="{FF2B5EF4-FFF2-40B4-BE49-F238E27FC236}">
                  <a16:creationId xmlns:a16="http://schemas.microsoft.com/office/drawing/2014/main" id="{6210ED57-269D-69CB-B6E9-627BC6668B1C}"/>
                </a:ext>
              </a:extLst>
            </p:cNvPr>
            <p:cNvSpPr/>
            <p:nvPr/>
          </p:nvSpPr>
          <p:spPr>
            <a:xfrm>
              <a:off x="4892040" y="1792223"/>
              <a:ext cx="3566160" cy="27497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Package Details</a:t>
              </a:r>
              <a:endParaRPr lang="en-US" sz="1400" b="1" dirty="0"/>
            </a:p>
          </p:txBody>
        </p:sp>
        <p:sp>
          <p:nvSpPr>
            <p:cNvPr id="17" name="Text 16">
              <a:extLst>
                <a:ext uri="{FF2B5EF4-FFF2-40B4-BE49-F238E27FC236}">
                  <a16:creationId xmlns:a16="http://schemas.microsoft.com/office/drawing/2014/main" id="{C8941C86-09E3-23C7-A511-581C52C4FB25}"/>
                </a:ext>
              </a:extLst>
            </p:cNvPr>
            <p:cNvSpPr/>
            <p:nvPr/>
          </p:nvSpPr>
          <p:spPr>
            <a:xfrm>
              <a:off x="4892040" y="2112263"/>
              <a:ext cx="3566160" cy="274973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300">
                  <a:solidFill>
                    <a:srgbClr val="F8F8F8"/>
                  </a:solidFill>
                  <a:highlight>
                    <a:srgbClr val="00FF00"/>
                  </a:highlight>
                  <a:latin typeface="Montserrat"/>
                </a:rPr>
                <a:t>Insert Package Details</a:t>
              </a:r>
              <a:endParaRPr lang="en-US" sz="1300" dirty="0">
                <a:solidFill>
                  <a:srgbClr val="F8F8F8"/>
                </a:solidFill>
                <a:highlight>
                  <a:srgbClr val="00FF00"/>
                </a:highlight>
                <a:latin typeface="Montserrat"/>
              </a:endParaRPr>
            </a:p>
          </p:txBody>
        </p:sp>
        <p:sp>
          <p:nvSpPr>
            <p:cNvPr id="19" name="Text 18">
              <a:extLst>
                <a:ext uri="{FF2B5EF4-FFF2-40B4-BE49-F238E27FC236}">
                  <a16:creationId xmlns:a16="http://schemas.microsoft.com/office/drawing/2014/main" id="{8381353F-B64A-DED5-8D69-659D0FC3AA78}"/>
                </a:ext>
              </a:extLst>
            </p:cNvPr>
            <p:cNvSpPr/>
            <p:nvPr/>
          </p:nvSpPr>
          <p:spPr>
            <a:xfrm>
              <a:off x="4892040" y="2706623"/>
              <a:ext cx="3566160" cy="27497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Recurring Fees</a:t>
              </a:r>
              <a:endParaRPr lang="en-US" sz="1400" b="1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C0CEFCEC-DFC0-296C-59A0-C72D1E0C05AD}"/>
                </a:ext>
              </a:extLst>
            </p:cNvPr>
            <p:cNvSpPr/>
            <p:nvPr/>
          </p:nvSpPr>
          <p:spPr>
            <a:xfrm>
              <a:off x="4892040" y="3026664"/>
              <a:ext cx="3566160" cy="549946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300">
                  <a:solidFill>
                    <a:srgbClr val="F8F8F8"/>
                  </a:solidFill>
                  <a:highlight>
                    <a:srgbClr val="00FF00"/>
                  </a:highlight>
                  <a:latin typeface="Montserrat"/>
                  <a:ea typeface="Montserrat" pitchFamily="34" charset="-122"/>
                  <a:cs typeface="Montserrat" pitchFamily="34" charset="-120"/>
                </a:rPr>
                <a:t>X</a:t>
              </a:r>
              <a:r>
                <a:rPr lang="en-US" sz="1300">
                  <a:solidFill>
                    <a:srgbClr val="F8F8F8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 Standard Licenses at $</a:t>
              </a:r>
              <a:r>
                <a:rPr lang="en-US" sz="1300">
                  <a:solidFill>
                    <a:srgbClr val="F8F8F8"/>
                  </a:solidFill>
                  <a:highlight>
                    <a:srgbClr val="00FF00"/>
                  </a:highlight>
                  <a:latin typeface="Montserrat"/>
                  <a:ea typeface="Montserrat" pitchFamily="34" charset="-122"/>
                  <a:cs typeface="Montserrat" pitchFamily="34" charset="-120"/>
                </a:rPr>
                <a:t>X</a:t>
              </a:r>
              <a:r>
                <a:rPr lang="en-US" sz="1300">
                  <a:solidFill>
                    <a:srgbClr val="F8F8F8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 per seat</a:t>
              </a:r>
              <a:endParaRPr lang="en-US" sz="1300">
                <a:latin typeface="Montserrat"/>
              </a:endParaRPr>
            </a:p>
            <a:p>
              <a:r>
                <a:rPr lang="en-US" sz="1300">
                  <a:solidFill>
                    <a:srgbClr val="F8F8F8"/>
                  </a:solidFill>
                  <a:highlight>
                    <a:srgbClr val="00FF00"/>
                  </a:highlight>
                  <a:latin typeface="Montserrat"/>
                  <a:ea typeface="Montserrat" pitchFamily="34" charset="-122"/>
                  <a:cs typeface="Montserrat" pitchFamily="34" charset="-120"/>
                </a:rPr>
                <a:t>X</a:t>
              </a:r>
              <a:r>
                <a:rPr lang="en-US" sz="1300">
                  <a:solidFill>
                    <a:srgbClr val="F8F8F8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 Field Licenses at $</a:t>
              </a:r>
              <a:r>
                <a:rPr lang="en-US" sz="1300">
                  <a:solidFill>
                    <a:srgbClr val="F8F8F8"/>
                  </a:solidFill>
                  <a:highlight>
                    <a:srgbClr val="00FF00"/>
                  </a:highlight>
                  <a:latin typeface="Montserrat"/>
                  <a:ea typeface="Montserrat" pitchFamily="34" charset="-122"/>
                  <a:cs typeface="Montserrat" pitchFamily="34" charset="-120"/>
                </a:rPr>
                <a:t>X</a:t>
              </a:r>
              <a:r>
                <a:rPr lang="en-US" sz="1300" dirty="0">
                  <a:solidFill>
                    <a:srgbClr val="F8F8F8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 per seat</a:t>
              </a:r>
              <a:endParaRPr lang="en-US" sz="1300" dirty="0">
                <a:latin typeface="Montserrat"/>
              </a:endParaRPr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565DDFB8-7D23-D852-CB36-B2157232B3F9}"/>
                </a:ext>
              </a:extLst>
            </p:cNvPr>
            <p:cNvSpPr/>
            <p:nvPr/>
          </p:nvSpPr>
          <p:spPr>
            <a:xfrm>
              <a:off x="4892040" y="3849623"/>
              <a:ext cx="3566160" cy="27497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Start Date</a:t>
              </a:r>
              <a:endParaRPr lang="en-US" sz="1400" b="1" dirty="0"/>
            </a:p>
          </p:txBody>
        </p:sp>
        <p:sp>
          <p:nvSpPr>
            <p:cNvPr id="23" name="Text 22">
              <a:extLst>
                <a:ext uri="{FF2B5EF4-FFF2-40B4-BE49-F238E27FC236}">
                  <a16:creationId xmlns:a16="http://schemas.microsoft.com/office/drawing/2014/main" id="{0C43F53B-E8E4-26D0-D789-17BCA8AF40BE}"/>
                </a:ext>
              </a:extLst>
            </p:cNvPr>
            <p:cNvSpPr/>
            <p:nvPr/>
          </p:nvSpPr>
          <p:spPr>
            <a:xfrm>
              <a:off x="4892040" y="4169663"/>
              <a:ext cx="3566160" cy="274973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8F8F8"/>
                  </a:solidFill>
                  <a:highlight>
                    <a:srgbClr val="00FF00"/>
                  </a:highlight>
                  <a:latin typeface="Montserrat"/>
                </a:rPr>
                <a:t>XX/XX/XXXX</a:t>
              </a:r>
              <a:endParaRPr lang="en-US" sz="1300" dirty="0">
                <a:highlight>
                  <a:srgbClr val="00FF00"/>
                </a:highlight>
              </a:endParaRPr>
            </a:p>
          </p:txBody>
        </p:sp>
      </p:grpSp>
      <p:pic>
        <p:nvPicPr>
          <p:cNvPr id="33" name="Picture 32" descr="A blue and black logo&#10;&#10;AI-generated content may be incorrect.">
            <a:extLst>
              <a:ext uri="{FF2B5EF4-FFF2-40B4-BE49-F238E27FC236}">
                <a16:creationId xmlns:a16="http://schemas.microsoft.com/office/drawing/2014/main" id="{AD10A1EF-7200-45E9-6222-5B2735778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770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67B29-BF65-330F-EF37-AE5D3AD5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23A92973-B364-9534-EEA0-77AB5C5699B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05974058-8179-6D83-4AD2-C872EB03F598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OVERVIEW</a:t>
            </a:r>
            <a:endParaRPr lang="en-US" sz="1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7D36099-DAE6-B69E-54C0-351403F96BE5}"/>
              </a:ext>
            </a:extLst>
          </p:cNvPr>
          <p:cNvSpPr/>
          <p:nvPr/>
        </p:nvSpPr>
        <p:spPr>
          <a:xfrm>
            <a:off x="446820" y="588926"/>
            <a:ext cx="5578112" cy="6292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D3756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Business Case Review</a:t>
            </a:r>
            <a:endParaRPr lang="en-US" sz="2800">
              <a:latin typeface="Montserrat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C1ACAC9-7751-BFD1-F20A-DE94E843AF7A}"/>
              </a:ext>
            </a:extLst>
          </p:cNvPr>
          <p:cNvGrpSpPr/>
          <p:nvPr/>
        </p:nvGrpSpPr>
        <p:grpSpPr>
          <a:xfrm>
            <a:off x="440874" y="1388801"/>
            <a:ext cx="8260077" cy="2992045"/>
            <a:chOff x="454666" y="2157984"/>
            <a:chExt cx="3843014" cy="117957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D6B76B0-F48F-394F-CEBB-22036F470CD8}"/>
                </a:ext>
              </a:extLst>
            </p:cNvPr>
            <p:cNvGrpSpPr/>
            <p:nvPr/>
          </p:nvGrpSpPr>
          <p:grpSpPr>
            <a:xfrm>
              <a:off x="454666" y="2157984"/>
              <a:ext cx="3843014" cy="1179576"/>
              <a:chOff x="454666" y="2157984"/>
              <a:chExt cx="3843014" cy="1179576"/>
            </a:xfrm>
          </p:grpSpPr>
          <p:sp>
            <p:nvSpPr>
              <p:cNvPr id="5" name="Shape 4">
                <a:extLst>
                  <a:ext uri="{FF2B5EF4-FFF2-40B4-BE49-F238E27FC236}">
                    <a16:creationId xmlns:a16="http://schemas.microsoft.com/office/drawing/2014/main" id="{C1C9DA2D-CFCA-B1F5-2202-FC30D2B5B803}"/>
                  </a:ext>
                </a:extLst>
              </p:cNvPr>
              <p:cNvSpPr/>
              <p:nvPr/>
            </p:nvSpPr>
            <p:spPr>
              <a:xfrm>
                <a:off x="454666" y="2249424"/>
                <a:ext cx="3843014" cy="108813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Shape 5">
                <a:extLst>
                  <a:ext uri="{FF2B5EF4-FFF2-40B4-BE49-F238E27FC236}">
                    <a16:creationId xmlns:a16="http://schemas.microsoft.com/office/drawing/2014/main" id="{0D69DBE0-33F0-9D4C-8D13-3E5A7FB3D5F5}"/>
                  </a:ext>
                </a:extLst>
              </p:cNvPr>
              <p:cNvSpPr/>
              <p:nvPr/>
            </p:nvSpPr>
            <p:spPr>
              <a:xfrm>
                <a:off x="454666" y="2157984"/>
                <a:ext cx="3843014" cy="193906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533C2C17-7230-94E3-091E-3CF604E0ECF3}"/>
                </a:ext>
              </a:extLst>
            </p:cNvPr>
            <p:cNvSpPr/>
            <p:nvPr/>
          </p:nvSpPr>
          <p:spPr>
            <a:xfrm>
              <a:off x="548640" y="2174322"/>
              <a:ext cx="3474720" cy="17044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Motivations for Investment</a:t>
              </a:r>
              <a:endParaRPr lang="en-US" sz="14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7E0D043E-C1AF-2C4C-5D15-DA710E4FF3E9}"/>
                </a:ext>
              </a:extLst>
            </p:cNvPr>
            <p:cNvSpPr/>
            <p:nvPr/>
          </p:nvSpPr>
          <p:spPr>
            <a:xfrm>
              <a:off x="640080" y="2497724"/>
              <a:ext cx="3474720" cy="502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171450" indent="-171450">
                <a:buSzPct val="100000"/>
                <a:buFont typeface="Arial"/>
                <a:buChar char="•"/>
              </a:pPr>
              <a:r>
                <a:rPr lang="en-US" sz="1200" dirty="0">
                  <a:solidFill>
                    <a:srgbClr val="5C5C5C"/>
                  </a:solidFill>
                  <a:highlight>
                    <a:srgbClr val="00FF00"/>
                  </a:highlight>
                  <a:latin typeface="Montserrat"/>
                  <a:ea typeface="Calibri"/>
                  <a:cs typeface="Calibri"/>
                </a:rPr>
                <a:t>Motivations for </a:t>
              </a:r>
              <a:r>
                <a:rPr lang="en-US" sz="1200">
                  <a:solidFill>
                    <a:srgbClr val="5C5C5C"/>
                  </a:solidFill>
                  <a:highlight>
                    <a:srgbClr val="00FF00"/>
                  </a:highlight>
                  <a:latin typeface="Montserrat"/>
                  <a:ea typeface="Calibri"/>
                  <a:cs typeface="Calibri"/>
                </a:rPr>
                <a:t>Investment</a:t>
              </a:r>
              <a:endParaRPr lang="en-US" sz="1200">
                <a:highlight>
                  <a:srgbClr val="00FF00"/>
                </a:highlight>
                <a:latin typeface="Montserrat"/>
                <a:ea typeface="Calibri"/>
                <a:cs typeface="Calibri"/>
              </a:endParaRPr>
            </a:p>
          </p:txBody>
        </p:sp>
      </p:grpSp>
      <p:pic>
        <p:nvPicPr>
          <p:cNvPr id="33" name="Picture 32" descr="A blue and black logo&#10;&#10;AI-generated content may be incorrect.">
            <a:extLst>
              <a:ext uri="{FF2B5EF4-FFF2-40B4-BE49-F238E27FC236}">
                <a16:creationId xmlns:a16="http://schemas.microsoft.com/office/drawing/2014/main" id="{17184858-F328-64E7-CEE7-62B2137FE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62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957091-3A59-9887-FF55-1819BD192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2C543515-E62B-2416-EA5A-97DA4FD44E8B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BA4B345A-239C-34DE-A22F-3FF3E2958BFF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CLIENT OVERVIEW</a:t>
            </a:r>
            <a:endParaRPr lang="en-US" sz="1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12D1E842-5504-A290-3D9F-5D456D5C9223}"/>
              </a:ext>
            </a:extLst>
          </p:cNvPr>
          <p:cNvSpPr/>
          <p:nvPr/>
        </p:nvSpPr>
        <p:spPr>
          <a:xfrm>
            <a:off x="446820" y="588926"/>
            <a:ext cx="5578112" cy="6292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D3756"/>
                </a:solidFill>
                <a:latin typeface="Montserrat"/>
                <a:ea typeface="Montserrat" pitchFamily="34" charset="-122"/>
                <a:cs typeface="Montserrat" pitchFamily="34" charset="-120"/>
              </a:rPr>
              <a:t>Business Case Review</a:t>
            </a:r>
            <a:endParaRPr lang="en-US" sz="2800">
              <a:latin typeface="Montserrat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159CAA-894F-2900-A6D5-D71B6AB24C46}"/>
              </a:ext>
            </a:extLst>
          </p:cNvPr>
          <p:cNvGrpSpPr/>
          <p:nvPr/>
        </p:nvGrpSpPr>
        <p:grpSpPr>
          <a:xfrm>
            <a:off x="440874" y="1388801"/>
            <a:ext cx="8260077" cy="2992045"/>
            <a:chOff x="454666" y="2157984"/>
            <a:chExt cx="3843014" cy="117957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835AD95-F4A8-A0ED-AB52-C50876C281D4}"/>
                </a:ext>
              </a:extLst>
            </p:cNvPr>
            <p:cNvGrpSpPr/>
            <p:nvPr/>
          </p:nvGrpSpPr>
          <p:grpSpPr>
            <a:xfrm>
              <a:off x="454666" y="2157984"/>
              <a:ext cx="3843014" cy="1179576"/>
              <a:chOff x="454666" y="2157984"/>
              <a:chExt cx="3843014" cy="1179576"/>
            </a:xfrm>
          </p:grpSpPr>
          <p:sp>
            <p:nvSpPr>
              <p:cNvPr id="5" name="Shape 4">
                <a:extLst>
                  <a:ext uri="{FF2B5EF4-FFF2-40B4-BE49-F238E27FC236}">
                    <a16:creationId xmlns:a16="http://schemas.microsoft.com/office/drawing/2014/main" id="{5A54F80F-8303-A060-CB29-5E131DC0E3E2}"/>
                  </a:ext>
                </a:extLst>
              </p:cNvPr>
              <p:cNvSpPr/>
              <p:nvPr/>
            </p:nvSpPr>
            <p:spPr>
              <a:xfrm>
                <a:off x="454666" y="2249424"/>
                <a:ext cx="3843014" cy="1088136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Shape 5">
                <a:extLst>
                  <a:ext uri="{FF2B5EF4-FFF2-40B4-BE49-F238E27FC236}">
                    <a16:creationId xmlns:a16="http://schemas.microsoft.com/office/drawing/2014/main" id="{CC2BA08B-7FF0-9820-AC78-36A9F08BD88B}"/>
                  </a:ext>
                </a:extLst>
              </p:cNvPr>
              <p:cNvSpPr/>
              <p:nvPr/>
            </p:nvSpPr>
            <p:spPr>
              <a:xfrm>
                <a:off x="454666" y="2157984"/>
                <a:ext cx="3843014" cy="193906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Text 6">
              <a:extLst>
                <a:ext uri="{FF2B5EF4-FFF2-40B4-BE49-F238E27FC236}">
                  <a16:creationId xmlns:a16="http://schemas.microsoft.com/office/drawing/2014/main" id="{5B45CA69-43B8-54AC-1FC0-EB1CCBB38020}"/>
                </a:ext>
              </a:extLst>
            </p:cNvPr>
            <p:cNvSpPr/>
            <p:nvPr/>
          </p:nvSpPr>
          <p:spPr>
            <a:xfrm>
              <a:off x="548640" y="2174322"/>
              <a:ext cx="3474720" cy="17044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400" dirty="0" err="1">
                  <a:solidFill>
                    <a:srgbClr val="FFFFFF"/>
                  </a:solidFill>
                  <a:latin typeface="Montserrat"/>
                </a:rPr>
                <a:t>Rev.io's</a:t>
              </a:r>
              <a:r>
                <a:rPr lang="en-US" sz="1400" dirty="0">
                  <a:solidFill>
                    <a:srgbClr val="FFFFFF"/>
                  </a:solidFill>
                  <a:latin typeface="Montserrat"/>
                </a:rPr>
                <a:t> Solutions</a:t>
              </a:r>
              <a:endParaRPr lang="en-US" sz="1400" dirty="0"/>
            </a:p>
          </p:txBody>
        </p:sp>
        <p:sp>
          <p:nvSpPr>
            <p:cNvPr id="8" name="Text 7">
              <a:extLst>
                <a:ext uri="{FF2B5EF4-FFF2-40B4-BE49-F238E27FC236}">
                  <a16:creationId xmlns:a16="http://schemas.microsoft.com/office/drawing/2014/main" id="{62B8D862-0C61-A1FB-D522-DFBFCC877490}"/>
                </a:ext>
              </a:extLst>
            </p:cNvPr>
            <p:cNvSpPr/>
            <p:nvPr/>
          </p:nvSpPr>
          <p:spPr>
            <a:xfrm>
              <a:off x="640080" y="2497724"/>
              <a:ext cx="3474720" cy="502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171450" indent="-171450">
                <a:buSzPct val="100000"/>
                <a:buFont typeface="Arial"/>
                <a:buChar char="•"/>
              </a:pPr>
              <a:r>
                <a:rPr lang="en-US" sz="1200" dirty="0" err="1">
                  <a:solidFill>
                    <a:srgbClr val="5C5C5C"/>
                  </a:solidFill>
                  <a:highlight>
                    <a:srgbClr val="00FF00"/>
                  </a:highlight>
                  <a:latin typeface="Montserrat"/>
                  <a:ea typeface="Calibri"/>
                  <a:cs typeface="Calibri"/>
                </a:rPr>
                <a:t>Rev.io's</a:t>
              </a:r>
              <a:r>
                <a:rPr lang="en-US" sz="1200" dirty="0">
                  <a:solidFill>
                    <a:srgbClr val="5C5C5C"/>
                  </a:solidFill>
                  <a:highlight>
                    <a:srgbClr val="00FF00"/>
                  </a:highlight>
                  <a:latin typeface="Montserrat"/>
                  <a:ea typeface="Calibri"/>
                  <a:cs typeface="Calibri"/>
                </a:rPr>
                <a:t> Value and Solutions</a:t>
              </a:r>
            </a:p>
          </p:txBody>
        </p:sp>
      </p:grpSp>
      <p:pic>
        <p:nvPicPr>
          <p:cNvPr id="33" name="Picture 32" descr="A blue and black logo&#10;&#10;AI-generated content may be incorrect.">
            <a:extLst>
              <a:ext uri="{FF2B5EF4-FFF2-40B4-BE49-F238E27FC236}">
                <a16:creationId xmlns:a16="http://schemas.microsoft.com/office/drawing/2014/main" id="{CD104B89-DB8B-B3B4-5163-6C1F785B4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FA43FAFC-54CF-2E7D-59AC-5405135BA269}"/>
              </a:ext>
            </a:extLst>
          </p:cNvPr>
          <p:cNvSpPr/>
          <p:nvPr/>
        </p:nvSpPr>
        <p:spPr>
          <a:xfrm>
            <a:off x="-73152" y="0"/>
            <a:ext cx="9217152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46595C9B-268E-7BA3-28C9-196DB7DD6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FD4458DB-B546-4E12-D393-9FF424EBF38F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OPTIONAL MODULE DISCOVERY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570552DB-0EA7-000A-EC90-365B54E913C5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Setup Facts</a:t>
            </a:r>
            <a:endParaRPr lang="en-US" sz="2800" b="1" dirty="0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330412D-FB30-0F1B-D3D5-E55CB27391E8}"/>
              </a:ext>
            </a:extLst>
          </p:cNvPr>
          <p:cNvGrpSpPr/>
          <p:nvPr/>
        </p:nvGrpSpPr>
        <p:grpSpPr>
          <a:xfrm>
            <a:off x="441894" y="1412975"/>
            <a:ext cx="8327202" cy="2697480"/>
            <a:chOff x="451038" y="1444752"/>
            <a:chExt cx="8327202" cy="269748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6AC7D38E-AF0F-C12B-20C6-6428ABAD671A}"/>
                </a:ext>
              </a:extLst>
            </p:cNvPr>
            <p:cNvGrpSpPr/>
            <p:nvPr/>
          </p:nvGrpSpPr>
          <p:grpSpPr>
            <a:xfrm>
              <a:off x="457200" y="1444752"/>
              <a:ext cx="8229600" cy="594360"/>
              <a:chOff x="457200" y="1920240"/>
              <a:chExt cx="8229600" cy="594360"/>
            </a:xfrm>
          </p:grpSpPr>
          <p:sp>
            <p:nvSpPr>
              <p:cNvPr id="112" name="Shape 3">
                <a:extLst>
                  <a:ext uri="{FF2B5EF4-FFF2-40B4-BE49-F238E27FC236}">
                    <a16:creationId xmlns:a16="http://schemas.microsoft.com/office/drawing/2014/main" id="{69C3334F-6F10-0DDF-304B-37C6E9CC703A}"/>
                  </a:ext>
                </a:extLst>
              </p:cNvPr>
              <p:cNvSpPr/>
              <p:nvPr/>
            </p:nvSpPr>
            <p:spPr>
              <a:xfrm>
                <a:off x="457200" y="1920240"/>
                <a:ext cx="8229600" cy="594360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3" name="Shape 4">
                <a:extLst>
                  <a:ext uri="{FF2B5EF4-FFF2-40B4-BE49-F238E27FC236}">
                    <a16:creationId xmlns:a16="http://schemas.microsoft.com/office/drawing/2014/main" id="{BEF5E975-66D0-1281-6BDF-47DA5E1F75DD}"/>
                  </a:ext>
                </a:extLst>
              </p:cNvPr>
              <p:cNvSpPr/>
              <p:nvPr/>
            </p:nvSpPr>
            <p:spPr>
              <a:xfrm>
                <a:off x="457200" y="1920240"/>
                <a:ext cx="73152" cy="594360"/>
              </a:xfrm>
              <a:prstGeom prst="rect">
                <a:avLst/>
              </a:prstGeom>
              <a:solidFill>
                <a:srgbClr val="2299B6"/>
              </a:solidFill>
              <a:ln/>
            </p:spPr>
            <p:txBody>
              <a:bodyPr/>
              <a:lstStyle/>
              <a:p>
                <a:endParaRPr lang="en-US" dirty="0">
                  <a:highlight>
                    <a:srgbClr val="2299B6"/>
                  </a:highlight>
                </a:endParaRPr>
              </a:p>
            </p:txBody>
          </p:sp>
        </p:grpSp>
        <p:sp>
          <p:nvSpPr>
            <p:cNvPr id="114" name="Text 5">
              <a:extLst>
                <a:ext uri="{FF2B5EF4-FFF2-40B4-BE49-F238E27FC236}">
                  <a16:creationId xmlns:a16="http://schemas.microsoft.com/office/drawing/2014/main" id="{EBB6265C-79E4-1D3F-7F02-BD2F21CC9FF1}"/>
                </a:ext>
              </a:extLst>
            </p:cNvPr>
            <p:cNvSpPr/>
            <p:nvPr/>
          </p:nvSpPr>
          <p:spPr>
            <a:xfrm>
              <a:off x="731520" y="1586484"/>
              <a:ext cx="7772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Instance URL:  </a:t>
              </a:r>
              <a:r>
                <a:rPr lang="en-US" sz="1400" i="1" dirty="0">
                  <a:solidFill>
                    <a:srgbClr val="FFFFFF"/>
                  </a:solidFill>
                  <a:highlight>
                    <a:srgbClr val="00FF00"/>
                  </a:highlight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https://psademo.rev.io</a:t>
              </a:r>
              <a:endParaRPr lang="en-US" sz="1400" i="1" dirty="0">
                <a:highlight>
                  <a:srgbClr val="00FF00"/>
                </a:highlight>
              </a:endParaRP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9255F5E-ACE6-BB3C-6458-988108EDC65A}"/>
                </a:ext>
              </a:extLst>
            </p:cNvPr>
            <p:cNvGrpSpPr/>
            <p:nvPr/>
          </p:nvGrpSpPr>
          <p:grpSpPr>
            <a:xfrm>
              <a:off x="457200" y="2221992"/>
              <a:ext cx="8229600" cy="914400"/>
              <a:chOff x="457200" y="2697480"/>
              <a:chExt cx="8229600" cy="914400"/>
            </a:xfrm>
          </p:grpSpPr>
          <p:sp>
            <p:nvSpPr>
              <p:cNvPr id="116" name="Shape 6">
                <a:extLst>
                  <a:ext uri="{FF2B5EF4-FFF2-40B4-BE49-F238E27FC236}">
                    <a16:creationId xmlns:a16="http://schemas.microsoft.com/office/drawing/2014/main" id="{F6DFFC74-7B8E-3D89-2E9B-DF8680EE1B39}"/>
                  </a:ext>
                </a:extLst>
              </p:cNvPr>
              <p:cNvSpPr/>
              <p:nvPr/>
            </p:nvSpPr>
            <p:spPr>
              <a:xfrm>
                <a:off x="457200" y="2697480"/>
                <a:ext cx="8229600" cy="914400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Shape 7">
                <a:extLst>
                  <a:ext uri="{FF2B5EF4-FFF2-40B4-BE49-F238E27FC236}">
                    <a16:creationId xmlns:a16="http://schemas.microsoft.com/office/drawing/2014/main" id="{DED6407B-CF7D-A057-CD8A-BDD0AC7F02C7}"/>
                  </a:ext>
                </a:extLst>
              </p:cNvPr>
              <p:cNvSpPr/>
              <p:nvPr/>
            </p:nvSpPr>
            <p:spPr>
              <a:xfrm>
                <a:off x="457200" y="2697480"/>
                <a:ext cx="73152" cy="914400"/>
              </a:xfrm>
              <a:prstGeom prst="rect">
                <a:avLst/>
              </a:prstGeom>
              <a:solidFill>
                <a:srgbClr val="2299B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8" name="Text 8">
              <a:extLst>
                <a:ext uri="{FF2B5EF4-FFF2-40B4-BE49-F238E27FC236}">
                  <a16:creationId xmlns:a16="http://schemas.microsoft.com/office/drawing/2014/main" id="{512C6E18-2F37-8F9F-0346-F6F695982C24}"/>
                </a:ext>
              </a:extLst>
            </p:cNvPr>
            <p:cNvSpPr/>
            <p:nvPr/>
          </p:nvSpPr>
          <p:spPr>
            <a:xfrm>
              <a:off x="731520" y="2313432"/>
              <a:ext cx="7772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Optional module requirements?</a:t>
              </a:r>
              <a:endParaRPr lang="en-US" sz="1400" dirty="0"/>
            </a:p>
          </p:txBody>
        </p:sp>
        <p:sp>
          <p:nvSpPr>
            <p:cNvPr id="119" name="Shape 9">
              <a:extLst>
                <a:ext uri="{FF2B5EF4-FFF2-40B4-BE49-F238E27FC236}">
                  <a16:creationId xmlns:a16="http://schemas.microsoft.com/office/drawing/2014/main" id="{6898EF62-EBEA-B2CD-5E0C-88CCD7A58DC9}"/>
                </a:ext>
              </a:extLst>
            </p:cNvPr>
            <p:cNvSpPr/>
            <p:nvPr/>
          </p:nvSpPr>
          <p:spPr>
            <a:xfrm>
              <a:off x="914400" y="2724912"/>
              <a:ext cx="228600" cy="2286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6DBF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Text 10">
              <a:extLst>
                <a:ext uri="{FF2B5EF4-FFF2-40B4-BE49-F238E27FC236}">
                  <a16:creationId xmlns:a16="http://schemas.microsoft.com/office/drawing/2014/main" id="{C905DF38-CC81-55E9-5DDC-578E0BF9CFC0}"/>
                </a:ext>
              </a:extLst>
            </p:cNvPr>
            <p:cNvSpPr/>
            <p:nvPr/>
          </p:nvSpPr>
          <p:spPr>
            <a:xfrm>
              <a:off x="1234440" y="2724912"/>
              <a:ext cx="16459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Quoting</a:t>
              </a:r>
              <a:endParaRPr lang="en-US" sz="1200" dirty="0"/>
            </a:p>
          </p:txBody>
        </p:sp>
        <p:sp>
          <p:nvSpPr>
            <p:cNvPr id="121" name="Shape 11">
              <a:extLst>
                <a:ext uri="{FF2B5EF4-FFF2-40B4-BE49-F238E27FC236}">
                  <a16:creationId xmlns:a16="http://schemas.microsoft.com/office/drawing/2014/main" id="{C58C5DC2-D17A-D480-E450-5A126371244F}"/>
                </a:ext>
              </a:extLst>
            </p:cNvPr>
            <p:cNvSpPr/>
            <p:nvPr/>
          </p:nvSpPr>
          <p:spPr>
            <a:xfrm>
              <a:off x="2880360" y="2724912"/>
              <a:ext cx="228600" cy="2286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6DBF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Text 12">
              <a:extLst>
                <a:ext uri="{FF2B5EF4-FFF2-40B4-BE49-F238E27FC236}">
                  <a16:creationId xmlns:a16="http://schemas.microsoft.com/office/drawing/2014/main" id="{FBBE7C2E-B016-60DE-FB4C-32A4E95561BA}"/>
                </a:ext>
              </a:extLst>
            </p:cNvPr>
            <p:cNvSpPr/>
            <p:nvPr/>
          </p:nvSpPr>
          <p:spPr>
            <a:xfrm>
              <a:off x="3200400" y="2724912"/>
              <a:ext cx="16459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Inventory</a:t>
              </a:r>
              <a:endParaRPr lang="en-US" sz="1200" dirty="0"/>
            </a:p>
          </p:txBody>
        </p:sp>
        <p:sp>
          <p:nvSpPr>
            <p:cNvPr id="123" name="Shape 13">
              <a:extLst>
                <a:ext uri="{FF2B5EF4-FFF2-40B4-BE49-F238E27FC236}">
                  <a16:creationId xmlns:a16="http://schemas.microsoft.com/office/drawing/2014/main" id="{E3777183-A2F7-FCEE-32AA-91AAA5976953}"/>
                </a:ext>
              </a:extLst>
            </p:cNvPr>
            <p:cNvSpPr/>
            <p:nvPr/>
          </p:nvSpPr>
          <p:spPr>
            <a:xfrm>
              <a:off x="4846320" y="2724912"/>
              <a:ext cx="228600" cy="2286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6DBF50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4" name="Text 14">
              <a:extLst>
                <a:ext uri="{FF2B5EF4-FFF2-40B4-BE49-F238E27FC236}">
                  <a16:creationId xmlns:a16="http://schemas.microsoft.com/office/drawing/2014/main" id="{8E90FB1B-7F09-4615-C7D2-9545D58991B7}"/>
                </a:ext>
              </a:extLst>
            </p:cNvPr>
            <p:cNvSpPr/>
            <p:nvPr/>
          </p:nvSpPr>
          <p:spPr>
            <a:xfrm>
              <a:off x="5166360" y="2724912"/>
              <a:ext cx="16459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Project Management</a:t>
              </a:r>
              <a:endParaRPr lang="en-US" sz="1200" dirty="0"/>
            </a:p>
          </p:txBody>
        </p:sp>
        <p:sp>
          <p:nvSpPr>
            <p:cNvPr id="125" name="Shape 15">
              <a:extLst>
                <a:ext uri="{FF2B5EF4-FFF2-40B4-BE49-F238E27FC236}">
                  <a16:creationId xmlns:a16="http://schemas.microsoft.com/office/drawing/2014/main" id="{92FB4DBB-B1D4-9FBB-38EE-C984BB7AE469}"/>
                </a:ext>
              </a:extLst>
            </p:cNvPr>
            <p:cNvSpPr/>
            <p:nvPr/>
          </p:nvSpPr>
          <p:spPr>
            <a:xfrm>
              <a:off x="6812280" y="2724912"/>
              <a:ext cx="228600" cy="22860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6DBF5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Text 16">
              <a:extLst>
                <a:ext uri="{FF2B5EF4-FFF2-40B4-BE49-F238E27FC236}">
                  <a16:creationId xmlns:a16="http://schemas.microsoft.com/office/drawing/2014/main" id="{6223ED9A-5FDC-ACBD-2B4D-DEA53DE1B6EE}"/>
                </a:ext>
              </a:extLst>
            </p:cNvPr>
            <p:cNvSpPr/>
            <p:nvPr/>
          </p:nvSpPr>
          <p:spPr>
            <a:xfrm>
              <a:off x="7132320" y="2724912"/>
              <a:ext cx="164592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Mobile App</a:t>
              </a:r>
              <a:endParaRPr lang="en-US" sz="1200" dirty="0"/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A1F1E51D-5366-04F7-244B-330F6C3CA2AC}"/>
                </a:ext>
              </a:extLst>
            </p:cNvPr>
            <p:cNvGrpSpPr/>
            <p:nvPr/>
          </p:nvGrpSpPr>
          <p:grpSpPr>
            <a:xfrm>
              <a:off x="451038" y="3319272"/>
              <a:ext cx="8235762" cy="822960"/>
              <a:chOff x="451038" y="3319272"/>
              <a:chExt cx="8235762" cy="822960"/>
            </a:xfrm>
          </p:grpSpPr>
          <p:sp>
            <p:nvSpPr>
              <p:cNvPr id="127" name="Shape 17">
                <a:extLst>
                  <a:ext uri="{FF2B5EF4-FFF2-40B4-BE49-F238E27FC236}">
                    <a16:creationId xmlns:a16="http://schemas.microsoft.com/office/drawing/2014/main" id="{62C1230A-A555-5807-CE0F-69CD92FD19FA}"/>
                  </a:ext>
                </a:extLst>
              </p:cNvPr>
              <p:cNvSpPr/>
              <p:nvPr/>
            </p:nvSpPr>
            <p:spPr>
              <a:xfrm>
                <a:off x="457200" y="3319272"/>
                <a:ext cx="8229600" cy="822960"/>
              </a:xfrm>
              <a:prstGeom prst="rect">
                <a:avLst/>
              </a:prstGeom>
              <a:solidFill>
                <a:srgbClr val="1D375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Shape 18">
                <a:extLst>
                  <a:ext uri="{FF2B5EF4-FFF2-40B4-BE49-F238E27FC236}">
                    <a16:creationId xmlns:a16="http://schemas.microsoft.com/office/drawing/2014/main" id="{24BC2768-A3BB-E92F-C2DD-F3C898654622}"/>
                  </a:ext>
                </a:extLst>
              </p:cNvPr>
              <p:cNvSpPr/>
              <p:nvPr/>
            </p:nvSpPr>
            <p:spPr>
              <a:xfrm>
                <a:off x="451038" y="3319272"/>
                <a:ext cx="73152" cy="822960"/>
              </a:xfrm>
              <a:prstGeom prst="rect">
                <a:avLst/>
              </a:prstGeom>
              <a:solidFill>
                <a:srgbClr val="2299B6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8" name="Text 19">
              <a:extLst>
                <a:ext uri="{FF2B5EF4-FFF2-40B4-BE49-F238E27FC236}">
                  <a16:creationId xmlns:a16="http://schemas.microsoft.com/office/drawing/2014/main" id="{0F65846F-7B2E-3D23-BCE2-057FF6CBFAD2}"/>
                </a:ext>
              </a:extLst>
            </p:cNvPr>
            <p:cNvSpPr/>
            <p:nvPr/>
          </p:nvSpPr>
          <p:spPr>
            <a:xfrm>
              <a:off x="731520" y="3410712"/>
              <a:ext cx="43434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What integrations are you interested in?</a:t>
              </a:r>
              <a:endParaRPr lang="en-US" sz="1400" dirty="0"/>
            </a:p>
          </p:txBody>
        </p:sp>
        <p:sp>
          <p:nvSpPr>
            <p:cNvPr id="135" name="Text 10">
              <a:extLst>
                <a:ext uri="{FF2B5EF4-FFF2-40B4-BE49-F238E27FC236}">
                  <a16:creationId xmlns:a16="http://schemas.microsoft.com/office/drawing/2014/main" id="{82556449-349A-B633-893B-D7B3F6C309A7}"/>
                </a:ext>
              </a:extLst>
            </p:cNvPr>
            <p:cNvSpPr/>
            <p:nvPr/>
          </p:nvSpPr>
          <p:spPr>
            <a:xfrm>
              <a:off x="731520" y="3753612"/>
              <a:ext cx="7534656" cy="22860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200" dirty="0">
                  <a:solidFill>
                    <a:srgbClr val="FFFFFF"/>
                  </a:solidFill>
                  <a:latin typeface="Montserrat"/>
                </a:rPr>
                <a:t>Acronis, HubSpot, QuickBooks Online</a:t>
              </a:r>
              <a:endPara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39810-A2DA-86BD-4F5D-78E299C3B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95B0CC5F-5A6F-D38A-4FA2-8D12B4C8ADB9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9E32E10-2D22-C64B-13DC-65C2B3B37FEC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CD8B27-4A5F-258C-60CE-26C3BF724A3E}"/>
              </a:ext>
            </a:extLst>
          </p:cNvPr>
          <p:cNvGrpSpPr/>
          <p:nvPr/>
        </p:nvGrpSpPr>
        <p:grpSpPr>
          <a:xfrm>
            <a:off x="0" y="86967"/>
            <a:ext cx="9144000" cy="5143500"/>
            <a:chOff x="0" y="13989"/>
            <a:chExt cx="9144000" cy="51435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13942F2-6CF6-538E-D92E-B20EA1213F47}"/>
                </a:ext>
              </a:extLst>
            </p:cNvPr>
            <p:cNvSpPr/>
            <p:nvPr/>
          </p:nvSpPr>
          <p:spPr>
            <a:xfrm>
              <a:off x="0" y="13989"/>
              <a:ext cx="9144000" cy="5143500"/>
            </a:xfrm>
            <a:prstGeom prst="rect">
              <a:avLst/>
            </a:prstGeom>
            <a:solidFill>
              <a:srgbClr val="1A365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25498A5-F2E6-9F92-B6F2-45FA186B3241}"/>
                </a:ext>
              </a:extLst>
            </p:cNvPr>
            <p:cNvGrpSpPr/>
            <p:nvPr/>
          </p:nvGrpSpPr>
          <p:grpSpPr>
            <a:xfrm>
              <a:off x="457200" y="320040"/>
              <a:ext cx="8229600" cy="4389120"/>
              <a:chOff x="457200" y="320040"/>
              <a:chExt cx="8229600" cy="4389120"/>
            </a:xfrm>
          </p:grpSpPr>
          <p:sp>
            <p:nvSpPr>
              <p:cNvPr id="4" name="Text 3">
                <a:extLst>
                  <a:ext uri="{FF2B5EF4-FFF2-40B4-BE49-F238E27FC236}">
                    <a16:creationId xmlns:a16="http://schemas.microsoft.com/office/drawing/2014/main" id="{A4EF0E0C-6878-F022-1A82-72E9E53764F9}"/>
                  </a:ext>
                </a:extLst>
              </p:cNvPr>
              <p:cNvSpPr/>
              <p:nvPr/>
            </p:nvSpPr>
            <p:spPr>
              <a:xfrm>
                <a:off x="457200" y="320040"/>
                <a:ext cx="822960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2399B5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DISCUSSION TOPICS</a:t>
                </a:r>
                <a:endParaRPr lang="en-US" sz="1400"/>
              </a:p>
            </p:txBody>
          </p:sp>
          <p:sp>
            <p:nvSpPr>
              <p:cNvPr id="5" name="Text 4">
                <a:extLst>
                  <a:ext uri="{FF2B5EF4-FFF2-40B4-BE49-F238E27FC236}">
                    <a16:creationId xmlns:a16="http://schemas.microsoft.com/office/drawing/2014/main" id="{CB95E5CA-D834-116E-F905-5B4A03BFF5FC}"/>
                  </a:ext>
                </a:extLst>
              </p:cNvPr>
              <p:cNvSpPr/>
              <p:nvPr/>
            </p:nvSpPr>
            <p:spPr>
              <a:xfrm>
                <a:off x="457200" y="685800"/>
                <a:ext cx="822960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2800" b="1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What’s Next?</a:t>
                </a:r>
                <a:endParaRPr lang="en-US" sz="2800"/>
              </a:p>
            </p:txBody>
          </p:sp>
          <p:sp>
            <p:nvSpPr>
              <p:cNvPr id="6" name="Text 5">
                <a:extLst>
                  <a:ext uri="{FF2B5EF4-FFF2-40B4-BE49-F238E27FC236}">
                    <a16:creationId xmlns:a16="http://schemas.microsoft.com/office/drawing/2014/main" id="{02CDC88D-4CDE-487F-9D87-A24E81998B89}"/>
                  </a:ext>
                </a:extLst>
              </p:cNvPr>
              <p:cNvSpPr/>
              <p:nvPr/>
            </p:nvSpPr>
            <p:spPr>
              <a:xfrm>
                <a:off x="457200" y="1325880"/>
                <a:ext cx="8229600" cy="2743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 i="1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Your action items to get started</a:t>
                </a:r>
                <a:endParaRPr lang="en-US" sz="1400">
                  <a:solidFill>
                    <a:srgbClr val="FFFFFF"/>
                  </a:solidFill>
                </a:endParaRPr>
              </a:p>
            </p:txBody>
          </p:sp>
          <p:sp>
            <p:nvSpPr>
              <p:cNvPr id="7" name="Text 8">
                <a:extLst>
                  <a:ext uri="{FF2B5EF4-FFF2-40B4-BE49-F238E27FC236}">
                    <a16:creationId xmlns:a16="http://schemas.microsoft.com/office/drawing/2014/main" id="{4BBAAD93-6D98-D38B-6230-88335F71EB25}"/>
                  </a:ext>
                </a:extLst>
              </p:cNvPr>
              <p:cNvSpPr/>
              <p:nvPr/>
            </p:nvSpPr>
            <p:spPr>
              <a:xfrm>
                <a:off x="1188720" y="192024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Confirm access to your instance and add users as needed</a:t>
                </a:r>
                <a:endParaRPr lang="en-US" sz="1400"/>
              </a:p>
            </p:txBody>
          </p:sp>
          <p:sp>
            <p:nvSpPr>
              <p:cNvPr id="8" name="Shape 9">
                <a:extLst>
                  <a:ext uri="{FF2B5EF4-FFF2-40B4-BE49-F238E27FC236}">
                    <a16:creationId xmlns:a16="http://schemas.microsoft.com/office/drawing/2014/main" id="{5AECF63F-741E-A8EE-A6ED-6C19691EB481}"/>
                  </a:ext>
                </a:extLst>
              </p:cNvPr>
              <p:cNvSpPr/>
              <p:nvPr/>
            </p:nvSpPr>
            <p:spPr>
              <a:xfrm>
                <a:off x="731520" y="2331720"/>
                <a:ext cx="320040" cy="3200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399B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 10">
                <a:extLst>
                  <a:ext uri="{FF2B5EF4-FFF2-40B4-BE49-F238E27FC236}">
                    <a16:creationId xmlns:a16="http://schemas.microsoft.com/office/drawing/2014/main" id="{65216675-A510-1F32-DB27-9CB379ED6076}"/>
                  </a:ext>
                </a:extLst>
              </p:cNvPr>
              <p:cNvSpPr/>
              <p:nvPr/>
            </p:nvSpPr>
            <p:spPr>
              <a:xfrm>
                <a:off x="731520" y="2331720"/>
                <a:ext cx="320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EBE4F"/>
                    </a:solidFill>
                  </a:rPr>
                  <a:t>✓</a:t>
                </a:r>
                <a:endParaRPr lang="en-US" sz="1800"/>
              </a:p>
            </p:txBody>
          </p:sp>
          <p:sp>
            <p:nvSpPr>
              <p:cNvPr id="10" name="Text 11">
                <a:extLst>
                  <a:ext uri="{FF2B5EF4-FFF2-40B4-BE49-F238E27FC236}">
                    <a16:creationId xmlns:a16="http://schemas.microsoft.com/office/drawing/2014/main" id="{F04E2227-CC18-C64B-FE97-25674D8D1067}"/>
                  </a:ext>
                </a:extLst>
              </p:cNvPr>
              <p:cNvSpPr/>
              <p:nvPr/>
            </p:nvSpPr>
            <p:spPr>
              <a:xfrm>
                <a:off x="1188720" y="233172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Determine primary admin for checklist</a:t>
                </a:r>
                <a:endParaRPr lang="en-US" sz="1400"/>
              </a:p>
            </p:txBody>
          </p:sp>
          <p:sp>
            <p:nvSpPr>
              <p:cNvPr id="11" name="Shape 12">
                <a:extLst>
                  <a:ext uri="{FF2B5EF4-FFF2-40B4-BE49-F238E27FC236}">
                    <a16:creationId xmlns:a16="http://schemas.microsoft.com/office/drawing/2014/main" id="{89189F7E-C4E6-DACB-6F49-A8BDD81B98D4}"/>
                  </a:ext>
                </a:extLst>
              </p:cNvPr>
              <p:cNvSpPr/>
              <p:nvPr/>
            </p:nvSpPr>
            <p:spPr>
              <a:xfrm>
                <a:off x="731520" y="2743200"/>
                <a:ext cx="320040" cy="3200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399B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 13">
                <a:extLst>
                  <a:ext uri="{FF2B5EF4-FFF2-40B4-BE49-F238E27FC236}">
                    <a16:creationId xmlns:a16="http://schemas.microsoft.com/office/drawing/2014/main" id="{D646F9DC-2CAF-363E-E2F9-84D8C7B81365}"/>
                  </a:ext>
                </a:extLst>
              </p:cNvPr>
              <p:cNvSpPr/>
              <p:nvPr/>
            </p:nvSpPr>
            <p:spPr>
              <a:xfrm>
                <a:off x="731520" y="2743200"/>
                <a:ext cx="320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EBE4F"/>
                    </a:solidFill>
                  </a:rPr>
                  <a:t>✓</a:t>
                </a:r>
                <a:endParaRPr lang="en-US" sz="1800"/>
              </a:p>
            </p:txBody>
          </p:sp>
          <p:sp>
            <p:nvSpPr>
              <p:cNvPr id="13" name="Text 14">
                <a:extLst>
                  <a:ext uri="{FF2B5EF4-FFF2-40B4-BE49-F238E27FC236}">
                    <a16:creationId xmlns:a16="http://schemas.microsoft.com/office/drawing/2014/main" id="{27CF2A5F-79F1-AA91-B435-9ABE8D4E3B7A}"/>
                  </a:ext>
                </a:extLst>
              </p:cNvPr>
              <p:cNvSpPr/>
              <p:nvPr/>
            </p:nvSpPr>
            <p:spPr>
              <a:xfrm>
                <a:off x="1188720" y="274320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Sign up for Rev.io Community</a:t>
                </a:r>
                <a:endParaRPr lang="en-US" sz="1400"/>
              </a:p>
            </p:txBody>
          </p:sp>
          <p:sp>
            <p:nvSpPr>
              <p:cNvPr id="14" name="Shape 15">
                <a:extLst>
                  <a:ext uri="{FF2B5EF4-FFF2-40B4-BE49-F238E27FC236}">
                    <a16:creationId xmlns:a16="http://schemas.microsoft.com/office/drawing/2014/main" id="{402F73A6-DE23-7666-819C-6A0EA4B65387}"/>
                  </a:ext>
                </a:extLst>
              </p:cNvPr>
              <p:cNvSpPr/>
              <p:nvPr/>
            </p:nvSpPr>
            <p:spPr>
              <a:xfrm>
                <a:off x="731520" y="3154680"/>
                <a:ext cx="320040" cy="3200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399B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 16">
                <a:extLst>
                  <a:ext uri="{FF2B5EF4-FFF2-40B4-BE49-F238E27FC236}">
                    <a16:creationId xmlns:a16="http://schemas.microsoft.com/office/drawing/2014/main" id="{60E0F09E-223A-5F4C-230C-AF0BC7B7E4AF}"/>
                  </a:ext>
                </a:extLst>
              </p:cNvPr>
              <p:cNvSpPr/>
              <p:nvPr/>
            </p:nvSpPr>
            <p:spPr>
              <a:xfrm>
                <a:off x="731520" y="3154680"/>
                <a:ext cx="320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EBE4F"/>
                    </a:solidFill>
                  </a:rPr>
                  <a:t>✓</a:t>
                </a:r>
                <a:endParaRPr lang="en-US" sz="1800"/>
              </a:p>
            </p:txBody>
          </p:sp>
          <p:sp>
            <p:nvSpPr>
              <p:cNvPr id="16" name="Text 17">
                <a:extLst>
                  <a:ext uri="{FF2B5EF4-FFF2-40B4-BE49-F238E27FC236}">
                    <a16:creationId xmlns:a16="http://schemas.microsoft.com/office/drawing/2014/main" id="{6F80BDE0-029B-71D8-BE97-8AC204A5645A}"/>
                  </a:ext>
                </a:extLst>
              </p:cNvPr>
              <p:cNvSpPr/>
              <p:nvPr/>
            </p:nvSpPr>
            <p:spPr>
              <a:xfrm>
                <a:off x="1188720" y="315468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Confirm tax credential request information</a:t>
                </a:r>
                <a:endParaRPr lang="en-US" sz="1400"/>
              </a:p>
            </p:txBody>
          </p:sp>
          <p:sp>
            <p:nvSpPr>
              <p:cNvPr id="17" name="Shape 18">
                <a:extLst>
                  <a:ext uri="{FF2B5EF4-FFF2-40B4-BE49-F238E27FC236}">
                    <a16:creationId xmlns:a16="http://schemas.microsoft.com/office/drawing/2014/main" id="{6D65581D-81A8-00D6-D5E9-C1E1D8CC68D7}"/>
                  </a:ext>
                </a:extLst>
              </p:cNvPr>
              <p:cNvSpPr/>
              <p:nvPr/>
            </p:nvSpPr>
            <p:spPr>
              <a:xfrm>
                <a:off x="731520" y="3566160"/>
                <a:ext cx="320040" cy="3200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399B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 19">
                <a:extLst>
                  <a:ext uri="{FF2B5EF4-FFF2-40B4-BE49-F238E27FC236}">
                    <a16:creationId xmlns:a16="http://schemas.microsoft.com/office/drawing/2014/main" id="{61A826BD-506F-3795-9AE6-7CEB437908E4}"/>
                  </a:ext>
                </a:extLst>
              </p:cNvPr>
              <p:cNvSpPr/>
              <p:nvPr/>
            </p:nvSpPr>
            <p:spPr>
              <a:xfrm>
                <a:off x="731520" y="3566160"/>
                <a:ext cx="320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EBE4F"/>
                    </a:solidFill>
                  </a:rPr>
                  <a:t>✓</a:t>
                </a:r>
                <a:endParaRPr lang="en-US" sz="1800"/>
              </a:p>
            </p:txBody>
          </p:sp>
          <p:sp>
            <p:nvSpPr>
              <p:cNvPr id="20" name="Text 20">
                <a:extLst>
                  <a:ext uri="{FF2B5EF4-FFF2-40B4-BE49-F238E27FC236}">
                    <a16:creationId xmlns:a16="http://schemas.microsoft.com/office/drawing/2014/main" id="{FE432067-9A72-0EBB-2737-61D660EEF585}"/>
                  </a:ext>
                </a:extLst>
              </p:cNvPr>
              <p:cNvSpPr/>
              <p:nvPr/>
            </p:nvSpPr>
            <p:spPr>
              <a:xfrm>
                <a:off x="1188720" y="356616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Schedule Recurring Weekly Configuration Calls</a:t>
                </a:r>
                <a:endParaRPr lang="en-US" sz="1400"/>
              </a:p>
            </p:txBody>
          </p:sp>
          <p:sp>
            <p:nvSpPr>
              <p:cNvPr id="22" name="Shape 21">
                <a:extLst>
                  <a:ext uri="{FF2B5EF4-FFF2-40B4-BE49-F238E27FC236}">
                    <a16:creationId xmlns:a16="http://schemas.microsoft.com/office/drawing/2014/main" id="{B6AD7EF1-C0DD-860E-713E-0B6CA9265051}"/>
                  </a:ext>
                </a:extLst>
              </p:cNvPr>
              <p:cNvSpPr/>
              <p:nvPr/>
            </p:nvSpPr>
            <p:spPr>
              <a:xfrm>
                <a:off x="731520" y="3977640"/>
                <a:ext cx="320040" cy="3200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399B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 22">
                <a:extLst>
                  <a:ext uri="{FF2B5EF4-FFF2-40B4-BE49-F238E27FC236}">
                    <a16:creationId xmlns:a16="http://schemas.microsoft.com/office/drawing/2014/main" id="{4A5C94A8-18F9-387C-7B04-FFDB565B5C17}"/>
                  </a:ext>
                </a:extLst>
              </p:cNvPr>
              <p:cNvSpPr/>
              <p:nvPr/>
            </p:nvSpPr>
            <p:spPr>
              <a:xfrm>
                <a:off x="731520" y="3977640"/>
                <a:ext cx="320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EBE4F"/>
                    </a:solidFill>
                  </a:rPr>
                  <a:t>✓</a:t>
                </a:r>
                <a:endParaRPr lang="en-US" sz="1800"/>
              </a:p>
            </p:txBody>
          </p:sp>
          <p:sp>
            <p:nvSpPr>
              <p:cNvPr id="24" name="Text 23">
                <a:extLst>
                  <a:ext uri="{FF2B5EF4-FFF2-40B4-BE49-F238E27FC236}">
                    <a16:creationId xmlns:a16="http://schemas.microsoft.com/office/drawing/2014/main" id="{D3CE3FD5-50A2-B7EB-062C-01325125CADB}"/>
                  </a:ext>
                </a:extLst>
              </p:cNvPr>
              <p:cNvSpPr/>
              <p:nvPr/>
            </p:nvSpPr>
            <p:spPr>
              <a:xfrm>
                <a:off x="1188720" y="397764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Send Company Logo</a:t>
                </a:r>
                <a:endParaRPr lang="en-US" sz="1400"/>
              </a:p>
            </p:txBody>
          </p:sp>
          <p:sp>
            <p:nvSpPr>
              <p:cNvPr id="25" name="Shape 24">
                <a:extLst>
                  <a:ext uri="{FF2B5EF4-FFF2-40B4-BE49-F238E27FC236}">
                    <a16:creationId xmlns:a16="http://schemas.microsoft.com/office/drawing/2014/main" id="{B3A06F4B-B74F-FDA6-3856-6DD0317FAEF6}"/>
                  </a:ext>
                </a:extLst>
              </p:cNvPr>
              <p:cNvSpPr/>
              <p:nvPr/>
            </p:nvSpPr>
            <p:spPr>
              <a:xfrm>
                <a:off x="731520" y="4389120"/>
                <a:ext cx="320040" cy="320040"/>
              </a:xfrm>
              <a:prstGeom prst="rect">
                <a:avLst/>
              </a:prstGeom>
              <a:solidFill>
                <a:srgbClr val="FFFFFF"/>
              </a:solidFill>
              <a:ln w="25400">
                <a:solidFill>
                  <a:srgbClr val="2399B5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25">
                <a:extLst>
                  <a:ext uri="{FF2B5EF4-FFF2-40B4-BE49-F238E27FC236}">
                    <a16:creationId xmlns:a16="http://schemas.microsoft.com/office/drawing/2014/main" id="{C4B86BBA-1080-0A94-DFB8-2B9EEDEDA1E2}"/>
                  </a:ext>
                </a:extLst>
              </p:cNvPr>
              <p:cNvSpPr/>
              <p:nvPr/>
            </p:nvSpPr>
            <p:spPr>
              <a:xfrm>
                <a:off x="731520" y="4389120"/>
                <a:ext cx="32004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EBE4F"/>
                    </a:solidFill>
                  </a:rPr>
                  <a:t>✓</a:t>
                </a:r>
                <a:endParaRPr lang="en-US" sz="1800"/>
              </a:p>
            </p:txBody>
          </p:sp>
          <p:sp>
            <p:nvSpPr>
              <p:cNvPr id="27" name="Text 26">
                <a:extLst>
                  <a:ext uri="{FF2B5EF4-FFF2-40B4-BE49-F238E27FC236}">
                    <a16:creationId xmlns:a16="http://schemas.microsoft.com/office/drawing/2014/main" id="{56D656AC-56B5-9578-B73A-8A29451ABCFD}"/>
                  </a:ext>
                </a:extLst>
              </p:cNvPr>
              <p:cNvSpPr/>
              <p:nvPr/>
            </p:nvSpPr>
            <p:spPr>
              <a:xfrm>
                <a:off x="1188720" y="4389120"/>
                <a:ext cx="722376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40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Gather product list to build catalog</a:t>
                </a:r>
                <a:endParaRPr lang="en-US" sz="1400"/>
              </a:p>
            </p:txBody>
          </p:sp>
        </p:grp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29CCE3E8-D32B-C473-3ABA-7DCC65D3D7F1}"/>
                </a:ext>
              </a:extLst>
            </p:cNvPr>
            <p:cNvSpPr/>
            <p:nvPr/>
          </p:nvSpPr>
          <p:spPr>
            <a:xfrm>
              <a:off x="737616" y="1935480"/>
              <a:ext cx="320040" cy="320040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2399B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" name="Text 10">
            <a:extLst>
              <a:ext uri="{FF2B5EF4-FFF2-40B4-BE49-F238E27FC236}">
                <a16:creationId xmlns:a16="http://schemas.microsoft.com/office/drawing/2014/main" id="{33BD86F8-9BC0-B3BF-1A6D-3D44C620123C}"/>
              </a:ext>
            </a:extLst>
          </p:cNvPr>
          <p:cNvSpPr/>
          <p:nvPr/>
        </p:nvSpPr>
        <p:spPr>
          <a:xfrm>
            <a:off x="737616" y="20002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6EBE4F"/>
                </a:solidFill>
              </a:rPr>
              <a:t>✓</a:t>
            </a:r>
            <a:endParaRPr lang="en-US" sz="1800" dirty="0"/>
          </a:p>
        </p:txBody>
      </p:sp>
      <p:sp>
        <p:nvSpPr>
          <p:cNvPr id="2" name="Freeform 10">
            <a:extLst>
              <a:ext uri="{FF2B5EF4-FFF2-40B4-BE49-F238E27FC236}">
                <a16:creationId xmlns:a16="http://schemas.microsoft.com/office/drawing/2014/main" id="{0F76E402-2265-9E25-3BD3-228E06DCCC67}"/>
              </a:ext>
            </a:extLst>
          </p:cNvPr>
          <p:cNvSpPr/>
          <p:nvPr/>
        </p:nvSpPr>
        <p:spPr>
          <a:xfrm>
            <a:off x="7479576" y="4535151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483844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90</cp:revision>
  <dcterms:created xsi:type="dcterms:W3CDTF">2026-01-09T15:25:27Z</dcterms:created>
  <dcterms:modified xsi:type="dcterms:W3CDTF">2026-07-21T01:17:11Z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