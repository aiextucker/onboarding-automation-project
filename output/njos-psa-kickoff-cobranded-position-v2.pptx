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7"/>
  </p:notesMasterIdLst>
  <p:sldIdLst>
    <p:sldId id="269" r:id="rId5"/>
    <p:sldId id="272" r:id="rId6"/>
    <p:sldId id="273" r:id="rId7"/>
    <p:sldId id="256" r:id="rId8"/>
    <p:sldId id="257" r:id="rId9"/>
    <p:sldId id="258" r:id="rId10"/>
    <p:sldId id="274" r:id="rId11"/>
    <p:sldId id="260" r:id="rId12"/>
    <p:sldId id="275" r:id="rId13"/>
    <p:sldId id="276" r:id="rId14"/>
    <p:sldId id="277" r:id="rId15"/>
    <p:sldId id="271" r:id="rId16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299B6"/>
    <a:srgbClr val="FFFFFF"/>
    <a:srgbClr val="E6E7E9"/>
    <a:srgbClr val="1A3656"/>
    <a:srgbClr val="6DBF5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E5CC1BF-554F-BDF2-994C-C36370127796}" v="2" dt="2026-06-16T17:32:23.85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86"/>
    <p:restoredTop sz="94698"/>
  </p:normalViewPr>
  <p:slideViewPr>
    <p:cSldViewPr snapToGrid="0" snapToObjects="1">
      <p:cViewPr varScale="1">
        <p:scale>
          <a:sx n="124" d="100"/>
          <a:sy n="124" d="100"/>
        </p:scale>
        <p:origin x="1216" y="4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5/10/relationships/revisionInfo" Target="revisionInfo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0968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56D607-7A5D-B499-0A3F-19E6437412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7CB6F38-F998-3113-29AE-72826F7E8BA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BD27057-68DD-070E-1BE4-6681738B630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006B96-2551-80A8-E76C-1109E6021CF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39421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5D971A-87C7-53D3-360C-D3937E7651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651BDAA-06E1-D702-D5AA-4A11732D495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C0FE348-DF90-ED7B-9C98-8D89F20026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62AAE7B-E425-1161-9DAE-0DD3727B3C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92604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8FE96C-C847-D7BF-1C34-3E6A1E2C6A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95E2BCB-CDB3-3D4C-F4AF-DD5F754442F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D8910B3-FEA4-B537-13CB-6DE1E5526A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1C83CF-04E0-7B93-B7A0-6483369D00F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2861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5D54-6A55-961C-F47E-6881D445D0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14235B8-52DA-121E-D833-5911C6A9298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3666F03-386A-467A-7521-B340C14F30D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BB5D64-9976-F438-D1E3-64B16FCB139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753273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75721C-0C78-10CB-82AF-F644EFFBA3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0137A3-837F-F81D-D785-70589DFAFCE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DB90C0-B855-C165-2855-70611A4D953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609AF5-A14C-A7DD-209B-5DB671EF9C3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0526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60E06A-934E-9D07-9904-9371D1B6E1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E793E45-FD64-CB3A-E6ED-4DAC7E2A79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EDB9976-0180-275C-B0C9-E1C3D466C65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7C2732E-C6CA-097E-73A2-CA0338590DA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862335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4139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?>
<ns0:Relationships xmlns:ns0="http://schemas.openxmlformats.org/package/2006/relationships"><ns0:Relationship Id="rId3" Type="http://schemas.openxmlformats.org/officeDocument/2006/relationships/image" Target="../media/image2.png" /><ns0:Relationship Id="rId2" Type="http://schemas.openxmlformats.org/officeDocument/2006/relationships/image" Target="../media/image1.png" /><ns0:Relationship Id="rId1" Type="http://schemas.openxmlformats.org/officeDocument/2006/relationships/slideLayout" Target="../slideLayouts/slideLayout2.xml" /><ns0:Relationship Id="rId4" Type="http://schemas.openxmlformats.org/officeDocument/2006/relationships/image" Target="../media/client-logo.png" /></ns0: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jpe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slide1.xml><?xml version="1.0" encoding="utf-8"?>
<ns0:sld xmlns:ns0="http://schemas.openxmlformats.org/presentationml/2006/main" xmlns:ns1="http://schemas.openxmlformats.org/drawingml/2006/main" xmlns:ns2="http://schemas.openxmlformats.org/officeDocument/2006/relationships" xmlns:ns3="http://schemas.microsoft.com/office/drawing/2014/main">
  <ns0:cSld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" name="Freeform 2"/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18288000" h="10287000">
                <ns1:moveTo>
                  <ns1:pt x="0" y="0"/>
                </ns1:moveTo>
                <ns1:lnTo>
                  <ns1:pt x="18288000" y="0"/>
                </ns1:lnTo>
                <ns1:lnTo>
                  <ns1:pt x="18288000" y="10287000"/>
                </ns1:lnTo>
                <ns1:lnTo>
                  <ns1:pt x="0" y="1028700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2"/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3" name="Freeform 3"/>
          <ns0:cNvSpPr/>
          <ns0:nvPr/>
        </ns0:nvSpPr>
        <ns0:spPr>
          <ns1:xfrm>
            <ns1:off x="522891" y="891013"/>
            <ns1:ext cx="2544517" cy="653755"/>
          </ns1:xfrm>
          <ns1:custGeom>
            <ns1:avLst/>
            <ns1:gdLst/>
            <ns1:ahLst/>
            <ns1:cxnLst/>
            <ns1:rect l="l" t="t" r="r" b="b"/>
            <ns1:pathLst>
              <ns1:path w="5089034" h="1307510">
                <ns1:moveTo>
                  <ns1:pt x="0" y="0"/>
                </ns1:moveTo>
                <ns1:lnTo>
                  <ns1:pt x="5089034" y="0"/>
                </ns1:lnTo>
                <ns1:lnTo>
                  <ns1:pt x="5089034" y="1307510"/>
                </ns1:lnTo>
                <ns1:lnTo>
                  <ns1:pt x="0" y="1307510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2:embed="rId3">
              <ns1:alphaModFix amt="99000"/>
            </ns1:blip>
            <ns1:stretch>
              <ns1:fillRect/>
            </ns1:stretch>
          </ns1:blipFill>
        </ns0:spPr>
        <ns0:txBody>
          <ns1:bodyPr/>
          <ns1:lstStyle/>
          <ns1:p>
            <ns1:endParaRPr lang="en-US" sz="900" dirty="0"/>
          </ns1:p>
        </ns0:txBody>
      </ns0:sp>
      <ns0:sp>
        <ns0:nvSpPr>
          <ns0:cNvPr id="4" name="AutoShape 4"/>
          <ns0:cNvSpPr/>
          <ns0:nvPr/>
        </ns0:nvSpPr>
        <ns0:spPr>
          <ns1:xfrm flipV="1">
            <ns1:off x="522891" y="1737971"/>
            <ns1:ext cx="5719123" cy="0"/>
          </ns1:xfrm>
          <ns1:prstGeom prst="line">
            <ns1:avLst/>
          </ns1:prstGeom>
          <ns1:ln w="57150" cap="rnd">
            <ns1:gradFill>
              <ns1:gsLst>
                <ns1:gs pos="0">
                  <ns1:srgbClr val="1667CC">
                    <ns1:alpha val="100000"/>
                  </ns1:srgbClr>
                </ns1:gs>
                <ns1:gs pos="100000">
                  <ns1:srgbClr val="3DC570">
                    <ns1:alpha val="100000"/>
                  </ns1:srgbClr>
                </ns1:gs>
              </ns1:gsLst>
              <ns1:lin ang="2700000"/>
            </ns1:gradFill>
            <ns1:prstDash val="solid"/>
            <ns1:headEnd type="none" w="sm" len="sm"/>
            <ns1:tailEnd type="none" w="sm" len="sm"/>
          </ns1:ln>
        </ns0:spPr>
        <ns0:txBody>
          <ns1:bodyPr/>
          <ns1:lstStyle/>
          <ns1:p>
            <ns1:endParaRPr lang="en-US" sz="900"/>
          </ns1:p>
        </ns0:txBody>
      </ns0:sp>
      <ns0:sp>
        <ns0:nvSpPr>
          <ns0:cNvPr id="5" name="TextBox 5"/>
          <ns0:cNvSpPr txBox="1"/>
          <ns0:nvPr/>
        </ns0:nvSpPr>
        <ns0:spPr>
          <ns1:xfrm>
            <ns1:off x="522891" y="1880847"/>
            <ns1:ext cx="5719123" cy="640000"/>
          </ns1:xfrm>
          <ns1:prstGeom prst="rect">
            <ns1:avLst/>
          </ns1:prstGeom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700">
                <ns1:solidFill>
                  <ns1:srgbClr val="FFFFFF"/>
                </ns1:solidFill>
              </ns1:rPr>
              <ns1:t>New Jersey Office Systems</ns1:t>
            </ns1:r>
            <ns1:endParaRPr lang="en-US"/>
          </ns1:p>
          <ns1:p>
            <ns1:pPr algn="l">
              <ns1:buNone/>
            </ns1:pPr>
            <ns1:r>
              <ns1:rPr lang="en-US" sz="1800">
                <ns1:solidFill>
                  <ns1:srgbClr val="FFFFFF"/>
                </ns1:solidFill>
              </ns1:rPr>
              <ns1:t>Onboarding Kick-off Call</ns1:t>
            </ns1:r>
            <ns1:endParaRPr lang="en-US"/>
          </ns1:p>
        </ns0:txBody>
      </ns0:sp>
      <ns0:sp>
        <ns0:nvSpPr>
          <ns0:cNvPr id="7" name="TextBox 5">
            <ns1:extLst>
              <ns1:ext uri="{FF2B5EF4-FFF2-40B4-BE49-F238E27FC236}">
                <ns3:creationId id="{A4CFBC94-6E4E-6A95-33E4-9648209A10C3}"/>
              </ns1:ext>
            </ns1:extLst>
          </ns0:cNvPr>
          <ns0:cNvSpPr txBox="1"/>
          <ns0:nvPr/>
        </ns0:nvSpPr>
        <ns0:spPr>
          <ns1:xfrm>
            <ns1:off x="522890" y="2580000"/>
            <ns1:ext cx="4791079" cy="360000"/>
          </ns1:xfrm>
          <ns1:prstGeom prst="rect">
            <ns1:avLst/>
          </ns1:prstGeom>
          <ns1:solidFill>
            <ns1:srgbClr val="00FF00"/>
          </ns1:solidFill>
          <ns1:ln>
            <ns1:noFill/>
          </ns1:ln>
        </ns0:spPr>
        <ns0:txBody>
          <ns1:bodyPr wrap="square" rtlCol="0" anchor="ctr"/>
          <ns1:lstStyle/>
          <ns1:p>
            <ns1:pPr algn="l">
              <ns1:buNone/>
            </ns1:pPr>
            <ns1:r>
              <ns1:rPr lang="en-US" sz="1300" b="1">
                <ns1:solidFill>
                  <ns1:srgbClr val="1D3756"/>
                </ns1:solidFill>
                <ns1:highlight>
                  <ns1:srgbClr val="00FF00"/>
                </ns1:highlight>
              </ns1:rPr>
              <ns1:t>NEEDS: Kickoff date</ns1:t>
            </ns1:r>
            <ns1:endParaRPr lang="en-US"/>
          </ns1:p>
        </ns0:txBody>
      </ns0:sp>
      <ns0:pic>
        <ns0:nvPicPr>
          <ns0:cNvPr id="8" name="Client Logo" descr="Client logo"/>
          <ns0:cNvPicPr>
            <ns1:picLocks noChangeAspect="1"/>
          </ns0:cNvPicPr>
          <ns0:nvPr/>
        </ns0:nvPicPr>
        <ns0:blipFill>
          <ns1:blip ns2:embed="rId4"/>
          <ns1:stretch>
            <ns1:fillRect/>
          </ns1:stretch>
        </ns0:blipFill>
        <ns0:spPr>
          <ns1:xfrm>
            <ns1:off x="5175214" y="1395000"/>
            <ns1:ext cx="1066800" cy="320040"/>
          </ns1:xfrm>
          <ns1:prstGeom prst="rect">
            <ns1:avLst/>
          </ns1:prstGeom>
        </ns0:spPr>
      </ns0:pic>
    </ns0:spTree>
  </ns0:cSld>
  <ns0:clrMapOvr>
    <ns1:masterClrMapping/>
  </ns0:clrMapOvr>
</ns0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B08790F-340A-3890-7B81-A9763FD9A3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Freeform 2">
            <a:extLst>
              <a:ext uri="{FF2B5EF4-FFF2-40B4-BE49-F238E27FC236}">
                <a16:creationId xmlns:a16="http://schemas.microsoft.com/office/drawing/2014/main" id="{6320BD82-D45A-DDB2-48C9-B2B0F9CA8259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4" name="Picture 33" descr="A blue and black logo&#10;&#10;AI-generated content may be incorrect.">
            <a:extLst>
              <a:ext uri="{FF2B5EF4-FFF2-40B4-BE49-F238E27FC236}">
                <a16:creationId xmlns:a16="http://schemas.microsoft.com/office/drawing/2014/main" id="{098CC131-FF90-82AC-4177-5917DF3A9FF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40" name="Text 2">
            <a:extLst>
              <a:ext uri="{FF2B5EF4-FFF2-40B4-BE49-F238E27FC236}">
                <a16:creationId xmlns:a16="http://schemas.microsoft.com/office/drawing/2014/main" id="{0E2F23E2-2AE9-4AC5-CB98-69F09137B694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DISCUSSION TOPICS</a:t>
            </a:r>
            <a:endParaRPr lang="en-US" sz="1400" dirty="0"/>
          </a:p>
        </p:txBody>
      </p:sp>
      <p:sp>
        <p:nvSpPr>
          <p:cNvPr id="41" name="Text 3">
            <a:extLst>
              <a:ext uri="{FF2B5EF4-FFF2-40B4-BE49-F238E27FC236}">
                <a16:creationId xmlns:a16="http://schemas.microsoft.com/office/drawing/2014/main" id="{9845932C-38EB-A70E-1575-4BA57D169989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Agenda for Today’s Call</a:t>
            </a:r>
            <a:endParaRPr lang="en-US" sz="2800" b="1" dirty="0"/>
          </a:p>
        </p:txBody>
      </p:sp>
      <p:sp>
        <p:nvSpPr>
          <p:cNvPr id="42" name="Text 4">
            <a:extLst>
              <a:ext uri="{FF2B5EF4-FFF2-40B4-BE49-F238E27FC236}">
                <a16:creationId xmlns:a16="http://schemas.microsoft.com/office/drawing/2014/main" id="{F1B53A24-709F-55AF-8303-35F1346ED34F}"/>
              </a:ext>
            </a:extLst>
          </p:cNvPr>
          <p:cNvSpPr/>
          <p:nvPr/>
        </p:nvSpPr>
        <p:spPr>
          <a:xfrm>
            <a:off x="441894" y="1275815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Your roadmap to getting up and running with Rev.io PSA - what to expect, when it's happening, and how we'll crush onboarding together.</a:t>
            </a:r>
            <a:endParaRPr lang="en-US" sz="1400" dirty="0"/>
          </a:p>
        </p:txBody>
      </p:sp>
      <p:sp>
        <p:nvSpPr>
          <p:cNvPr id="45" name="Text 8">
            <a:extLst>
              <a:ext uri="{FF2B5EF4-FFF2-40B4-BE49-F238E27FC236}">
                <a16:creationId xmlns:a16="http://schemas.microsoft.com/office/drawing/2014/main" id="{5ACD9AA5-C2F5-877A-718B-6B7D162E97F2}"/>
              </a:ext>
            </a:extLst>
          </p:cNvPr>
          <p:cNvSpPr/>
          <p:nvPr/>
        </p:nvSpPr>
        <p:spPr>
          <a:xfrm>
            <a:off x="761934" y="243710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</a:t>
            </a:r>
            <a:endParaRPr lang="en-US" sz="1800" dirty="0"/>
          </a:p>
        </p:txBody>
      </p:sp>
      <p:sp>
        <p:nvSpPr>
          <p:cNvPr id="49" name="Text 13">
            <a:extLst>
              <a:ext uri="{FF2B5EF4-FFF2-40B4-BE49-F238E27FC236}">
                <a16:creationId xmlns:a16="http://schemas.microsoft.com/office/drawing/2014/main" id="{7C4515F6-EDCF-16FC-1178-E0F8653214C0}"/>
              </a:ext>
            </a:extLst>
          </p:cNvPr>
          <p:cNvSpPr/>
          <p:nvPr/>
        </p:nvSpPr>
        <p:spPr>
          <a:xfrm>
            <a:off x="761934" y="316862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endParaRPr lang="en-US" sz="1800" dirty="0"/>
          </a:p>
        </p:txBody>
      </p:sp>
      <p:sp>
        <p:nvSpPr>
          <p:cNvPr id="53" name="Text 18">
            <a:extLst>
              <a:ext uri="{FF2B5EF4-FFF2-40B4-BE49-F238E27FC236}">
                <a16:creationId xmlns:a16="http://schemas.microsoft.com/office/drawing/2014/main" id="{DA7A3214-0269-AB51-791E-3A191682EB9E}"/>
              </a:ext>
            </a:extLst>
          </p:cNvPr>
          <p:cNvSpPr/>
          <p:nvPr/>
        </p:nvSpPr>
        <p:spPr>
          <a:xfrm>
            <a:off x="761934" y="3900143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endParaRPr lang="en-US" sz="1800" dirty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BC85A6A-CDDA-CEA6-5842-A084851EE8A0}"/>
              </a:ext>
            </a:extLst>
          </p:cNvPr>
          <p:cNvGrpSpPr/>
          <p:nvPr/>
        </p:nvGrpSpPr>
        <p:grpSpPr>
          <a:xfrm>
            <a:off x="441894" y="2327375"/>
            <a:ext cx="8229600" cy="594360"/>
            <a:chOff x="441894" y="2327375"/>
            <a:chExt cx="8229600" cy="594360"/>
          </a:xfrm>
        </p:grpSpPr>
        <p:sp>
          <p:nvSpPr>
            <p:cNvPr id="43" name="Shape 5">
              <a:extLst>
                <a:ext uri="{FF2B5EF4-FFF2-40B4-BE49-F238E27FC236}">
                  <a16:creationId xmlns:a16="http://schemas.microsoft.com/office/drawing/2014/main" id="{7E82BF2D-53B0-FCC3-EA89-51D174867291}"/>
                </a:ext>
              </a:extLst>
            </p:cNvPr>
            <p:cNvSpPr/>
            <p:nvPr/>
          </p:nvSpPr>
          <p:spPr>
            <a:xfrm>
              <a:off x="441894" y="232737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4" name="Shape 6">
              <a:extLst>
                <a:ext uri="{FF2B5EF4-FFF2-40B4-BE49-F238E27FC236}">
                  <a16:creationId xmlns:a16="http://schemas.microsoft.com/office/drawing/2014/main" id="{E1AF1BDC-FDB0-6CC6-B1FF-1734B94988ED}"/>
                </a:ext>
              </a:extLst>
            </p:cNvPr>
            <p:cNvSpPr/>
            <p:nvPr/>
          </p:nvSpPr>
          <p:spPr>
            <a:xfrm>
              <a:off x="441894" y="232737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6" name="Text 9">
              <a:extLst>
                <a:ext uri="{FF2B5EF4-FFF2-40B4-BE49-F238E27FC236}">
                  <a16:creationId xmlns:a16="http://schemas.microsoft.com/office/drawing/2014/main" id="{AEFA23B1-1E11-5BEA-9B33-683F954F5920}"/>
                </a:ext>
              </a:extLst>
            </p:cNvPr>
            <p:cNvSpPr/>
            <p:nvPr/>
          </p:nvSpPr>
          <p:spPr>
            <a:xfrm>
              <a:off x="1310574" y="243710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Contract &amp; Business Case Review</a:t>
              </a:r>
              <a:endParaRPr lang="en-US" sz="1400" dirty="0"/>
            </a:p>
          </p:txBody>
        </p:sp>
        <p:grpSp>
          <p:nvGrpSpPr>
            <p:cNvPr id="65" name="Group 64">
              <a:extLst>
                <a:ext uri="{FF2B5EF4-FFF2-40B4-BE49-F238E27FC236}">
                  <a16:creationId xmlns:a16="http://schemas.microsoft.com/office/drawing/2014/main" id="{98A64074-AAE1-E4EC-FF80-B4057F55C5AE}"/>
                </a:ext>
              </a:extLst>
            </p:cNvPr>
            <p:cNvGrpSpPr/>
            <p:nvPr/>
          </p:nvGrpSpPr>
          <p:grpSpPr>
            <a:xfrm>
              <a:off x="760443" y="2437103"/>
              <a:ext cx="365760" cy="365760"/>
              <a:chOff x="777240" y="2578608"/>
              <a:chExt cx="365760" cy="365760"/>
            </a:xfrm>
          </p:grpSpPr>
          <p:sp>
            <p:nvSpPr>
              <p:cNvPr id="66" name="Shape 7">
                <a:extLst>
                  <a:ext uri="{FF2B5EF4-FFF2-40B4-BE49-F238E27FC236}">
                    <a16:creationId xmlns:a16="http://schemas.microsoft.com/office/drawing/2014/main" id="{1F1E1973-1A92-3C99-96F1-93FDDB90997D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7" name="Text 8">
                <a:extLst>
                  <a:ext uri="{FF2B5EF4-FFF2-40B4-BE49-F238E27FC236}">
                    <a16:creationId xmlns:a16="http://schemas.microsoft.com/office/drawing/2014/main" id="{9AA40351-E883-09C2-D0D0-2199BA8D49B0}"/>
                  </a:ext>
                </a:extLst>
              </p:cNvPr>
              <p:cNvSpPr/>
              <p:nvPr/>
            </p:nvSpPr>
            <p:spPr>
              <a:xfrm>
                <a:off x="777240" y="257860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1</a:t>
                </a:r>
                <a:endParaRPr lang="en-US" sz="1800" dirty="0"/>
              </a:p>
            </p:txBody>
          </p:sp>
        </p:grp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357F1A2-19CA-FC8C-AA8B-C6A28DC2AA3B}"/>
              </a:ext>
            </a:extLst>
          </p:cNvPr>
          <p:cNvGrpSpPr/>
          <p:nvPr/>
        </p:nvGrpSpPr>
        <p:grpSpPr>
          <a:xfrm>
            <a:off x="441894" y="3058895"/>
            <a:ext cx="8229600" cy="594360"/>
            <a:chOff x="441894" y="3058895"/>
            <a:chExt cx="8229600" cy="594360"/>
          </a:xfrm>
        </p:grpSpPr>
        <p:sp>
          <p:nvSpPr>
            <p:cNvPr id="47" name="Shape 10">
              <a:extLst>
                <a:ext uri="{FF2B5EF4-FFF2-40B4-BE49-F238E27FC236}">
                  <a16:creationId xmlns:a16="http://schemas.microsoft.com/office/drawing/2014/main" id="{53BD12C6-B8D0-2321-39D6-3E3C4FA8DBD0}"/>
                </a:ext>
              </a:extLst>
            </p:cNvPr>
            <p:cNvSpPr/>
            <p:nvPr/>
          </p:nvSpPr>
          <p:spPr>
            <a:xfrm>
              <a:off x="441894" y="305889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Shape 11">
              <a:extLst>
                <a:ext uri="{FF2B5EF4-FFF2-40B4-BE49-F238E27FC236}">
                  <a16:creationId xmlns:a16="http://schemas.microsoft.com/office/drawing/2014/main" id="{298A19BC-1751-F2F5-0554-4A2DEB030F9B}"/>
                </a:ext>
              </a:extLst>
            </p:cNvPr>
            <p:cNvSpPr/>
            <p:nvPr/>
          </p:nvSpPr>
          <p:spPr>
            <a:xfrm>
              <a:off x="441894" y="305889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0" name="Text 14">
              <a:extLst>
                <a:ext uri="{FF2B5EF4-FFF2-40B4-BE49-F238E27FC236}">
                  <a16:creationId xmlns:a16="http://schemas.microsoft.com/office/drawing/2014/main" id="{FA66B7D3-FFEC-3847-CB28-688C5E7CD0FA}"/>
                </a:ext>
              </a:extLst>
            </p:cNvPr>
            <p:cNvSpPr/>
            <p:nvPr/>
          </p:nvSpPr>
          <p:spPr>
            <a:xfrm>
              <a:off x="1310574" y="316862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Training Segments &amp; Milestones</a:t>
              </a:r>
              <a:endParaRPr lang="en-US" sz="14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05C053DF-B360-7A93-88EE-912E86B81955}"/>
                </a:ext>
              </a:extLst>
            </p:cNvPr>
            <p:cNvGrpSpPr/>
            <p:nvPr/>
          </p:nvGrpSpPr>
          <p:grpSpPr>
            <a:xfrm>
              <a:off x="760443" y="3172968"/>
              <a:ext cx="365760" cy="365760"/>
              <a:chOff x="777240" y="3310128"/>
              <a:chExt cx="365760" cy="365760"/>
            </a:xfrm>
          </p:grpSpPr>
          <p:sp>
            <p:nvSpPr>
              <p:cNvPr id="69" name="Shape 12">
                <a:extLst>
                  <a:ext uri="{FF2B5EF4-FFF2-40B4-BE49-F238E27FC236}">
                    <a16:creationId xmlns:a16="http://schemas.microsoft.com/office/drawing/2014/main" id="{22E97274-3CBB-96BC-C288-CBD1D5C893F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0" name="Text 13">
                <a:extLst>
                  <a:ext uri="{FF2B5EF4-FFF2-40B4-BE49-F238E27FC236}">
                    <a16:creationId xmlns:a16="http://schemas.microsoft.com/office/drawing/2014/main" id="{769675A8-5F35-63F2-0445-EDCE35DEF797}"/>
                  </a:ext>
                </a:extLst>
              </p:cNvPr>
              <p:cNvSpPr/>
              <p:nvPr/>
            </p:nvSpPr>
            <p:spPr>
              <a:xfrm>
                <a:off x="777240" y="331012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2</a:t>
                </a:r>
                <a:endParaRPr lang="en-US" sz="1800" dirty="0"/>
              </a:p>
            </p:txBody>
          </p:sp>
        </p:grp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D8935162-4D0C-7D4D-1E22-7F495E2461FC}"/>
              </a:ext>
            </a:extLst>
          </p:cNvPr>
          <p:cNvGrpSpPr/>
          <p:nvPr/>
        </p:nvGrpSpPr>
        <p:grpSpPr>
          <a:xfrm>
            <a:off x="441894" y="3790415"/>
            <a:ext cx="8229600" cy="594360"/>
            <a:chOff x="441894" y="3790415"/>
            <a:chExt cx="8229600" cy="594360"/>
          </a:xfrm>
        </p:grpSpPr>
        <p:sp>
          <p:nvSpPr>
            <p:cNvPr id="51" name="Shape 15">
              <a:extLst>
                <a:ext uri="{FF2B5EF4-FFF2-40B4-BE49-F238E27FC236}">
                  <a16:creationId xmlns:a16="http://schemas.microsoft.com/office/drawing/2014/main" id="{FC957CED-5FD8-E468-4BD0-B8599F0E6C84}"/>
                </a:ext>
              </a:extLst>
            </p:cNvPr>
            <p:cNvSpPr/>
            <p:nvPr/>
          </p:nvSpPr>
          <p:spPr>
            <a:xfrm>
              <a:off x="441894" y="3790415"/>
              <a:ext cx="8229600" cy="59436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Shape 16">
              <a:extLst>
                <a:ext uri="{FF2B5EF4-FFF2-40B4-BE49-F238E27FC236}">
                  <a16:creationId xmlns:a16="http://schemas.microsoft.com/office/drawing/2014/main" id="{5A183877-4A94-F9C0-3DE4-949884C71AB3}"/>
                </a:ext>
              </a:extLst>
            </p:cNvPr>
            <p:cNvSpPr/>
            <p:nvPr/>
          </p:nvSpPr>
          <p:spPr>
            <a:xfrm>
              <a:off x="441894" y="3790415"/>
              <a:ext cx="73152" cy="59436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4" name="Text 19">
              <a:extLst>
                <a:ext uri="{FF2B5EF4-FFF2-40B4-BE49-F238E27FC236}">
                  <a16:creationId xmlns:a16="http://schemas.microsoft.com/office/drawing/2014/main" id="{2FA1072B-6B70-42FD-2AE0-057B4C2A4E4C}"/>
                </a:ext>
              </a:extLst>
            </p:cNvPr>
            <p:cNvSpPr/>
            <p:nvPr/>
          </p:nvSpPr>
          <p:spPr>
            <a:xfrm>
              <a:off x="1310574" y="3900143"/>
              <a:ext cx="68580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&amp; How We'll Stay Connected</a:t>
              </a:r>
              <a:endParaRPr lang="en-US" sz="1400" dirty="0"/>
            </a:p>
          </p:txBody>
        </p:sp>
        <p:grpSp>
          <p:nvGrpSpPr>
            <p:cNvPr id="71" name="Group 70">
              <a:extLst>
                <a:ext uri="{FF2B5EF4-FFF2-40B4-BE49-F238E27FC236}">
                  <a16:creationId xmlns:a16="http://schemas.microsoft.com/office/drawing/2014/main" id="{4DB45023-1ADA-8160-8C0A-CD7510CBA34A}"/>
                </a:ext>
              </a:extLst>
            </p:cNvPr>
            <p:cNvGrpSpPr/>
            <p:nvPr/>
          </p:nvGrpSpPr>
          <p:grpSpPr>
            <a:xfrm>
              <a:off x="758952" y="3913632"/>
              <a:ext cx="365760" cy="365760"/>
              <a:chOff x="777240" y="4041648"/>
              <a:chExt cx="365760" cy="365760"/>
            </a:xfrm>
          </p:grpSpPr>
          <p:sp>
            <p:nvSpPr>
              <p:cNvPr id="72" name="Shape 17">
                <a:extLst>
                  <a:ext uri="{FF2B5EF4-FFF2-40B4-BE49-F238E27FC236}">
                    <a16:creationId xmlns:a16="http://schemas.microsoft.com/office/drawing/2014/main" id="{E31F78D0-3E00-E0D7-ED40-5D0503DFA2EF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ellipse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3" name="Text 18">
                <a:extLst>
                  <a:ext uri="{FF2B5EF4-FFF2-40B4-BE49-F238E27FC236}">
                    <a16:creationId xmlns:a16="http://schemas.microsoft.com/office/drawing/2014/main" id="{4BA4E61F-BDB1-1C55-21D4-F149018A1E65}"/>
                  </a:ext>
                </a:extLst>
              </p:cNvPr>
              <p:cNvSpPr/>
              <p:nvPr/>
            </p:nvSpPr>
            <p:spPr>
              <a:xfrm>
                <a:off x="777240" y="4041648"/>
                <a:ext cx="365760" cy="365760"/>
              </a:xfrm>
              <a:prstGeom prst="rect">
                <a:avLst/>
              </a:prstGeom>
              <a:noFill/>
              <a:ln/>
            </p:spPr>
            <p:txBody>
              <a:bodyPr wrap="square" rtlCol="0" anchor="ctr"/>
              <a:lstStyle/>
              <a:p>
                <a:pPr marL="0" indent="0" algn="ctr">
                  <a:buNone/>
                </a:pPr>
                <a:r>
                  <a:rPr lang="en-US" sz="1800" b="1" dirty="0">
                    <a:solidFill>
                      <a:srgbClr val="FFFFFF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3</a:t>
                </a:r>
                <a:endParaRPr lang="en-US" sz="1800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2194877212"/>
      </p:ext>
    </p:extLst>
  </p:cSld>
  <p:clrMapOvr>
    <a:masterClrMapping/>
  </p:clrMapOvr>
</p:sld>
</file>

<file path=ppt/slides/slide3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77741FC1-5157-E652-D4CC-992A9A21E3FE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9D047F12-78D6-0929-7E37-A0703CBCFF30}"/>
              </ns1:ext>
            </ns1:extLst>
          </ns0:cNvPr>
          <ns0:cNvSpPr/>
          <ns0:nvPr/>
        </ns0:nvSpPr>
        <ns0:spPr>
          <ns1:xfrm>
            <ns1:off x="0" y="0"/>
            <ns1:ext cx="9144000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sp>
        <ns0:nvSpPr>
          <ns0:cNvPr id="40" name="Text 2">
            <ns1:extLst>
              <ns1:ext uri="{FF2B5EF4-FFF2-40B4-BE49-F238E27FC236}">
                <ns2:creationId id="{B64594EE-7C45-FD13-4EFD-F1A5ED9509F6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CLIENT OVERVIEW</ns1:t>
            </ns1:r>
            <ns1:endParaRPr lang="en-US" sz="1400" dirty="0"/>
          </ns1:p>
        </ns0:txBody>
      </ns0:sp>
      <ns0:sp>
        <ns0:nvSpPr>
          <ns0:cNvPr id="4" name="Text 3">
            <ns1:extLst>
              <ns1:ext uri="{FF2B5EF4-FFF2-40B4-BE49-F238E27FC236}">
                <ns2:creationId id="{552FDBD5-28F9-280B-0B7D-E0A8F4108299}"/>
              </ns1:ext>
            </ns1:extLst>
          </ns0:cNvPr>
          <ns0:cNvSpPr/>
          <ns0:nvPr/>
        </ns0:nvSpPr>
        <ns0:spPr>
          <ns1:xfrm>
            <ns1:off x="446820" y="452855"/>
            <ns1:ext cx="3983355" cy="1244293"/>
          </ns1:xfrm>
          <ns1:prstGeom prst="rect">
            <ns1:avLst/>
          </ns1:prstGeom>
          <ns1:noFill/>
          <ns1:ln/>
        </ns0:spPr>
        <ns0:txBody>
          <ns1:bodyPr wrap="square" lIns="91440" tIns="45720" rIns="91440" bIns="45720" rtlCol="0" anchor="ctr"/>
          <ns1:lstStyle/>
          <ns1:p>
            <ns1:pPr marL="0" indent="0">
              <ns1:buNone/>
            </ns1:pPr>
            <ns1:r>
              <ns1:rPr lang="en-US" sz="2800" b="1">
                <ns1:solidFill>
                  <ns1:srgbClr val="1D3756"/>
                </ns1:solidFill>
                <ns1:latin typeface="Montserrat"/>
                <ns1:ea typeface="Montserrat" pitchFamily="34" charset="-122"/>
                <ns1:cs typeface="Montserrat" pitchFamily="34" charset="-120"/>
              </ns1:rPr>
              <ns1:t>Contract &amp; Business Case Review</ns1:t>
            </ns1:r>
            <ns1:endParaRPr lang="en-US" sz="2800">
              <ns1:latin typeface="Montserrat"/>
            </ns1:endParaRPr>
          </ns1:p>
        </ns0:txBody>
      </ns0:sp>
      <ns0:grpSp>
        <ns0:nvGrpSpPr>
          <ns0:cNvPr id="28" name="Group 27">
            <ns1:extLst>
              <ns1:ext uri="{FF2B5EF4-FFF2-40B4-BE49-F238E27FC236}">
                <ns2:creationId id="{FB03BAAF-7803-9B12-54C8-0AF8C1817E1B}"/>
              </ns1:ext>
            </ns1:extLst>
          </ns0:cNvPr>
          <ns0:cNvGrpSpPr/>
          <ns0:nvPr/>
        </ns0:nvGrpSpPr>
        <ns0:grpSpPr>
          <ns1:xfrm>
            <ns1:off x="457200" y="1709928"/>
            <ns1:ext cx="3840480" cy="1179576"/>
            <ns1:chOff x="457200" y="2157984"/>
            <ns1:chExt cx="3840480" cy="1179576"/>
          </ns1:xfrm>
        </ns0:grpSpPr>
        <ns0:grpSp>
          <ns0:nvGrpSpPr>
            <ns0:cNvPr id="26" name="Group 25">
              <ns1:extLst>
                <ns1:ext uri="{FF2B5EF4-FFF2-40B4-BE49-F238E27FC236}">
                  <ns2:creationId id="{DD5A77A1-6ED0-C5C5-7EF2-D42659BE108E}"/>
                </ns1:ext>
              </ns1:extLst>
            </ns0:cNvPr>
            <ns0:cNvGrpSpPr/>
            <ns0:nvPr/>
          </ns0:nvGrpSpPr>
          <ns0:grpSpPr>
            <ns1:xfrm>
              <ns1:off x="457200" y="2157984"/>
              <ns1:ext cx="3840480" cy="1179576"/>
              <ns1:chOff x="457200" y="2157984"/>
              <ns1:chExt cx="3840480" cy="1179576"/>
            </ns1:xfrm>
          </ns0:grpSpPr>
          <ns0:sp>
            <ns0:nvSpPr>
              <ns0:cNvPr id="5" name="Shape 4">
                <ns1:extLst>
                  <ns1:ext uri="{FF2B5EF4-FFF2-40B4-BE49-F238E27FC236}">
                    <ns2:creationId id="{CB052B5E-6438-2A60-6D7F-86187A185A38}"/>
                  </ns1:ext>
                </ns1:extLst>
              </ns0:cNvPr>
              <ns0:cNvSpPr/>
              <ns0:nvPr/>
            </ns0:nvSpPr>
            <ns0:spPr>
              <ns1:xfrm>
                <ns1:off x="457200" y="2249424"/>
                <ns1:ext cx="3840480" cy="1088136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6" name="Shape 5">
                <ns1:extLst>
                  <ns1:ext uri="{FF2B5EF4-FFF2-40B4-BE49-F238E27FC236}">
                    <ns2:creationId id="{130E358A-5F9A-2E36-A032-EE3ABD4B3D43}"/>
                  </ns1:ext>
                </ns1:extLst>
              </ns0:cNvPr>
              <ns0:cNvSpPr/>
              <ns0:nvPr/>
            </ns0:nvSpPr>
            <ns0:spPr>
              <ns1:xfrm>
                <ns1:off x="457200" y="2157984"/>
                <ns1:ext cx="3840480" cy="411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7" name="Text 6">
              <ns1:extLst>
                <ns1:ext uri="{FF2B5EF4-FFF2-40B4-BE49-F238E27FC236}">
                  <ns2:creationId id="{A07B7AD6-7D90-FFA4-60F2-EBA03EC56E36}"/>
                </ns1:ext>
              </ns1:extLst>
            </ns0:cNvPr>
            <ns0:cNvSpPr/>
            <ns0:nvPr/>
          </ns0:nvSpPr>
          <ns0:spPr>
            <ns1:xfrm>
              <ns1:off x="548640" y="2249424"/>
              <ns1:ext cx="347472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Motivations for Investment</ns1:t>
              </ns1:r>
              <ns1:endParaRPr lang="en-US" sz="1400" dirty="0"/>
            </ns1:p>
          </ns0:txBody>
        </ns0:sp>
        <ns0:sp>
          <ns0:nvSpPr>
            <ns0:cNvPr id="8" name="Text 7">
              <ns1:extLst>
                <ns1:ext uri="{FF2B5EF4-FFF2-40B4-BE49-F238E27FC236}">
                  <ns2:creationId id="{A2AC0942-6C6B-FED2-D450-0C0907410632}"/>
                </ns1:ext>
              </ns1:extLst>
            </ns0:cNvPr>
            <ns0:cNvSpPr/>
            <ns0:nvPr/>
          </ns0:nvSpPr>
          <ns0:spPr>
            <ns1:xfrm>
              <ns1:off x="640080" y="2660904"/>
              <ns1:ext cx="3474720" cy="5029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Replace E-Automate workflow friction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Shared service, field, billing, and AR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1" name="Group 30">
            <ns1:extLst>
              <ns1:ext uri="{FF2B5EF4-FFF2-40B4-BE49-F238E27FC236}">
                <ns2:creationId id="{BC8405FE-33DB-103A-671F-944B1D839188}"/>
              </ns1:ext>
            </ns1:extLst>
          </ns0:cNvPr>
          <ns0:cNvGrpSpPr/>
          <ns0:nvPr/>
        </ns0:nvGrpSpPr>
        <ns0:grpSpPr>
          <ns1:xfrm>
            <ns1:off x="457200" y="3109612"/>
            <ns1:ext cx="3840480" cy="1335024"/>
            <ns1:chOff x="457200" y="3575304"/>
            <ns1:chExt cx="3840480" cy="1335024"/>
          </ns1:xfrm>
        </ns0:grpSpPr>
        <ns0:grpSp>
          <ns0:nvGrpSpPr>
            <ns0:cNvPr id="27" name="Group 26">
              <ns1:extLst>
                <ns1:ext uri="{FF2B5EF4-FFF2-40B4-BE49-F238E27FC236}">
                  <ns2:creationId id="{2D1008F7-3A84-3F6A-AD08-D410DF342D4F}"/>
                </ns1:ext>
              </ns1:extLst>
            </ns0:cNvPr>
            <ns0:cNvGrpSpPr/>
            <ns0:nvPr/>
          </ns0:nvGrpSpPr>
          <ns0:grpSpPr>
            <ns1:xfrm>
              <ns1:off x="457200" y="3575304"/>
              <ns1:ext cx="3840480" cy="1335024"/>
              <ns1:chOff x="457200" y="3575304"/>
              <ns1:chExt cx="3840480" cy="1335024"/>
            </ns1:xfrm>
          </ns0:grpSpPr>
          <ns0:sp>
            <ns0:nvSpPr>
              <ns0:cNvPr id="9" name="Shape 8">
                <ns1:extLst>
                  <ns1:ext uri="{FF2B5EF4-FFF2-40B4-BE49-F238E27FC236}">
                    <ns2:creationId id="{E7FB6875-9262-CB2E-29C4-CB89EC299816}"/>
                  </ns1:ext>
                </ns1:extLst>
              </ns0:cNvPr>
              <ns0:cNvSpPr/>
              <ns0:nvPr/>
            </ns0:nvSpPr>
            <ns0:spPr>
              <ns1:xfrm>
                <ns1:off x="457200" y="3666744"/>
                <ns1:ext cx="3840480" cy="1243584"/>
              </ns1:xfrm>
              <ns1:prstGeom prst="rect">
                <ns1:avLst/>
              </ns1:prstGeom>
              <ns1:solidFill>
                <ns1:srgbClr val="FFFFFF"/>
              </ns1:solidFill>
              <ns1:ln w="12700">
                <ns1:solidFill>
                  <ns1:srgbClr val="E6E7E8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0" name="Shape 9">
                <ns1:extLst>
                  <ns1:ext uri="{FF2B5EF4-FFF2-40B4-BE49-F238E27FC236}">
                    <ns2:creationId id="{302B2518-8242-7D33-4A13-CBF35641AFF6}"/>
                  </ns1:ext>
                </ns1:extLst>
              </ns0:cNvPr>
              <ns0:cNvSpPr/>
              <ns0:nvPr/>
            </ns0:nvSpPr>
            <ns0:spPr>
              <ns1:xfrm>
                <ns1:off x="457200" y="3575304"/>
                <ns1:ext cx="3840480" cy="411480"/>
              </ns1:xfrm>
              <ns1:prstGeom prst="rect">
                <ns1:avLst/>
              </ns1:prstGeom>
              <ns1:solidFill>
                <ns1:srgbClr val="6EBE4F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" name="Text 10">
              <ns1:extLst>
                <ns1:ext uri="{FF2B5EF4-FFF2-40B4-BE49-F238E27FC236}">
                  <ns2:creationId id="{8BA78F0D-4D13-B38E-54CE-F452EA82C3E3}"/>
                </ns1:ext>
              </ns1:extLst>
            </ns0:cNvPr>
            <ns0:cNvSpPr/>
            <ns0:nvPr/>
          </ns0:nvSpPr>
          <ns0:spPr>
            <ns1:xfrm>
              <ns1:off x="548640" y="3643884"/>
              <ns1:ext cx="36576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How Rev.io Solves These Issues</ns1:t>
              </ns1:r>
              <ns1:endParaRPr lang="en-US" sz="1400" dirty="0"/>
            </ns1:p>
          </ns0:txBody>
        </ns0:sp>
        <ns0:sp>
          <ns0:nvSpPr>
            <ns0:cNvPr id="12" name="Text 11">
              <ns1:extLst>
                <ns1:ext uri="{FF2B5EF4-FFF2-40B4-BE49-F238E27FC236}">
                  <ns2:creationId id="{C1D14B8E-C786-DADF-C23D-E241CFC5C281}"/>
                </ns1:ext>
              </ns1:extLst>
            </ns0:cNvPr>
            <ns0:cNvSpPr/>
            <ns0:nvPr/>
          </ns0:nvSpPr>
          <ns0:spPr>
            <ns1:xfrm>
              <ns1:off x="640080" y="4123943"/>
              <ns1:ext cx="3474720" cy="584975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Simpler ticket and work-order workspace</ns1:t>
              </ns1:r>
              <ns1:endParaRPr lang="en-US" sz="1200" dirty="0">
                <ns1:highlight>
                  <ns1:srgbClr val="00FF00"/>
                </ns1:highlight>
              </ns1:endParaRPr>
            </ns1:p>
            <ns1:p>
              <ns1:pPr marL="342900" indent="-342900">
                <ns1:buSzPct val="100000"/>
                <ns1:buChar char="•"/>
              </ns1:pPr>
              <ns1:r>
                <ns1:rPr lang="en-US" sz="1200" dirty="0">
                  <ns1:solidFill>
                    <ns1:srgbClr val="5C5C5C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Centralized operations and payment visibility</ns1:t>
              </ns1:r>
              <ns1:endParaRPr lang="en-US" sz="1200" dirty="0">
                <ns1:highlight>
                  <ns1:srgbClr val="00FF00"/>
                </ns1:highlight>
              </ns1:endParaRPr>
            </ns1:p>
          </ns0:txBody>
        </ns0:sp>
      </ns0:grpSp>
      <ns0:grpSp>
        <ns0:nvGrpSpPr>
          <ns0:cNvPr id="32" name="Group 31">
            <ns1:extLst>
              <ns1:ext uri="{FF2B5EF4-FFF2-40B4-BE49-F238E27FC236}">
                <ns2:creationId id="{91815EC7-7305-CD8B-F26E-BAAD93A4A0E5}"/>
              </ns1:ext>
            </ns1:extLst>
          </ns0:cNvPr>
          <ns0:cNvGrpSpPr/>
          <ns0:nvPr/>
        </ns0:nvGrpSpPr>
        <ns0:grpSpPr>
          <ns1:xfrm>
            <ns1:off x="4572000" y="595012"/>
            <ns1:ext cx="4114800" cy="3849624"/>
            <ns1:chOff x="4572000" y="1060704"/>
            <ns1:chExt cx="4114800" cy="3849624"/>
          </ns1:xfrm>
        </ns0:grpSpPr>
        <ns0:grpSp>
          <ns0:nvGrpSpPr>
            <ns0:cNvPr id="25" name="Group 24">
              <ns1:extLst>
                <ns1:ext uri="{FF2B5EF4-FFF2-40B4-BE49-F238E27FC236}">
                  <ns2:creationId id="{67D1B6D0-F6DE-8B68-2E91-90567BC6EBD7}"/>
                </ns1:ext>
              </ns1:extLst>
            </ns0:cNvPr>
            <ns0:cNvGrpSpPr/>
            <ns0:nvPr/>
          </ns0:nvGrpSpPr>
          <ns0:grpSpPr>
            <ns1:xfrm>
              <ns1:off x="4572000" y="1060704"/>
              <ns1:ext cx="4114800" cy="3849624"/>
              <ns1:chOff x="4572000" y="685800"/>
              <ns1:chExt cx="4114800" cy="3840480"/>
            </ns1:xfrm>
          </ns0:grpSpPr>
          <ns0:sp>
            <ns0:nvSpPr>
              <ns0:cNvPr id="13" name="Shape 12">
                <ns1:extLst>
                  <ns1:ext uri="{FF2B5EF4-FFF2-40B4-BE49-F238E27FC236}">
                    <ns2:creationId id="{20E9BB06-1A39-B041-30CC-3A71BF4C62D6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4114800" cy="384048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4" name="Shape 13">
                <ns1:extLst>
                  <ns1:ext uri="{FF2B5EF4-FFF2-40B4-BE49-F238E27FC236}">
                    <ns2:creationId id="{8ADCBA2C-AEDF-B0B4-D548-10638E630312}"/>
                  </ns1:ext>
                </ns1:extLst>
              </ns0:cNvPr>
              <ns0:cNvSpPr/>
              <ns0:nvPr/>
            </ns0:nvSpPr>
            <ns0:spPr>
              <ns1:xfrm>
                <ns1:off x="4572000" y="685800"/>
                <ns1:ext cx="109728" cy="3840480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8" name="Shape 17">
                <ns1:extLst>
                  <ns1:ext uri="{FF2B5EF4-FFF2-40B4-BE49-F238E27FC236}">
                    <ns2:creationId id="{EBA1EED3-B530-6D9F-6713-5C546C956C24}"/>
                  </ns1:ext>
                </ns1:extLst>
              </ns0:cNvPr>
              <ns0:cNvSpPr/>
              <ns0:nvPr/>
            </ns0:nvSpPr>
            <ns0:spPr>
              <ns1:xfrm>
                <ns1:off x="4892040" y="2148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1" name="Shape 20">
                <ns1:extLst>
                  <ns1:ext uri="{FF2B5EF4-FFF2-40B4-BE49-F238E27FC236}">
                    <ns2:creationId id="{1D775402-C0A7-C621-2A80-68334B84F584}"/>
                  </ns1:ext>
                </ns1:extLst>
              </ns0:cNvPr>
              <ns0:cNvSpPr/>
              <ns0:nvPr/>
            </ns0:nvSpPr>
            <ns0:spPr>
              <ns1:xfrm>
                <ns1:off x="4892040" y="3291840"/>
                <ns1:ext cx="3566160" cy="18288"/>
              </ns1:xfrm>
              <ns1:prstGeom prst="rect">
                <ns1:avLst/>
              </ns1:prstGeom>
              <ns1:solidFill>
                <ns1:srgbClr val="2399B5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5" name="Text 14">
              <ns1:extLst>
                <ns1:ext uri="{FF2B5EF4-FFF2-40B4-BE49-F238E27FC236}">
                  <ns2:creationId id="{3B094176-B40C-DE45-F6CA-0BE136B810D2}"/>
                </ns1:ext>
              </ns1:extLst>
            </ns0:cNvPr>
            <ns0:cNvSpPr/>
            <ns0:nvPr/>
          </ns0:nvSpPr>
          <ns0:spPr>
            <ns1:xfrm>
              <ns1:off x="4892040" y="1243583"/>
              <ns1:ext cx="3566160" cy="366631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2399B5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YOUR CONTRACT SPECIFICS</ns1:t>
              </ns1:r>
              <ns1:endParaRPr lang="en-US" sz="1400" dirty="0"/>
            </ns1:p>
          </ns0:txBody>
        </ns0:sp>
        <ns0:sp>
          <ns0:nvSpPr>
            <ns0:cNvPr id="16" name="Text 15">
              <ns1:extLst>
                <ns1:ext uri="{FF2B5EF4-FFF2-40B4-BE49-F238E27FC236}">
                  <ns2:creationId id="{6210ED57-269D-69CB-B6E9-627BC6668B1C}"/>
                </ns1:ext>
              </ns1:extLst>
            </ns0:cNvPr>
            <ns0:cNvSpPr/>
            <ns0:nvPr/>
          </ns0:nvSpPr>
          <ns0:spPr>
            <ns1:xfrm>
              <ns1:off x="4892040" y="17922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Package Details</ns1:t>
              </ns1:r>
              <ns1:endParaRPr lang="en-US" sz="1400" b="1" dirty="0"/>
            </ns1:p>
          </ns0:txBody>
        </ns0:sp>
        <ns0:sp>
          <ns0:nvSpPr>
            <ns0:cNvPr id="17" name="Text 16">
              <ns1:extLst>
                <ns1:ext uri="{FF2B5EF4-FFF2-40B4-BE49-F238E27FC236}">
                  <ns2:creationId id="{C8941C86-09E3-23C7-A511-581C52C4FB25}"/>
                </ns1:ext>
              </ns1:extLst>
            </ns0:cNvPr>
            <ns0:cNvSpPr/>
            <ns0:nvPr/>
          </ns0:nvSpPr>
          <ns0:spPr>
            <ns1:xfrm>
              <ns1:off x="4892040" y="211226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300" dirty="0">
                  <ns1:solidFill>
                    <ns1:srgbClr val="F8F8F8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PSA onboarding - $560 MRR from sales brief</ns1:t>
              </ns1:r>
              <ns1:endParaRPr lang="en-US" sz="1300" dirty="0"/>
            </ns1:p>
          </ns0:txBody>
        </ns0:sp>
        <ns0:sp>
          <ns0:nvSpPr>
            <ns0:cNvPr id="19" name="Text 18">
              <ns1:extLst>
                <ns1:ext uri="{FF2B5EF4-FFF2-40B4-BE49-F238E27FC236}">
                  <ns2:creationId id="{8381353F-B64A-DED5-8D69-659D0FC3AA78}"/>
                </ns1:ext>
              </ns1:extLst>
            </ns0:cNvPr>
            <ns0:cNvSpPr/>
            <ns0:nvPr/>
          </ns0:nvSpPr>
          <ns0:spPr>
            <ns1:xfrm>
              <ns1:off x="4892040" y="2706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Recurring Fees</ns1:t>
              </ns1:r>
              <ns1:endParaRPr lang="en-US" sz="1400" b="1" dirty="0"/>
            </ns1:p>
          </ns0:txBody>
        </ns0:sp>
        <ns0:sp>
          <ns0:nvSpPr>
            <ns0:cNvPr id="20" name="Text 19">
              <ns1:extLst>
                <ns1:ext uri="{FF2B5EF4-FFF2-40B4-BE49-F238E27FC236}">
                  <ns2:creationId id="{C0CEFCEC-DFC0-296C-59A0-C72D1E0C05AD}"/>
                </ns1:ext>
              </ns1:extLst>
            </ns0:cNvPr>
            <ns0:cNvSpPr/>
            <ns0:nvPr/>
          </ns0:nvSpPr>
          <ns0:spPr>
            <ns1:xfrm>
              <ns1:off x="4892040" y="3026664"/>
              <ns1:ext cx="3566160" cy="700000"/>
            </ns1:xfrm>
            <ns1:prstGeom prst="rect">
              <ns1:avLst/>
            </ns1:prstGeom>
            <ns1:noFill/>
            <ns1:ln/>
          </ns0:spPr>
          <ns0:txBody>
            <ns1:bodyPr wrap="square" rtlCol="0"/>
            <ns1:lstStyle/>
            <ns1:p>
              <ns1:r>
                <ns1:rPr lang="en-US" sz="1150">
                  <ns1:solidFill>
                    <ns1:srgbClr val="FFFFFF"/>
                  </ns1:solidFill>
                </ns1:rPr>
                <ns1:t>Standard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  <ns1:p>
              <ns1:r>
                <ns1:rPr lang="en-US" sz="1150">
                  <ns1:solidFill>
                    <ns1:srgbClr val="FFFFFF"/>
                  </ns1:solidFill>
                </ns1:rPr>
                <ns1:t>Field Licenses: 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Qty</ns1:t>
              </ns1:r>
              <ns1:r>
                <ns1:rPr lang="en-US" sz="1150">
                  <ns1:solidFill>
                    <ns1:srgbClr val="FFFFFF"/>
                  </ns1:solidFill>
                </ns1:rPr>
                <ns1:t> at $</ns1:t>
              </ns1:r>
              <ns1:r>
                <ns1:rPr lang="en-US" sz="1150">
                  <ns1:solidFill>
                    <ns1:srgbClr val="6EBE4F"/>
                  </ns1:solidFill>
                  <ns1:highlight>
                    <ns1:srgbClr val="00FF00"/>
                  </ns1:highlight>
                </ns1:rPr>
                <ns1:t>NEEDS: Price</ns1:t>
              </ns1:r>
              <ns1:r>
                <ns1:rPr lang="en-US" sz="1150">
                  <ns1:solidFill>
                    <ns1:srgbClr val="FFFFFF"/>
                  </ns1:solidFill>
                </ns1:rPr>
                <ns1:t> per seat</ns1:t>
              </ns1:r>
              <ns1:endParaRPr lang="en-US"/>
            </ns1:p>
          </ns0:txBody>
        </ns0:sp>
        <ns0:sp>
          <ns0:nvSpPr>
            <ns0:cNvPr id="22" name="Text 21">
              <ns1:extLst>
                <ns1:ext uri="{FF2B5EF4-FFF2-40B4-BE49-F238E27FC236}">
                  <ns2:creationId id="{565DDFB8-7D23-D852-CB36-B2157232B3F9}"/>
                </ns1:ext>
              </ns1:extLst>
            </ns0:cNvPr>
            <ns0:cNvSpPr/>
            <ns0:nvPr/>
          </ns0:nvSpPr>
          <ns0:spPr>
            <ns1:xfrm>
              <ns1:off x="4892040" y="3849623"/>
              <ns1:ext cx="3566160" cy="274973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Billing Start Date</ns1:t>
              </ns1:r>
              <ns1:endParaRPr lang="en-US" sz="1400" b="1" dirty="0"/>
            </ns1:p>
          </ns0:txBody>
        </ns0:sp>
        <ns0:sp>
          <ns0:nvSpPr>
            <ns0:cNvPr id="23" name="Text 22">
              <ns1:extLst>
                <ns1:ext uri="{FF2B5EF4-FFF2-40B4-BE49-F238E27FC236}">
                  <ns2:creationId id="{0C43F53B-E8E4-26D0-D789-17BCA8AF40BE}"/>
                </ns1:ext>
              </ns1:extLst>
            </ns0:cNvPr>
            <ns0:cNvSpPr/>
            <ns0:nvPr/>
          </ns0:nvSpPr>
          <ns0:spPr>
            <ns1:xfrm>
              <ns1:off x="4892040" y="4169663"/>
              <ns1:ext cx="3566160" cy="274973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3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Start date</ns1:t>
              </ns1:r>
              <ns1:endParaRPr lang="en-US"/>
            </ns1:p>
          </ns0:txBody>
        </ns0:sp>
      </ns0:grpSp>
      <ns0:pic>
        <ns0:nvPicPr>
          <ns0:cNvPr id="33" name="Picture 32" descr="A blue and black logo&#10;&#10;AI-generated content may be incorrect.">
            <ns1:extLst>
              <ns1:ext uri="{FF2B5EF4-FFF2-40B4-BE49-F238E27FC236}">
                <ns2:creationId id="{AD10A1EF-7200-45E9-6222-5B2735778AFD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</ns0:spTree>
    <ns0:extLst>
      <ns0:ext uri="{BB962C8B-B14F-4D97-AF65-F5344CB8AC3E}">
        <ns4:creationId val="3096770195"/>
      </ns0:ext>
    </ns0:extLst>
  </ns0:cSld>
  <ns0:clrMapOvr>
    <ns1:masterClrMapping/>
  </ns0:clrMapOvr>
</ns0:sld>
</file>

<file path=ppt/slides/slide4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>
  <ns0:cSld name="Slide 1">
    <ns0:bg>
      <ns0:bgPr>
        <ns1:solidFill>
          <ns1:srgbClr val="FFFFFF"/>
        </ns1:solidFill>
        <ns1:effectLst/>
      </ns0:bgPr>
    </ns0:bg>
    <ns0:spTree>
      <ns0:nvGrpSpPr>
        <ns0:cNvPr id="1" name=""/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4" name="Freeform 2">
            <ns1:extLst>
              <ns1:ext uri="{FF2B5EF4-FFF2-40B4-BE49-F238E27FC236}">
                <ns2:creationId id="{FA43FAFC-54CF-2E7D-59AC-5405135BA269}"/>
              </ns1:ext>
            </ns1:extLst>
          </ns0:cNvPr>
          <ns0:cNvSpPr/>
          <ns0:nvPr/>
        </ns0:nvSpPr>
        <ns0:spPr>
          <ns1:xfrm>
            <ns1:off x="-73152" y="0"/>
            <ns1:ext cx="9217152" cy="5143500"/>
          </ns1:xfrm>
          <ns1:custGeom>
            <ns1:avLst/>
            <ns1:gdLst/>
            <ns1:ahLst/>
            <ns1:cxnLst/>
            <ns1:rect l="l" t="t" r="r" b="b"/>
            <ns1:pathLst>
              <ns1:path w="23012386" h="13414092">
                <ns1:moveTo>
                  <ns1:pt x="0" y="0"/>
                </ns1:moveTo>
                <ns1:lnTo>
                  <ns1:pt x="23012386" y="0"/>
                </ns1:lnTo>
                <ns1:lnTo>
                  <ns1:pt x="23012386" y="13414091"/>
                </ns1:lnTo>
                <ns1:lnTo>
                  <ns1:pt x="0" y="13414091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 t="-1717" r="-7145" b="-1717"/>
            </ns1:stretch>
          </ns1:blipFill>
        </ns0:spPr>
        <ns0:txBody>
          <ns1:bodyPr/>
          <ns1:lstStyle/>
          <ns1:p>
            <ns1:endParaRPr lang="en-US" dirty="0"/>
          </ns1:p>
        </ns0:txBody>
      </ns0:sp>
      <ns0:pic>
        <ns0:nvPicPr>
          <ns0:cNvPr id="34" name="Picture 33" descr="A blue and black logo&#10;&#10;AI-generated content may be incorrect.">
            <ns1:extLst>
              <ns1:ext uri="{FF2B5EF4-FFF2-40B4-BE49-F238E27FC236}">
                <ns2:creationId id="{46595C9B-268E-7BA3-28C9-196DB7DD6F7B}"/>
              </ns1:ext>
            </ns1:extLst>
          </ns0:cNvPr>
          <ns0:cNvPicPr>
            <ns1:picLocks noChangeAspect="1"/>
          </ns0:cNvPicPr>
          <ns0:nvPr/>
        </ns0:nvPicPr>
        <ns0:blipFill>
          <ns1:blip ns3:embed="rId4"/>
          <ns1:stretch>
            <ns1:fillRect/>
          </ns1:stretch>
        </ns0:blipFill>
        <ns0:spPr>
          <ns1:xfrm>
            <ns1:off x="7263864" y="4384775"/>
            <ns1:ext cx="1438242" cy="719121"/>
          </ns1:xfrm>
          <ns1:prstGeom prst="rect">
            <ns1:avLst/>
          </ns1:prstGeom>
        </ns0:spPr>
      </ns0:pic>
      <ns0:sp>
        <ns0:nvSpPr>
          <ns0:cNvPr id="40" name="Text 2">
            <ns1:extLst>
              <ns1:ext uri="{FF2B5EF4-FFF2-40B4-BE49-F238E27FC236}">
                <ns2:creationId id="{FD4458DB-B546-4E12-D393-9FF424EBF38F}"/>
              </ns1:ext>
            </ns1:extLst>
          </ns0:cNvPr>
          <ns0:cNvSpPr/>
          <ns0:nvPr/>
        </ns0:nvSpPr>
        <ns0:spPr>
          <ns1:xfrm>
            <ns1:off x="441894" y="315695"/>
            <ns1:ext cx="8229600" cy="27432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1400" dirty="0">
                <ns1:solidFill>
                  <ns1:srgbClr val="6EBE4F"/>
                </ns1:solidFill>
                <ns1:latin typeface="Montserrat" pitchFamily="34" charset="0"/>
                <ns1:ea typeface="Montserrat" pitchFamily="34" charset="-122"/>
                <ns1:cs typeface="Montserrat" pitchFamily="34" charset="-120"/>
              </ns1:rPr>
              <ns1:t>OPTIONAL MODULE DISCOVERY</ns1:t>
            </ns1:r>
            <ns1:endParaRPr lang="en-US" sz="1400" dirty="0"/>
          </ns1:p>
        </ns0:txBody>
      </ns0:sp>
      <ns0:sp>
        <ns0:nvSpPr>
          <ns0:cNvPr id="41" name="Text 3">
            <ns1:extLst>
              <ns1:ext uri="{FF2B5EF4-FFF2-40B4-BE49-F238E27FC236}">
                <ns2:creationId id="{570552DB-0EA7-000A-EC90-365B54E913C5}"/>
              </ns1:ext>
            </ns1:extLst>
          </ns0:cNvPr>
          <ns0:cNvSpPr/>
          <ns0:nvPr/>
        </ns0:nvSpPr>
        <ns0:spPr>
          <ns1:xfrm>
            <ns1:off x="441894" y="681455"/>
            <ns1:ext cx="8229600" cy="45720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marL="0" indent="0">
              <ns1:buNone/>
            </ns1:pPr>
            <ns1:r>
              <ns1:rPr lang="en-US" sz="2800" b="1" dirty="0">
                <ns1:solidFill>
                  <ns1:srgbClr val="1D3756"/>
                </ns1:solidFill>
                <ns1:latin typeface="Montserrat" pitchFamily="34" charset="0"/>
              </ns1:rPr>
              <ns1:t>Setup Facts</ns1:t>
            </ns1:r>
            <ns1:endParaRPr lang="en-US" sz="2800" b="1" dirty="0"/>
          </ns1:p>
        </ns0:txBody>
      </ns0:sp>
      <ns0:grpSp>
        <ns0:nvGrpSpPr>
          <ns0:cNvPr id="136" name="Group 135">
            <ns1:extLst>
              <ns1:ext uri="{FF2B5EF4-FFF2-40B4-BE49-F238E27FC236}">
                <ns2:creationId id="{8330412D-FB30-0F1B-D3D5-E55CB27391E8}"/>
              </ns1:ext>
            </ns1:extLst>
          </ns0:cNvPr>
          <ns0:cNvGrpSpPr/>
          <ns0:nvPr/>
        </ns0:nvGrpSpPr>
        <ns0:grpSpPr>
          <ns1:xfrm>
            <ns1:off x="441894" y="1412975"/>
            <ns1:ext cx="8327202" cy="2697480"/>
            <ns1:chOff x="451038" y="1444752"/>
            <ns1:chExt cx="8327202" cy="2697480"/>
          </ns1:xfrm>
        </ns0:grpSpPr>
        <ns0:grpSp>
          <ns0:nvGrpSpPr>
            <ns0:cNvPr id="111" name="Group 110">
              <ns1:extLst>
                <ns1:ext uri="{FF2B5EF4-FFF2-40B4-BE49-F238E27FC236}">
                  <ns2:creationId id="{6AC7D38E-AF0F-C12B-20C6-6428ABAD671A}"/>
                </ns1:ext>
              </ns1:extLst>
            </ns0:cNvPr>
            <ns0:cNvGrpSpPr/>
            <ns0:nvPr/>
          </ns0:nvGrpSpPr>
          <ns0:grpSpPr>
            <ns1:xfrm>
              <ns1:off x="457200" y="1444752"/>
              <ns1:ext cx="8229600" cy="594360"/>
              <ns1:chOff x="457200" y="1920240"/>
              <ns1:chExt cx="8229600" cy="594360"/>
            </ns1:xfrm>
          </ns0:grpSpPr>
          <ns0:sp>
            <ns0:nvSpPr>
              <ns0:cNvPr id="112" name="Shape 3">
                <ns1:extLst>
                  <ns1:ext uri="{FF2B5EF4-FFF2-40B4-BE49-F238E27FC236}">
                    <ns2:creationId id="{69C3334F-6F10-0DDF-304B-37C6E9CC703A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8229600" cy="5943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 dirty="0"/>
              </ns1:p>
            </ns0:txBody>
          </ns0:sp>
          <ns0:sp>
            <ns0:nvSpPr>
              <ns0:cNvPr id="113" name="Shape 4">
                <ns1:extLst>
                  <ns1:ext uri="{FF2B5EF4-FFF2-40B4-BE49-F238E27FC236}">
                    <ns2:creationId id="{BEF5E975-66D0-1281-6BDF-47DA5E1F75DD}"/>
                  </ns1:ext>
                </ns1:extLst>
              </ns0:cNvPr>
              <ns0:cNvSpPr/>
              <ns0:nvPr/>
            </ns0:nvSpPr>
            <ns0:spPr>
              <ns1:xfrm>
                <ns1:off x="457200" y="1920240"/>
                <ns1:ext cx="73152" cy="5943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 dirty="0">
                  <ns1:highlight>
                    <ns1:srgbClr val="2299B6"/>
                  </ns1:highlight>
                </ns1:endParaRPr>
              </ns1:p>
            </ns0:txBody>
          </ns0:sp>
        </ns0:grpSp>
        <ns0:sp>
          <ns0:nvSpPr>
            <ns0:cNvPr id="114" name="Text 5">
              <ns1:extLst>
                <ns1:ext uri="{FF2B5EF4-FFF2-40B4-BE49-F238E27FC236}">
                  <ns2:creationId id="{EBB6265C-79E4-1D3F-7F02-BD2F21CC9FF1}"/>
                </ns1:ext>
              </ns1:extLst>
            </ns0:cNvPr>
            <ns0:cNvSpPr/>
            <ns0:nvPr/>
          </ns0:nvSpPr>
          <ns0:spPr>
            <ns1:xfrm>
              <ns1:off x="731520" y="1586484"/>
              <ns1:ext cx="7772400" cy="274320"/>
            </ns1:xfrm>
            <ns1:prstGeom prst="rect">
              <ns1:avLst/>
            </ns1:prstGeom>
            <ns1:solidFill>
              <ns1:srgbClr val="00FF00"/>
            </ns1:solidFill>
            <ns1:ln>
              <ns1:noFill/>
            </ns1:ln>
          </ns0:spPr>
          <ns0:txBody>
            <ns1:bodyPr wrap="square" rtlCol="0" anchor="ctr"/>
            <ns1:lstStyle/>
            <ns1:p>
              <ns1:r>
                <ns1:rPr lang="en-US" sz="1400" b="1">
                  <ns1:solidFill>
                    <ns1:srgbClr val="1D3756"/>
                  </ns1:solidFill>
                </ns1:rPr>
                <ns1:t>Instance URL:  </ns1:t>
              </ns1:r>
              <ns1:r>
                <ns1:rPr lang="en-US" sz="1400" b="1">
                  <ns1:solidFill>
                    <ns1:srgbClr val="1D3756"/>
                  </ns1:solidFill>
                  <ns1:highlight>
                    <ns1:srgbClr val="00FF00"/>
                  </ns1:highlight>
                </ns1:rPr>
                <ns1:t>NEEDS: Instance URL</ns1:t>
              </ns1:r>
              <ns1:endParaRPr lang="en-US"/>
            </ns1:p>
          </ns0:txBody>
        </ns0:sp>
        <ns0:grpSp>
          <ns0:nvGrpSpPr>
            <ns0:cNvPr id="115" name="Group 114">
              <ns1:extLst>
                <ns1:ext uri="{FF2B5EF4-FFF2-40B4-BE49-F238E27FC236}">
                  <ns2:creationId id="{49255F5E-ACE6-BB3C-6458-988108EDC65A}"/>
                </ns1:ext>
              </ns1:extLst>
            </ns0:cNvPr>
            <ns0:cNvGrpSpPr/>
            <ns0:nvPr/>
          </ns0:nvGrpSpPr>
          <ns0:grpSpPr>
            <ns1:xfrm>
              <ns1:off x="457200" y="2221992"/>
              <ns1:ext cx="8229600" cy="914400"/>
              <ns1:chOff x="457200" y="2697480"/>
              <ns1:chExt cx="8229600" cy="914400"/>
            </ns1:xfrm>
          </ns0:grpSpPr>
          <ns0:sp>
            <ns0:nvSpPr>
              <ns0:cNvPr id="116" name="Shape 6">
                <ns1:extLst>
                  <ns1:ext uri="{FF2B5EF4-FFF2-40B4-BE49-F238E27FC236}">
                    <ns2:creationId id="{F6DFFC74-7B8E-3D89-2E9B-DF8680EE1B39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8229600" cy="91440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17" name="Shape 7">
                <ns1:extLst>
                  <ns1:ext uri="{FF2B5EF4-FFF2-40B4-BE49-F238E27FC236}">
                    <ns2:creationId id="{DED6407B-CF7D-A057-CD8A-BDD0AC7F02C7}"/>
                  </ns1:ext>
                </ns1:extLst>
              </ns0:cNvPr>
              <ns0:cNvSpPr/>
              <ns0:nvPr/>
            </ns0:nvSpPr>
            <ns0:spPr>
              <ns1:xfrm>
                <ns1:off x="457200" y="2697480"/>
                <ns1:ext cx="73152" cy="91440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18" name="Text 8">
              <ns1:extLst>
                <ns1:ext uri="{FF2B5EF4-FFF2-40B4-BE49-F238E27FC236}">
                  <ns2:creationId id="{512C6E18-2F37-8F9F-0346-F6F695982C24}"/>
                </ns1:ext>
              </ns1:extLst>
            </ns0:cNvPr>
            <ns0:cNvSpPr/>
            <ns0:nvPr/>
          </ns0:nvSpPr>
          <ns0:spPr>
            <ns1:xfrm>
              <ns1:off x="731520" y="2313432"/>
              <ns1:ext cx="7772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Optional module requirements?</ns1:t>
              </ns1:r>
              <ns1:endParaRPr lang="en-US" sz="1400" dirty="0"/>
            </ns1:p>
          </ns0:txBody>
        </ns0:sp>
        <ns0:sp>
          <ns0:nvSpPr>
            <ns0:cNvPr id="119" name="Shape 9">
              <ns1:extLst>
                <ns1:ext uri="{FF2B5EF4-FFF2-40B4-BE49-F238E27FC236}">
                  <ns2:creationId id="{6898EF62-EBEA-B2CD-5E0C-88CCD7A58DC9}"/>
                </ns1:ext>
              </ns1:extLst>
            </ns0:cNvPr>
            <ns0:cNvSpPr/>
            <ns0:nvPr/>
          </ns0:nvSpPr>
          <ns0:spPr>
            <ns1:xfrm>
              <ns1:off x="91440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/>
              </ns1:r>
              <ns1:endParaRPr lang="en-US"/>
            </ns1:p>
          </ns0:txBody>
        </ns0:sp>
        <ns0:sp>
          <ns0:nvSpPr>
            <ns0:cNvPr id="120" name="Text 10">
              <ns1:extLst>
                <ns1:ext uri="{FF2B5EF4-FFF2-40B4-BE49-F238E27FC236}">
                  <ns2:creationId id="{C905DF38-CC81-55E9-5DDC-578E0BF9CFC0}"/>
                </ns1:ext>
              </ns1:extLst>
            </ns0:cNvPr>
            <ns0:cNvSpPr/>
            <ns0:nvPr/>
          </ns0:nvSpPr>
          <ns0:spPr>
            <ns1:xfrm>
              <ns1:off x="123444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B0B4CC"/>
                  </ns1:solidFill>
                </ns1:rPr>
                <ns1:t>Quoting</ns1:t>
              </ns1:r>
              <ns1:endParaRPr lang="en-US"/>
            </ns1:p>
          </ns0:txBody>
        </ns0:sp>
        <ns0:sp>
          <ns0:nvSpPr>
            <ns0:cNvPr id="121" name="Shape 11">
              <ns1:extLst>
                <ns1:ext uri="{FF2B5EF4-FFF2-40B4-BE49-F238E27FC236}">
                  <ns2:creationId id="{C58C5DC2-D17A-D480-E450-5A126371244F}"/>
                </ns1:ext>
              </ns1:extLst>
            </ns0:cNvPr>
            <ns0:cNvSpPr/>
            <ns0:nvPr/>
          </ns0:nvSpPr>
          <ns0:spPr>
            <ns1:xfrm>
              <ns1:off x="288036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2" name="Text 12">
              <ns1:extLst>
                <ns1:ext uri="{FF2B5EF4-FFF2-40B4-BE49-F238E27FC236}">
                  <ns2:creationId id="{FBBE7C2E-B016-60DE-FB4C-32A4E95561BA}"/>
                </ns1:ext>
              </ns1:extLst>
            </ns0:cNvPr>
            <ns0:cNvSpPr/>
            <ns0:nvPr/>
          </ns0:nvSpPr>
          <ns0:spPr>
            <ns1:xfrm>
              <ns1:off x="320040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Inventory</ns1:t>
              </ns1:r>
              <ns1:endParaRPr lang="en-US"/>
            </ns1:p>
          </ns0:txBody>
        </ns0:sp>
        <ns0:sp>
          <ns0:nvSpPr>
            <ns0:cNvPr id="123" name="Shape 13">
              <ns1:extLst>
                <ns1:ext uri="{FF2B5EF4-FFF2-40B4-BE49-F238E27FC236}">
                  <ns2:creationId id="{E3777183-A2F7-FCEE-32AA-91AAA5976953}"/>
                </ns1:ext>
              </ns1:extLst>
            </ns0:cNvPr>
            <ns0:cNvSpPr/>
            <ns0:nvPr/>
          </ns0:nvSpPr>
          <ns0:spPr>
            <ns1:xfrm>
              <ns1:off x="484632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4" name="Text 14">
              <ns1:extLst>
                <ns1:ext uri="{FF2B5EF4-FFF2-40B4-BE49-F238E27FC236}">
                  <ns2:creationId id="{8E90FB1B-7F09-4615-C7D2-9545D58991B7}"/>
                </ns1:ext>
              </ns1:extLst>
            </ns0:cNvPr>
            <ns0:cNvSpPr/>
            <ns0:nvPr/>
          </ns0:nvSpPr>
          <ns0:spPr>
            <ns1:xfrm>
              <ns1:off x="516636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Project Management</ns1:t>
              </ns1:r>
              <ns1:endParaRPr lang="en-US"/>
            </ns1:p>
          </ns0:txBody>
        </ns0:sp>
        <ns0:sp>
          <ns0:nvSpPr>
            <ns0:cNvPr id="125" name="Shape 15">
              <ns1:extLst>
                <ns1:ext uri="{FF2B5EF4-FFF2-40B4-BE49-F238E27FC236}">
                  <ns2:creationId id="{92FB4DBB-B1D4-9FBB-38EE-C984BB7AE469}"/>
                </ns1:ext>
              </ns1:extLst>
            </ns0:cNvPr>
            <ns0:cNvSpPr/>
            <ns0:nvPr/>
          </ns0:nvSpPr>
          <ns0:spPr>
            <ns1:xfrm>
              <ns1:off x="6812280" y="2724912"/>
              <ns1:ext cx="228600" cy="22860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6DBF50"/>
              </ns1:solidFill>
              <ns1:prstDash val="solid"/>
            </ns1:ln>
          </ns0:spPr>
          <ns0:txBody>
            <ns1:bodyPr wrap="square" rtlCol="0" anchor="ctr"/>
            <ns1:lstStyle/>
            <ns1:p>
              <ns1:pPr algn="ctr">
                <ns1:buNone/>
              </ns1:pPr>
              <ns1:r>
                <ns1:rPr lang="en-US" sz="1500" b="1">
                  <ns1:solidFill>
                    <ns1:srgbClr val="6EBE4F"/>
                  </ns1:solidFill>
                </ns1:rPr>
                <ns1:t>✓</ns1:t>
              </ns1:r>
              <ns1:endParaRPr lang="en-US"/>
            </ns1:p>
          </ns0:txBody>
        </ns0:sp>
        <ns0:sp>
          <ns0:nvSpPr>
            <ns0:cNvPr id="126" name="Text 16">
              <ns1:extLst>
                <ns1:ext uri="{FF2B5EF4-FFF2-40B4-BE49-F238E27FC236}">
                  <ns2:creationId id="{6223ED9A-5FDC-ACBD-2B4D-DEA53DE1B6EE}"/>
                </ns1:ext>
              </ns1:extLst>
            </ns0:cNvPr>
            <ns0:cNvSpPr/>
            <ns0:nvPr/>
          </ns0:nvSpPr>
          <ns0:spPr>
            <ns1:xfrm>
              <ns1:off x="7132320" y="2724912"/>
              <ns1:ext cx="1645920" cy="22860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r>
                <ns1:rPr lang="en-US" sz="1200">
                  <ns1:solidFill>
                    <ns1:srgbClr val="FFFFFF"/>
                  </ns1:solidFill>
                </ns1:rPr>
                <ns1:t>Mobile App</ns1:t>
              </ns1:r>
              <ns1:endParaRPr lang="en-US"/>
            </ns1:p>
          </ns0:txBody>
        </ns0:sp>
        <ns0:grpSp>
          <ns0:nvGrpSpPr>
            <ns0:cNvPr id="131" name="Group 130">
              <ns1:extLst>
                <ns1:ext uri="{FF2B5EF4-FFF2-40B4-BE49-F238E27FC236}">
                  <ns2:creationId id="{A1F1E51D-5366-04F7-244B-330F6C3CA2AC}"/>
                </ns1:ext>
              </ns1:extLst>
            </ns0:cNvPr>
            <ns0:cNvGrpSpPr/>
            <ns0:nvPr/>
          </ns0:nvGrpSpPr>
          <ns0:grpSpPr>
            <ns1:xfrm>
              <ns1:off x="451038" y="3319272"/>
              <ns1:ext cx="8235762" cy="822960"/>
              <ns1:chOff x="451038" y="3319272"/>
              <ns1:chExt cx="8235762" cy="822960"/>
            </ns1:xfrm>
          </ns0:grpSpPr>
          <ns0:sp>
            <ns0:nvSpPr>
              <ns0:cNvPr id="127" name="Shape 17">
                <ns1:extLst>
                  <ns1:ext uri="{FF2B5EF4-FFF2-40B4-BE49-F238E27FC236}">
                    <ns2:creationId id="{62C1230A-A555-5807-CE0F-69CD92FD19FA}"/>
                  </ns1:ext>
                </ns1:extLst>
              </ns0:cNvPr>
              <ns0:cNvSpPr/>
              <ns0:nvPr/>
            </ns0:nvSpPr>
            <ns0:spPr>
              <ns1:xfrm>
                <ns1:off x="457200" y="3319272"/>
                <ns1:ext cx="8229600" cy="822960"/>
              </ns1:xfrm>
              <ns1:prstGeom prst="rect">
                <ns1:avLst/>
              </ns1:prstGeom>
              <ns1:solidFill>
                <ns1:srgbClr val="1D375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30" name="Shape 18">
                <ns1:extLst>
                  <ns1:ext uri="{FF2B5EF4-FFF2-40B4-BE49-F238E27FC236}">
                    <ns2:creationId id="{24BC2768-A3BB-E92F-C2DD-F3C898654622}"/>
                  </ns1:ext>
                </ns1:extLst>
              </ns0:cNvPr>
              <ns0:cNvSpPr/>
              <ns0:nvPr/>
            </ns0:nvSpPr>
            <ns0:spPr>
              <ns1:xfrm>
                <ns1:off x="451038" y="3319272"/>
                <ns1:ext cx="73152" cy="822960"/>
              </ns1:xfrm>
              <ns1:prstGeom prst="rect">
                <ns1:avLst/>
              </ns1:prstGeom>
              <ns1:solidFill>
                <ns1:srgbClr val="2299B6"/>
              </ns1:solidFill>
              <ns1:ln/>
            </ns0:spPr>
            <ns0:txBody>
              <ns1:bodyPr/>
              <ns1:lstStyle/>
              <ns1:p>
                <ns1:endParaRPr lang="en-US"/>
              </ns1:p>
            </ns0:txBody>
          </ns0:sp>
        </ns0:grpSp>
        <ns0:sp>
          <ns0:nvSpPr>
            <ns0:cNvPr id="128" name="Text 19">
              <ns1:extLst>
                <ns1:ext uri="{FF2B5EF4-FFF2-40B4-BE49-F238E27FC236}">
                  <ns2:creationId id="{0F65846F-7B2E-3D23-BCE2-057FF6CBFAD2}"/>
                </ns1:ext>
              </ns1:extLst>
            </ns0:cNvPr>
            <ns0:cNvSpPr/>
            <ns0:nvPr/>
          </ns0:nvSpPr>
          <ns0:spPr>
            <ns1:xfrm>
              <ns1:off x="731520" y="3410712"/>
              <ns1:ext cx="4343400" cy="274320"/>
            </ns1:xfrm>
            <ns1:prstGeom prst="rect">
              <ns1:avLst/>
            </ns1:prstGeom>
            <ns1:noFill/>
            <ns1:ln/>
          </ns0:spPr>
          <ns0:txBody>
            <ns1:bodyPr wrap="square" rtlCol="0" anchor="ctr"/>
            <ns1:lstStyle/>
            <ns1:p>
              <ns1:pPr marL="0" indent="0">
                <ns1:buNone/>
              </ns1:pPr>
              <ns1:r>
                <ns1:rPr lang="en-US" sz="1400" b="1" dirty="0">
                  <ns1:solidFill>
                    <ns1:srgbClr val="FFFFFF"/>
                  </ns1:solidFill>
                  <ns1:latin typeface="Montserrat" pitchFamily="34" charset="0"/>
                  <ns1:ea typeface="Montserrat" pitchFamily="34" charset="-122"/>
                  <ns1:cs typeface="Montserrat" pitchFamily="34" charset="-120"/>
                </ns1:rPr>
                <ns1:t>What integrations are you interested in?</ns1:t>
              </ns1:r>
              <ns1:endParaRPr lang="en-US" sz="1400" dirty="0"/>
            </ns1:p>
          </ns0:txBody>
        </ns0:sp>
        <ns0:sp>
          <ns0:nvSpPr>
            <ns0:cNvPr id="135" name="Text 10">
              <ns1:extLst>
                <ns1:ext uri="{FF2B5EF4-FFF2-40B4-BE49-F238E27FC236}">
                  <ns2:creationId id="{82556449-349A-B633-893B-D7B3F6C309A7}"/>
                </ns1:ext>
              </ns1:extLst>
            </ns0:cNvPr>
            <ns0:cNvSpPr/>
            <ns0:nvPr/>
          </ns0:nvSpPr>
          <ns0:spPr>
            <ns1:xfrm>
              <ns1:off x="731520" y="3753612"/>
              <ns1:ext cx="7534656" cy="228600"/>
            </ns1:xfrm>
            <ns1:prstGeom prst="rect">
              <ns1:avLst/>
            </ns1:prstGeom>
            <ns1:noFill/>
            <ns1:ln/>
          </ns0:spPr>
          <ns0:txBody>
            <ns1:bodyPr wrap="square" lIns="91440" tIns="45720" rIns="91440" bIns="45720" rtlCol="0" anchor="ctr"/>
            <ns1:lstStyle/>
            <ns1:p>
              <ns1:r>
                <ns1:rPr lang="en-US" sz="1000" dirty="0">
                  <ns1:solidFill>
                    <ns1:srgbClr val="FFFFFF"/>
                  </ns1:solidFill>
                  <ns1:latin typeface="Montserrat"/>
                </ns1:rPr>
                <ns1:t>QuickBooks Desktop workaround, Authorize.net, Rev.io Payments</ns1:t>
              </ns1:r>
              <ns1:endParaRPr lang="en-US" sz="1200">
                <ns1:solidFill>
                  <ns1:srgbClr val="000000"/>
                </ns1:solidFill>
                <ns1:latin typeface="Calibri"/>
                <ns1:ea typeface="Calibri"/>
                <ns1:cs typeface="Calibri"/>
              </ns1:endParaRPr>
            </ns1:p>
          </ns0:txBody>
        </ns0:sp>
      </ns0:grpSp>
    </ns0:spTree>
  </ns0:cSld>
  <ns0:clrMapOvr>
    <ns1:masterClrMapping/>
  </ns0:clrMapOvr>
</ns0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Rectangle 31">
            <a:extLst>
              <a:ext uri="{FF2B5EF4-FFF2-40B4-BE49-F238E27FC236}">
                <a16:creationId xmlns:a16="http://schemas.microsoft.com/office/drawing/2014/main" id="{09B99CF0-6A4D-673A-CF07-BD9B0321C67B}"/>
              </a:ext>
            </a:extLst>
          </p:cNvPr>
          <p:cNvSpPr/>
          <p:nvPr/>
        </p:nvSpPr>
        <p:spPr>
          <a:xfrm>
            <a:off x="0" y="13989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A9C2DB35-4A67-1656-A173-24F295E74C4A}"/>
              </a:ext>
            </a:extLst>
          </p:cNvPr>
          <p:cNvSpPr/>
          <p:nvPr/>
        </p:nvSpPr>
        <p:spPr>
          <a:xfrm>
            <a:off x="7336320" y="4581107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2" name="Text 3">
            <a:extLst>
              <a:ext uri="{FF2B5EF4-FFF2-40B4-BE49-F238E27FC236}">
                <a16:creationId xmlns:a16="http://schemas.microsoft.com/office/drawing/2014/main" id="{8937940A-8AFA-CA91-5838-083FF680DFA7}"/>
              </a:ext>
            </a:extLst>
          </p:cNvPr>
          <p:cNvSpPr/>
          <p:nvPr/>
        </p:nvSpPr>
        <p:spPr>
          <a:xfrm>
            <a:off x="400050" y="571727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Rev.io Onboarding Process</a:t>
            </a:r>
            <a:endParaRPr lang="en-US" sz="2800" dirty="0"/>
          </a:p>
        </p:txBody>
      </p:sp>
      <p:sp>
        <p:nvSpPr>
          <p:cNvPr id="18" name="Text 3">
            <a:extLst>
              <a:ext uri="{FF2B5EF4-FFF2-40B4-BE49-F238E27FC236}">
                <a16:creationId xmlns:a16="http://schemas.microsoft.com/office/drawing/2014/main" id="{D391DAD7-72A8-72C4-DFB5-A7CC6121EB03}"/>
              </a:ext>
            </a:extLst>
          </p:cNvPr>
          <p:cNvSpPr/>
          <p:nvPr/>
        </p:nvSpPr>
        <p:spPr>
          <a:xfrm>
            <a:off x="415356" y="1127964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Three key onboarding categories we'll review today</a:t>
            </a:r>
            <a:endParaRPr lang="en-US" sz="1400" dirty="0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56F676C3-DCC7-BDE3-4BB6-A439B68A17D9}"/>
              </a:ext>
            </a:extLst>
          </p:cNvPr>
          <p:cNvGrpSpPr/>
          <p:nvPr/>
        </p:nvGrpSpPr>
        <p:grpSpPr>
          <a:xfrm>
            <a:off x="1582185" y="1643028"/>
            <a:ext cx="6400800" cy="2563746"/>
            <a:chOff x="1371600" y="1808499"/>
            <a:chExt cx="6400800" cy="2563746"/>
          </a:xfrm>
        </p:grpSpPr>
        <p:grpSp>
          <p:nvGrpSpPr>
            <p:cNvPr id="48" name="Group 47">
              <a:extLst>
                <a:ext uri="{FF2B5EF4-FFF2-40B4-BE49-F238E27FC236}">
                  <a16:creationId xmlns:a16="http://schemas.microsoft.com/office/drawing/2014/main" id="{40F0F337-35C1-27D0-187F-56C67961BB4C}"/>
                </a:ext>
              </a:extLst>
            </p:cNvPr>
            <p:cNvGrpSpPr/>
            <p:nvPr/>
          </p:nvGrpSpPr>
          <p:grpSpPr>
            <a:xfrm>
              <a:off x="1371600" y="3595005"/>
              <a:ext cx="6400800" cy="777240"/>
              <a:chOff x="1371600" y="3840480"/>
              <a:chExt cx="6400800" cy="777240"/>
            </a:xfrm>
          </p:grpSpPr>
          <p:sp>
            <p:nvSpPr>
              <p:cNvPr id="49" name="Shape 16">
                <a:extLst>
                  <a:ext uri="{FF2B5EF4-FFF2-40B4-BE49-F238E27FC236}">
                    <a16:creationId xmlns:a16="http://schemas.microsoft.com/office/drawing/2014/main" id="{0115E433-6607-1DA8-837F-F40F95F14F33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0" name="Shape 17">
                <a:extLst>
                  <a:ext uri="{FF2B5EF4-FFF2-40B4-BE49-F238E27FC236}">
                    <a16:creationId xmlns:a16="http://schemas.microsoft.com/office/drawing/2014/main" id="{F742879A-8156-E14D-EA1E-37A6736C51DF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1" name="Group 50">
                <a:extLst>
                  <a:ext uri="{FF2B5EF4-FFF2-40B4-BE49-F238E27FC236}">
                    <a16:creationId xmlns:a16="http://schemas.microsoft.com/office/drawing/2014/main" id="{B46BBC5E-C74D-7CFF-AFCD-FB18A5DC9335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2" name="Shape 18">
                  <a:extLst>
                    <a:ext uri="{FF2B5EF4-FFF2-40B4-BE49-F238E27FC236}">
                      <a16:creationId xmlns:a16="http://schemas.microsoft.com/office/drawing/2014/main" id="{F528B422-AAC5-4519-9465-FF265BAA0246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3" name="Text 19">
                  <a:extLst>
                    <a:ext uri="{FF2B5EF4-FFF2-40B4-BE49-F238E27FC236}">
                      <a16:creationId xmlns:a16="http://schemas.microsoft.com/office/drawing/2014/main" id="{767E6B88-E224-8B0D-A117-282C84A898BA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3</a:t>
                  </a:r>
                  <a:endParaRPr lang="en-US" sz="1600" dirty="0"/>
                </a:p>
              </p:txBody>
            </p:sp>
          </p:grpSp>
        </p:grpSp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C6FE4E85-F2CC-F63F-2D2B-CE03B95E4A65}"/>
                </a:ext>
              </a:extLst>
            </p:cNvPr>
            <p:cNvGrpSpPr/>
            <p:nvPr/>
          </p:nvGrpSpPr>
          <p:grpSpPr>
            <a:xfrm>
              <a:off x="1371600" y="2702318"/>
              <a:ext cx="6400800" cy="777240"/>
              <a:chOff x="1371600" y="3840480"/>
              <a:chExt cx="6400800" cy="777240"/>
            </a:xfrm>
          </p:grpSpPr>
          <p:sp>
            <p:nvSpPr>
              <p:cNvPr id="55" name="Shape 16">
                <a:extLst>
                  <a:ext uri="{FF2B5EF4-FFF2-40B4-BE49-F238E27FC236}">
                    <a16:creationId xmlns:a16="http://schemas.microsoft.com/office/drawing/2014/main" id="{909853F2-1BC3-8EF4-14FB-5F426FB95BA5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6" name="Shape 17">
                <a:extLst>
                  <a:ext uri="{FF2B5EF4-FFF2-40B4-BE49-F238E27FC236}">
                    <a16:creationId xmlns:a16="http://schemas.microsoft.com/office/drawing/2014/main" id="{6DF70B04-68BA-5942-6A11-9D2C0F938534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2C053F5-4759-FE06-C690-8BF0A774DEB4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58" name="Shape 18">
                  <a:extLst>
                    <a:ext uri="{FF2B5EF4-FFF2-40B4-BE49-F238E27FC236}">
                      <a16:creationId xmlns:a16="http://schemas.microsoft.com/office/drawing/2014/main" id="{3C59A8E2-CD6D-3143-39B9-99F512BA367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59" name="Text 19">
                  <a:extLst>
                    <a:ext uri="{FF2B5EF4-FFF2-40B4-BE49-F238E27FC236}">
                      <a16:creationId xmlns:a16="http://schemas.microsoft.com/office/drawing/2014/main" id="{55E233F4-9BBA-550D-5803-DF60EBBA1132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2</a:t>
                  </a:r>
                  <a:endParaRPr lang="en-US" sz="1600" dirty="0"/>
                </a:p>
              </p:txBody>
            </p:sp>
          </p:grpSp>
        </p:grp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1B8E6E4A-9871-FF9B-4654-AFA0BD9A1F44}"/>
                </a:ext>
              </a:extLst>
            </p:cNvPr>
            <p:cNvGrpSpPr/>
            <p:nvPr/>
          </p:nvGrpSpPr>
          <p:grpSpPr>
            <a:xfrm>
              <a:off x="1371600" y="1808499"/>
              <a:ext cx="6400800" cy="777240"/>
              <a:chOff x="1371600" y="3840480"/>
              <a:chExt cx="6400800" cy="777240"/>
            </a:xfrm>
          </p:grpSpPr>
          <p:sp>
            <p:nvSpPr>
              <p:cNvPr id="61" name="Shape 16">
                <a:extLst>
                  <a:ext uri="{FF2B5EF4-FFF2-40B4-BE49-F238E27FC236}">
                    <a16:creationId xmlns:a16="http://schemas.microsoft.com/office/drawing/2014/main" id="{15BC48EC-DA95-D020-4388-3D9D04A6FF27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6400800" cy="777240"/>
              </a:xfrm>
              <a:prstGeom prst="rect">
                <a:avLst/>
              </a:prstGeom>
              <a:solidFill>
                <a:srgbClr val="FFFFFF"/>
              </a:solidFill>
              <a:ln/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62" name="Shape 17">
                <a:extLst>
                  <a:ext uri="{FF2B5EF4-FFF2-40B4-BE49-F238E27FC236}">
                    <a16:creationId xmlns:a16="http://schemas.microsoft.com/office/drawing/2014/main" id="{54A4C5F9-EE56-267D-E0B8-B7008A8D81EB}"/>
                  </a:ext>
                </a:extLst>
              </p:cNvPr>
              <p:cNvSpPr/>
              <p:nvPr/>
            </p:nvSpPr>
            <p:spPr>
              <a:xfrm>
                <a:off x="1371600" y="3840480"/>
                <a:ext cx="91440" cy="77724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63" name="Group 62">
                <a:extLst>
                  <a:ext uri="{FF2B5EF4-FFF2-40B4-BE49-F238E27FC236}">
                    <a16:creationId xmlns:a16="http://schemas.microsoft.com/office/drawing/2014/main" id="{DB11AE9C-C101-3A41-1127-66C4A90B1372}"/>
                  </a:ext>
                </a:extLst>
              </p:cNvPr>
              <p:cNvGrpSpPr/>
              <p:nvPr/>
            </p:nvGrpSpPr>
            <p:grpSpPr>
              <a:xfrm>
                <a:off x="1691640" y="4041648"/>
                <a:ext cx="365760" cy="365760"/>
                <a:chOff x="1691640" y="4041648"/>
                <a:chExt cx="365760" cy="365760"/>
              </a:xfrm>
            </p:grpSpPr>
            <p:sp>
              <p:nvSpPr>
                <p:cNvPr id="64" name="Shape 18">
                  <a:extLst>
                    <a:ext uri="{FF2B5EF4-FFF2-40B4-BE49-F238E27FC236}">
                      <a16:creationId xmlns:a16="http://schemas.microsoft.com/office/drawing/2014/main" id="{73BC06B6-6EC3-E509-FA21-8224124E1BC7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ellipse">
                  <a:avLst/>
                </a:prstGeom>
                <a:solidFill>
                  <a:srgbClr val="2399B5"/>
                </a:solidFill>
                <a:ln/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65" name="Text 19">
                  <a:extLst>
                    <a:ext uri="{FF2B5EF4-FFF2-40B4-BE49-F238E27FC236}">
                      <a16:creationId xmlns:a16="http://schemas.microsoft.com/office/drawing/2014/main" id="{AF653772-64A2-6D83-20A8-18F00045882D}"/>
                    </a:ext>
                  </a:extLst>
                </p:cNvPr>
                <p:cNvSpPr/>
                <p:nvPr/>
              </p:nvSpPr>
              <p:spPr>
                <a:xfrm>
                  <a:off x="1691640" y="4041648"/>
                  <a:ext cx="365760" cy="365760"/>
                </a:xfrm>
                <a:prstGeom prst="rect">
                  <a:avLst/>
                </a:prstGeom>
                <a:noFill/>
                <a:ln/>
              </p:spPr>
              <p:txBody>
                <a:bodyPr wrap="square" lIns="0" tIns="0" rIns="0" bIns="0" rtlCol="0" anchor="ctr"/>
                <a:lstStyle/>
                <a:p>
                  <a:pPr marL="0" indent="0" algn="ctr">
                    <a:buNone/>
                  </a:pPr>
                  <a:r>
                    <a:rPr lang="en-US" sz="1600" b="1" dirty="0">
                      <a:solidFill>
                        <a:srgbClr val="FFFFFF"/>
                      </a:solidFill>
                      <a:latin typeface="Montserrat" pitchFamily="34" charset="0"/>
                    </a:rPr>
                    <a:t>1</a:t>
                  </a:r>
                  <a:endParaRPr lang="en-US" sz="1600" dirty="0"/>
                </a:p>
              </p:txBody>
            </p:sp>
          </p:grpSp>
        </p:grpSp>
        <p:sp>
          <p:nvSpPr>
            <p:cNvPr id="66" name="Text 8">
              <a:extLst>
                <a:ext uri="{FF2B5EF4-FFF2-40B4-BE49-F238E27FC236}">
                  <a16:creationId xmlns:a16="http://schemas.microsoft.com/office/drawing/2014/main" id="{F52E58EF-43BE-BE70-919E-D67F9F548BD8}"/>
                </a:ext>
              </a:extLst>
            </p:cNvPr>
            <p:cNvSpPr/>
            <p:nvPr/>
          </p:nvSpPr>
          <p:spPr>
            <a:xfrm>
              <a:off x="2148840" y="1944073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Pre-Configured Setups</a:t>
              </a:r>
              <a:endParaRPr lang="en-US" sz="1400" dirty="0"/>
            </a:p>
          </p:txBody>
        </p:sp>
        <p:sp>
          <p:nvSpPr>
            <p:cNvPr id="67" name="Text 9">
              <a:extLst>
                <a:ext uri="{FF2B5EF4-FFF2-40B4-BE49-F238E27FC236}">
                  <a16:creationId xmlns:a16="http://schemas.microsoft.com/office/drawing/2014/main" id="{9DED0752-B379-0754-9819-BB13BA239484}"/>
                </a:ext>
              </a:extLst>
            </p:cNvPr>
            <p:cNvSpPr/>
            <p:nvPr/>
          </p:nvSpPr>
          <p:spPr>
            <a:xfrm>
              <a:off x="2148840" y="2218393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Out-of-the-box configurations ready for your use</a:t>
              </a:r>
              <a:endParaRPr lang="en-US" sz="1200" i="1" dirty="0"/>
            </a:p>
          </p:txBody>
        </p:sp>
        <p:sp>
          <p:nvSpPr>
            <p:cNvPr id="68" name="Text 14">
              <a:extLst>
                <a:ext uri="{FF2B5EF4-FFF2-40B4-BE49-F238E27FC236}">
                  <a16:creationId xmlns:a16="http://schemas.microsoft.com/office/drawing/2014/main" id="{13E321F7-7494-3439-0245-D72FF0A1A53E}"/>
                </a:ext>
              </a:extLst>
            </p:cNvPr>
            <p:cNvSpPr/>
            <p:nvPr/>
          </p:nvSpPr>
          <p:spPr>
            <a:xfrm>
              <a:off x="2148840" y="2834762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PSA Configuration</a:t>
              </a:r>
              <a:endParaRPr lang="en-US" sz="1400" dirty="0"/>
            </a:p>
          </p:txBody>
        </p:sp>
        <p:sp>
          <p:nvSpPr>
            <p:cNvPr id="69" name="Text 15">
              <a:extLst>
                <a:ext uri="{FF2B5EF4-FFF2-40B4-BE49-F238E27FC236}">
                  <a16:creationId xmlns:a16="http://schemas.microsoft.com/office/drawing/2014/main" id="{8A4F9D9C-4700-E86F-E3D4-85B398A44277}"/>
                </a:ext>
              </a:extLst>
            </p:cNvPr>
            <p:cNvSpPr/>
            <p:nvPr/>
          </p:nvSpPr>
          <p:spPr>
            <a:xfrm>
              <a:off x="2148840" y="3108872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Client-responsible setup and customization</a:t>
              </a:r>
              <a:endParaRPr lang="en-US" sz="1200" i="1" dirty="0"/>
            </a:p>
          </p:txBody>
        </p:sp>
        <p:sp>
          <p:nvSpPr>
            <p:cNvPr id="70" name="Text 20">
              <a:extLst>
                <a:ext uri="{FF2B5EF4-FFF2-40B4-BE49-F238E27FC236}">
                  <a16:creationId xmlns:a16="http://schemas.microsoft.com/office/drawing/2014/main" id="{70005D81-8517-C9C5-8412-E12A8371D0A7}"/>
                </a:ext>
              </a:extLst>
            </p:cNvPr>
            <p:cNvSpPr/>
            <p:nvPr/>
          </p:nvSpPr>
          <p:spPr>
            <a:xfrm>
              <a:off x="2148840" y="3714720"/>
              <a:ext cx="5303520" cy="27432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Onboarding Assist</a:t>
              </a:r>
              <a:endParaRPr lang="en-US" sz="1400" dirty="0"/>
            </a:p>
          </p:txBody>
        </p:sp>
        <p:sp>
          <p:nvSpPr>
            <p:cNvPr id="71" name="Text 21">
              <a:extLst>
                <a:ext uri="{FF2B5EF4-FFF2-40B4-BE49-F238E27FC236}">
                  <a16:creationId xmlns:a16="http://schemas.microsoft.com/office/drawing/2014/main" id="{57DB5151-2534-2B3C-CBFB-67EA8A14A21D}"/>
                </a:ext>
              </a:extLst>
            </p:cNvPr>
            <p:cNvSpPr/>
            <p:nvPr/>
          </p:nvSpPr>
          <p:spPr>
            <a:xfrm>
              <a:off x="2148840" y="3989040"/>
              <a:ext cx="5303520" cy="22860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200" i="1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team support and guidance</a:t>
              </a:r>
              <a:endParaRPr lang="en-US" sz="1200" i="1" dirty="0"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Freeform 2">
            <a:extLst>
              <a:ext uri="{FF2B5EF4-FFF2-40B4-BE49-F238E27FC236}">
                <a16:creationId xmlns:a16="http://schemas.microsoft.com/office/drawing/2014/main" id="{04CFD1C0-C7E6-0928-2632-CC3D0266A4C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pic>
        <p:nvPicPr>
          <p:cNvPr id="36" name="Picture 35" descr="A blue and black logo&#10;&#10;AI-generated content may be incorrect.">
            <a:extLst>
              <a:ext uri="{FF2B5EF4-FFF2-40B4-BE49-F238E27FC236}">
                <a16:creationId xmlns:a16="http://schemas.microsoft.com/office/drawing/2014/main" id="{3D89654E-16F4-3400-3483-7B8BC36CE7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106" name="Group 105">
            <a:extLst>
              <a:ext uri="{FF2B5EF4-FFF2-40B4-BE49-F238E27FC236}">
                <a16:creationId xmlns:a16="http://schemas.microsoft.com/office/drawing/2014/main" id="{E33167FC-1C6D-6BBA-632D-8F0E42C4B6E6}"/>
              </a:ext>
            </a:extLst>
          </p:cNvPr>
          <p:cNvGrpSpPr/>
          <p:nvPr/>
        </p:nvGrpSpPr>
        <p:grpSpPr>
          <a:xfrm>
            <a:off x="228600" y="1511818"/>
            <a:ext cx="8686800" cy="2331720"/>
            <a:chOff x="228600" y="1511818"/>
            <a:chExt cx="8686800" cy="2331720"/>
          </a:xfrm>
        </p:grpSpPr>
        <p:grpSp>
          <p:nvGrpSpPr>
            <p:cNvPr id="2" name="Group 1">
              <a:extLst>
                <a:ext uri="{FF2B5EF4-FFF2-40B4-BE49-F238E27FC236}">
                  <a16:creationId xmlns:a16="http://schemas.microsoft.com/office/drawing/2014/main" id="{AF2CE139-738F-21E8-6087-52C40D0409FC}"/>
                </a:ext>
              </a:extLst>
            </p:cNvPr>
            <p:cNvGrpSpPr/>
            <p:nvPr/>
          </p:nvGrpSpPr>
          <p:grpSpPr>
            <a:xfrm>
              <a:off x="228600" y="1511818"/>
              <a:ext cx="2103120" cy="1097280"/>
              <a:chOff x="457200" y="1371600"/>
              <a:chExt cx="2103120" cy="1097280"/>
            </a:xfrm>
          </p:grpSpPr>
          <p:sp>
            <p:nvSpPr>
              <p:cNvPr id="34" name="Shape 4">
                <a:extLst>
                  <a:ext uri="{FF2B5EF4-FFF2-40B4-BE49-F238E27FC236}">
                    <a16:creationId xmlns:a16="http://schemas.microsoft.com/office/drawing/2014/main" id="{58600C49-B52C-8C83-F47C-24DC6D7A0DCF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5" name="Shape 5">
                <a:extLst>
                  <a:ext uri="{FF2B5EF4-FFF2-40B4-BE49-F238E27FC236}">
                    <a16:creationId xmlns:a16="http://schemas.microsoft.com/office/drawing/2014/main" id="{0782E1AB-4B6C-8D3B-94BE-D43575B7C08D}"/>
                  </a:ext>
                </a:extLst>
              </p:cNvPr>
              <p:cNvSpPr/>
              <p:nvPr/>
            </p:nvSpPr>
            <p:spPr>
              <a:xfrm>
                <a:off x="45720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37" name="Text 6">
              <a:extLst>
                <a:ext uri="{FF2B5EF4-FFF2-40B4-BE49-F238E27FC236}">
                  <a16:creationId xmlns:a16="http://schemas.microsoft.com/office/drawing/2014/main" id="{C18010B4-AD41-DC02-70E9-612A0936E89C}"/>
                </a:ext>
              </a:extLst>
            </p:cNvPr>
            <p:cNvSpPr/>
            <p:nvPr/>
          </p:nvSpPr>
          <p:spPr>
            <a:xfrm>
              <a:off x="36576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Asset Types</a:t>
              </a:r>
              <a:endParaRPr lang="en-US" sz="1200" dirty="0"/>
            </a:p>
          </p:txBody>
        </p:sp>
        <p:sp>
          <p:nvSpPr>
            <p:cNvPr id="38" name="Text 7">
              <a:extLst>
                <a:ext uri="{FF2B5EF4-FFF2-40B4-BE49-F238E27FC236}">
                  <a16:creationId xmlns:a16="http://schemas.microsoft.com/office/drawing/2014/main" id="{08CDED51-3E7A-3916-EE8C-FF77057B1B99}"/>
                </a:ext>
              </a:extLst>
            </p:cNvPr>
            <p:cNvSpPr/>
            <p:nvPr/>
          </p:nvSpPr>
          <p:spPr>
            <a:xfrm>
              <a:off x="41148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39" name="Text 8">
              <a:extLst>
                <a:ext uri="{FF2B5EF4-FFF2-40B4-BE49-F238E27FC236}">
                  <a16:creationId xmlns:a16="http://schemas.microsoft.com/office/drawing/2014/main" id="{8B929D38-0E41-12FA-85EA-A792CAEB3384}"/>
                </a:ext>
              </a:extLst>
            </p:cNvPr>
            <p:cNvSpPr/>
            <p:nvPr/>
          </p:nvSpPr>
          <p:spPr>
            <a:xfrm>
              <a:off x="64008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Equipment</a:t>
              </a:r>
              <a:endParaRPr lang="en-US" sz="900" dirty="0"/>
            </a:p>
          </p:txBody>
        </p:sp>
        <p:sp>
          <p:nvSpPr>
            <p:cNvPr id="40" name="Text 9">
              <a:extLst>
                <a:ext uri="{FF2B5EF4-FFF2-40B4-BE49-F238E27FC236}">
                  <a16:creationId xmlns:a16="http://schemas.microsoft.com/office/drawing/2014/main" id="{202E6186-E7F6-CCA4-D55E-25004C9A6949}"/>
                </a:ext>
              </a:extLst>
            </p:cNvPr>
            <p:cNvSpPr/>
            <p:nvPr/>
          </p:nvSpPr>
          <p:spPr>
            <a:xfrm>
              <a:off x="41148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1" name="Text 10">
              <a:extLst>
                <a:ext uri="{FF2B5EF4-FFF2-40B4-BE49-F238E27FC236}">
                  <a16:creationId xmlns:a16="http://schemas.microsoft.com/office/drawing/2014/main" id="{D001A24E-C3F1-8A17-D916-134B6F3F9AD8}"/>
                </a:ext>
              </a:extLst>
            </p:cNvPr>
            <p:cNvSpPr/>
            <p:nvPr/>
          </p:nvSpPr>
          <p:spPr>
            <a:xfrm>
              <a:off x="64008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License</a:t>
              </a:r>
              <a:endParaRPr lang="en-US" sz="900" dirty="0"/>
            </a:p>
          </p:txBody>
        </p:sp>
        <p:sp>
          <p:nvSpPr>
            <p:cNvPr id="42" name="Text 11">
              <a:extLst>
                <a:ext uri="{FF2B5EF4-FFF2-40B4-BE49-F238E27FC236}">
                  <a16:creationId xmlns:a16="http://schemas.microsoft.com/office/drawing/2014/main" id="{C31610D4-C80E-81D7-301B-431636601DBD}"/>
                </a:ext>
              </a:extLst>
            </p:cNvPr>
            <p:cNvSpPr/>
            <p:nvPr/>
          </p:nvSpPr>
          <p:spPr>
            <a:xfrm>
              <a:off x="41148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3" name="Text 12">
              <a:extLst>
                <a:ext uri="{FF2B5EF4-FFF2-40B4-BE49-F238E27FC236}">
                  <a16:creationId xmlns:a16="http://schemas.microsoft.com/office/drawing/2014/main" id="{C7097DC5-237E-65A2-25F0-BD3E29AE36CC}"/>
                </a:ext>
              </a:extLst>
            </p:cNvPr>
            <p:cNvSpPr/>
            <p:nvPr/>
          </p:nvSpPr>
          <p:spPr>
            <a:xfrm>
              <a:off x="64008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Other</a:t>
              </a:r>
              <a:endParaRPr lang="en-US" sz="900" dirty="0"/>
            </a:p>
          </p:txBody>
        </p:sp>
        <p:grpSp>
          <p:nvGrpSpPr>
            <p:cNvPr id="44" name="Group 43">
              <a:extLst>
                <a:ext uri="{FF2B5EF4-FFF2-40B4-BE49-F238E27FC236}">
                  <a16:creationId xmlns:a16="http://schemas.microsoft.com/office/drawing/2014/main" id="{AE23238C-6914-136D-23AD-59422F57614D}"/>
                </a:ext>
              </a:extLst>
            </p:cNvPr>
            <p:cNvGrpSpPr/>
            <p:nvPr/>
          </p:nvGrpSpPr>
          <p:grpSpPr>
            <a:xfrm>
              <a:off x="2423160" y="1511818"/>
              <a:ext cx="2103120" cy="1097280"/>
              <a:chOff x="2651760" y="1371600"/>
              <a:chExt cx="2103120" cy="1097280"/>
            </a:xfrm>
          </p:grpSpPr>
          <p:sp>
            <p:nvSpPr>
              <p:cNvPr id="45" name="Shape 13">
                <a:extLst>
                  <a:ext uri="{FF2B5EF4-FFF2-40B4-BE49-F238E27FC236}">
                    <a16:creationId xmlns:a16="http://schemas.microsoft.com/office/drawing/2014/main" id="{42168F95-6CF4-FD60-E2D0-AF5E5F6146E7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46" name="Shape 14">
                <a:extLst>
                  <a:ext uri="{FF2B5EF4-FFF2-40B4-BE49-F238E27FC236}">
                    <a16:creationId xmlns:a16="http://schemas.microsoft.com/office/drawing/2014/main" id="{A86CC57C-9272-11C8-A42A-FF2B4398FC4B}"/>
                  </a:ext>
                </a:extLst>
              </p:cNvPr>
              <p:cNvSpPr/>
              <p:nvPr/>
            </p:nvSpPr>
            <p:spPr>
              <a:xfrm>
                <a:off x="265176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47" name="Text 15">
              <a:extLst>
                <a:ext uri="{FF2B5EF4-FFF2-40B4-BE49-F238E27FC236}">
                  <a16:creationId xmlns:a16="http://schemas.microsoft.com/office/drawing/2014/main" id="{846403EA-76F6-AB2A-3A94-BADF2BEEDE07}"/>
                </a:ext>
              </a:extLst>
            </p:cNvPr>
            <p:cNvSpPr/>
            <p:nvPr/>
          </p:nvSpPr>
          <p:spPr>
            <a:xfrm>
              <a:off x="256032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Roles &amp; Permissions</a:t>
              </a:r>
              <a:endParaRPr lang="en-US" sz="1200" dirty="0"/>
            </a:p>
          </p:txBody>
        </p:sp>
        <p:sp>
          <p:nvSpPr>
            <p:cNvPr id="48" name="Text 16">
              <a:extLst>
                <a:ext uri="{FF2B5EF4-FFF2-40B4-BE49-F238E27FC236}">
                  <a16:creationId xmlns:a16="http://schemas.microsoft.com/office/drawing/2014/main" id="{5D87E540-1D84-3B25-21E0-3362B6AD367E}"/>
                </a:ext>
              </a:extLst>
            </p:cNvPr>
            <p:cNvSpPr/>
            <p:nvPr/>
          </p:nvSpPr>
          <p:spPr>
            <a:xfrm>
              <a:off x="260604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49" name="Text 17">
              <a:extLst>
                <a:ext uri="{FF2B5EF4-FFF2-40B4-BE49-F238E27FC236}">
                  <a16:creationId xmlns:a16="http://schemas.microsoft.com/office/drawing/2014/main" id="{5F18ED6A-9981-8EB5-A7D3-CCBD104C477D}"/>
                </a:ext>
              </a:extLst>
            </p:cNvPr>
            <p:cNvSpPr/>
            <p:nvPr/>
          </p:nvSpPr>
          <p:spPr>
            <a:xfrm>
              <a:off x="283464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global admin</a:t>
              </a:r>
              <a:endParaRPr lang="en-US" sz="900" dirty="0"/>
            </a:p>
          </p:txBody>
        </p:sp>
        <p:sp>
          <p:nvSpPr>
            <p:cNvPr id="50" name="Text 18">
              <a:extLst>
                <a:ext uri="{FF2B5EF4-FFF2-40B4-BE49-F238E27FC236}">
                  <a16:creationId xmlns:a16="http://schemas.microsoft.com/office/drawing/2014/main" id="{2C73839D-8814-433F-C493-D0ED1A8D9CAC}"/>
                </a:ext>
              </a:extLst>
            </p:cNvPr>
            <p:cNvSpPr/>
            <p:nvPr/>
          </p:nvSpPr>
          <p:spPr>
            <a:xfrm>
              <a:off x="260604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1" name="Text 19">
              <a:extLst>
                <a:ext uri="{FF2B5EF4-FFF2-40B4-BE49-F238E27FC236}">
                  <a16:creationId xmlns:a16="http://schemas.microsoft.com/office/drawing/2014/main" id="{D014B763-C5D4-BD92-A017-086998308855}"/>
                </a:ext>
              </a:extLst>
            </p:cNvPr>
            <p:cNvSpPr/>
            <p:nvPr/>
          </p:nvSpPr>
          <p:spPr>
            <a:xfrm>
              <a:off x="283464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 standard user</a:t>
              </a:r>
              <a:endParaRPr lang="en-US" sz="900" dirty="0"/>
            </a:p>
          </p:txBody>
        </p:sp>
        <p:grpSp>
          <p:nvGrpSpPr>
            <p:cNvPr id="52" name="Group 51">
              <a:extLst>
                <a:ext uri="{FF2B5EF4-FFF2-40B4-BE49-F238E27FC236}">
                  <a16:creationId xmlns:a16="http://schemas.microsoft.com/office/drawing/2014/main" id="{B79A1736-42B5-9D7A-53C4-F0B488735E5F}"/>
                </a:ext>
              </a:extLst>
            </p:cNvPr>
            <p:cNvGrpSpPr/>
            <p:nvPr/>
          </p:nvGrpSpPr>
          <p:grpSpPr>
            <a:xfrm>
              <a:off x="4617720" y="1511818"/>
              <a:ext cx="2103120" cy="1097280"/>
              <a:chOff x="4846320" y="1371600"/>
              <a:chExt cx="2103120" cy="1097280"/>
            </a:xfrm>
          </p:grpSpPr>
          <p:sp>
            <p:nvSpPr>
              <p:cNvPr id="53" name="Shape 20">
                <a:extLst>
                  <a:ext uri="{FF2B5EF4-FFF2-40B4-BE49-F238E27FC236}">
                    <a16:creationId xmlns:a16="http://schemas.microsoft.com/office/drawing/2014/main" id="{D0867248-1EFD-917A-10F9-2D42D48FE387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4" name="Shape 21">
                <a:extLst>
                  <a:ext uri="{FF2B5EF4-FFF2-40B4-BE49-F238E27FC236}">
                    <a16:creationId xmlns:a16="http://schemas.microsoft.com/office/drawing/2014/main" id="{A3EF9385-7B4F-7E78-822F-8AA44B565B9F}"/>
                  </a:ext>
                </a:extLst>
              </p:cNvPr>
              <p:cNvSpPr/>
              <p:nvPr/>
            </p:nvSpPr>
            <p:spPr>
              <a:xfrm>
                <a:off x="484632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5" name="Text 22">
              <a:extLst>
                <a:ext uri="{FF2B5EF4-FFF2-40B4-BE49-F238E27FC236}">
                  <a16:creationId xmlns:a16="http://schemas.microsoft.com/office/drawing/2014/main" id="{A4148CA3-31A9-9637-67FE-0A930E1ECA59}"/>
                </a:ext>
              </a:extLst>
            </p:cNvPr>
            <p:cNvSpPr/>
            <p:nvPr/>
          </p:nvSpPr>
          <p:spPr>
            <a:xfrm>
              <a:off x="475488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Quote Templates</a:t>
              </a:r>
              <a:endParaRPr lang="en-US" sz="1200" dirty="0"/>
            </a:p>
          </p:txBody>
        </p:sp>
        <p:sp>
          <p:nvSpPr>
            <p:cNvPr id="56" name="Text 23">
              <a:extLst>
                <a:ext uri="{FF2B5EF4-FFF2-40B4-BE49-F238E27FC236}">
                  <a16:creationId xmlns:a16="http://schemas.microsoft.com/office/drawing/2014/main" id="{D923E180-94CB-5C58-007B-70FD7230CCB3}"/>
                </a:ext>
              </a:extLst>
            </p:cNvPr>
            <p:cNvSpPr/>
            <p:nvPr/>
          </p:nvSpPr>
          <p:spPr>
            <a:xfrm>
              <a:off x="480060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7" name="Text 24">
              <a:extLst>
                <a:ext uri="{FF2B5EF4-FFF2-40B4-BE49-F238E27FC236}">
                  <a16:creationId xmlns:a16="http://schemas.microsoft.com/office/drawing/2014/main" id="{5068B386-E4EF-DB7E-E11A-796FF28C719D}"/>
                </a:ext>
              </a:extLst>
            </p:cNvPr>
            <p:cNvSpPr/>
            <p:nvPr/>
          </p:nvSpPr>
          <p:spPr>
            <a:xfrm>
              <a:off x="502920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 preconfigured</a:t>
              </a:r>
              <a:endParaRPr lang="en-US" sz="900" dirty="0"/>
            </a:p>
          </p:txBody>
        </p:sp>
        <p:sp>
          <p:nvSpPr>
            <p:cNvPr id="58" name="Text 25">
              <a:extLst>
                <a:ext uri="{FF2B5EF4-FFF2-40B4-BE49-F238E27FC236}">
                  <a16:creationId xmlns:a16="http://schemas.microsoft.com/office/drawing/2014/main" id="{FA706BD3-41F7-5F65-F8DE-C2B327192F88}"/>
                </a:ext>
              </a:extLst>
            </p:cNvPr>
            <p:cNvSpPr/>
            <p:nvPr/>
          </p:nvSpPr>
          <p:spPr>
            <a:xfrm>
              <a:off x="480060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59" name="Text 26">
              <a:extLst>
                <a:ext uri="{FF2B5EF4-FFF2-40B4-BE49-F238E27FC236}">
                  <a16:creationId xmlns:a16="http://schemas.microsoft.com/office/drawing/2014/main" id="{A3CFC00C-3085-5A57-8C33-F530D30B0CD5}"/>
                </a:ext>
              </a:extLst>
            </p:cNvPr>
            <p:cNvSpPr/>
            <p:nvPr/>
          </p:nvSpPr>
          <p:spPr>
            <a:xfrm>
              <a:off x="502920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(logo change needed)</a:t>
              </a:r>
              <a:endParaRPr lang="en-US" sz="900" dirty="0"/>
            </a:p>
          </p:txBody>
        </p:sp>
        <p:grpSp>
          <p:nvGrpSpPr>
            <p:cNvPr id="60" name="Group 59">
              <a:extLst>
                <a:ext uri="{FF2B5EF4-FFF2-40B4-BE49-F238E27FC236}">
                  <a16:creationId xmlns:a16="http://schemas.microsoft.com/office/drawing/2014/main" id="{22D691C2-A363-8C9B-403E-05C2CF524981}"/>
                </a:ext>
              </a:extLst>
            </p:cNvPr>
            <p:cNvGrpSpPr/>
            <p:nvPr/>
          </p:nvGrpSpPr>
          <p:grpSpPr>
            <a:xfrm>
              <a:off x="6812280" y="1511818"/>
              <a:ext cx="2103120" cy="1097280"/>
              <a:chOff x="7040880" y="1371600"/>
              <a:chExt cx="2103120" cy="1097280"/>
            </a:xfrm>
          </p:grpSpPr>
          <p:sp>
            <p:nvSpPr>
              <p:cNvPr id="61" name="Shape 27">
                <a:extLst>
                  <a:ext uri="{FF2B5EF4-FFF2-40B4-BE49-F238E27FC236}">
                    <a16:creationId xmlns:a16="http://schemas.microsoft.com/office/drawing/2014/main" id="{6F583E62-B7A8-F852-4A5A-013A6D0F97CD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62" name="Shape 28">
                <a:extLst>
                  <a:ext uri="{FF2B5EF4-FFF2-40B4-BE49-F238E27FC236}">
                    <a16:creationId xmlns:a16="http://schemas.microsoft.com/office/drawing/2014/main" id="{F68B8B6E-DCD6-1CFF-57EB-6A9CB4B061E2}"/>
                  </a:ext>
                </a:extLst>
              </p:cNvPr>
              <p:cNvSpPr/>
              <p:nvPr/>
            </p:nvSpPr>
            <p:spPr>
              <a:xfrm>
                <a:off x="7040880" y="137160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2A2678C2-D1FB-806A-0275-B907B173F70F}"/>
                </a:ext>
              </a:extLst>
            </p:cNvPr>
            <p:cNvSpPr/>
            <p:nvPr/>
          </p:nvSpPr>
          <p:spPr>
            <a:xfrm>
              <a:off x="6949440" y="164897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Billing Rules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6C9E1F2D-E85B-0D98-F75C-D1117D75746B}"/>
                </a:ext>
              </a:extLst>
            </p:cNvPr>
            <p:cNvSpPr/>
            <p:nvPr/>
          </p:nvSpPr>
          <p:spPr>
            <a:xfrm>
              <a:off x="6995160" y="201473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B7652AA5-E2B4-4A79-80BE-16F48264CF5B}"/>
                </a:ext>
              </a:extLst>
            </p:cNvPr>
            <p:cNvSpPr/>
            <p:nvPr/>
          </p:nvSpPr>
          <p:spPr>
            <a:xfrm>
              <a:off x="7223760" y="201473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 billing profiles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A0BED652-8197-9B84-386C-3F629E840ED7}"/>
                </a:ext>
              </a:extLst>
            </p:cNvPr>
            <p:cNvSpPr/>
            <p:nvPr/>
          </p:nvSpPr>
          <p:spPr>
            <a:xfrm>
              <a:off x="6995160" y="217933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2EBAA62A-47EA-4A17-C953-12A3797E586A}"/>
                </a:ext>
              </a:extLst>
            </p:cNvPr>
            <p:cNvSpPr/>
            <p:nvPr/>
          </p:nvSpPr>
          <p:spPr>
            <a:xfrm>
              <a:off x="7223760" y="217933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$35 return fee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57775389-A586-27CD-2DAA-C3051E96E095}"/>
                </a:ext>
              </a:extLst>
            </p:cNvPr>
            <p:cNvSpPr/>
            <p:nvPr/>
          </p:nvSpPr>
          <p:spPr>
            <a:xfrm>
              <a:off x="6995160" y="234392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6E61B0EF-84B1-EE6A-C91C-EAB359D88404}"/>
                </a:ext>
              </a:extLst>
            </p:cNvPr>
            <p:cNvSpPr/>
            <p:nvPr/>
          </p:nvSpPr>
          <p:spPr>
            <a:xfrm>
              <a:off x="7223760" y="234392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Net 15 / 3% late fee</a:t>
              </a:r>
              <a:endParaRPr lang="en-US" sz="900" dirty="0"/>
            </a:p>
          </p:txBody>
        </p:sp>
        <p:grpSp>
          <p:nvGrpSpPr>
            <p:cNvPr id="70" name="Group 69">
              <a:extLst>
                <a:ext uri="{FF2B5EF4-FFF2-40B4-BE49-F238E27FC236}">
                  <a16:creationId xmlns:a16="http://schemas.microsoft.com/office/drawing/2014/main" id="{CFB811D7-84C2-8244-B1D1-0B41F3623E11}"/>
                </a:ext>
              </a:extLst>
            </p:cNvPr>
            <p:cNvGrpSpPr/>
            <p:nvPr/>
          </p:nvGrpSpPr>
          <p:grpSpPr>
            <a:xfrm>
              <a:off x="228600" y="2746258"/>
              <a:ext cx="2103120" cy="1097280"/>
              <a:chOff x="457200" y="2606040"/>
              <a:chExt cx="2103120" cy="1097280"/>
            </a:xfrm>
          </p:grpSpPr>
          <p:sp>
            <p:nvSpPr>
              <p:cNvPr id="71" name="Shape 36">
                <a:extLst>
                  <a:ext uri="{FF2B5EF4-FFF2-40B4-BE49-F238E27FC236}">
                    <a16:creationId xmlns:a16="http://schemas.microsoft.com/office/drawing/2014/main" id="{868FBA4C-8B59-55AB-4E72-FB522DC3DAAB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2" name="Shape 37">
                <a:extLst>
                  <a:ext uri="{FF2B5EF4-FFF2-40B4-BE49-F238E27FC236}">
                    <a16:creationId xmlns:a16="http://schemas.microsoft.com/office/drawing/2014/main" id="{BCB725CE-96DD-CB6B-F592-EA7F5ED20A35}"/>
                  </a:ext>
                </a:extLst>
              </p:cNvPr>
              <p:cNvSpPr/>
              <p:nvPr/>
            </p:nvSpPr>
            <p:spPr>
              <a:xfrm>
                <a:off x="45720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73" name="Text 38">
              <a:extLst>
                <a:ext uri="{FF2B5EF4-FFF2-40B4-BE49-F238E27FC236}">
                  <a16:creationId xmlns:a16="http://schemas.microsoft.com/office/drawing/2014/main" id="{9BA4A8B6-1F16-88EE-D291-A1EC75AC578D}"/>
                </a:ext>
              </a:extLst>
            </p:cNvPr>
            <p:cNvSpPr/>
            <p:nvPr/>
          </p:nvSpPr>
          <p:spPr>
            <a:xfrm>
              <a:off x="36576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Provider Types</a:t>
              </a:r>
              <a:endParaRPr lang="en-US" sz="1200" dirty="0"/>
            </a:p>
          </p:txBody>
        </p:sp>
        <p:sp>
          <p:nvSpPr>
            <p:cNvPr id="74" name="Text 39">
              <a:extLst>
                <a:ext uri="{FF2B5EF4-FFF2-40B4-BE49-F238E27FC236}">
                  <a16:creationId xmlns:a16="http://schemas.microsoft.com/office/drawing/2014/main" id="{7D8D37D5-A75D-9744-5CB7-CF845709E3AB}"/>
                </a:ext>
              </a:extLst>
            </p:cNvPr>
            <p:cNvSpPr/>
            <p:nvPr/>
          </p:nvSpPr>
          <p:spPr>
            <a:xfrm>
              <a:off x="41148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5" name="Text 40">
              <a:extLst>
                <a:ext uri="{FF2B5EF4-FFF2-40B4-BE49-F238E27FC236}">
                  <a16:creationId xmlns:a16="http://schemas.microsoft.com/office/drawing/2014/main" id="{8FDCB5CC-1216-0AC1-4FC0-438F20201EDF}"/>
                </a:ext>
              </a:extLst>
            </p:cNvPr>
            <p:cNvSpPr/>
            <p:nvPr/>
          </p:nvSpPr>
          <p:spPr>
            <a:xfrm>
              <a:off x="64008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Vendor setup</a:t>
              </a:r>
              <a:endParaRPr lang="en-US" sz="900" dirty="0"/>
            </a:p>
          </p:txBody>
        </p:sp>
        <p:sp>
          <p:nvSpPr>
            <p:cNvPr id="76" name="Text 41">
              <a:extLst>
                <a:ext uri="{FF2B5EF4-FFF2-40B4-BE49-F238E27FC236}">
                  <a16:creationId xmlns:a16="http://schemas.microsoft.com/office/drawing/2014/main" id="{6DD56D8D-FA15-1372-15EE-672D11979749}"/>
                </a:ext>
              </a:extLst>
            </p:cNvPr>
            <p:cNvSpPr/>
            <p:nvPr/>
          </p:nvSpPr>
          <p:spPr>
            <a:xfrm>
              <a:off x="41148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77" name="Text 42">
              <a:extLst>
                <a:ext uri="{FF2B5EF4-FFF2-40B4-BE49-F238E27FC236}">
                  <a16:creationId xmlns:a16="http://schemas.microsoft.com/office/drawing/2014/main" id="{33C5E807-A052-7CFC-B648-6018FE566E1F}"/>
                </a:ext>
              </a:extLst>
            </p:cNvPr>
            <p:cNvSpPr/>
            <p:nvPr/>
          </p:nvSpPr>
          <p:spPr>
            <a:xfrm>
              <a:off x="64008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Ready to use</a:t>
              </a:r>
              <a:endParaRPr lang="en-US" sz="900" dirty="0"/>
            </a:p>
          </p:txBody>
        </p:sp>
        <p:grpSp>
          <p:nvGrpSpPr>
            <p:cNvPr id="78" name="Group 77">
              <a:extLst>
                <a:ext uri="{FF2B5EF4-FFF2-40B4-BE49-F238E27FC236}">
                  <a16:creationId xmlns:a16="http://schemas.microsoft.com/office/drawing/2014/main" id="{DA1202F6-293D-E16F-CC9F-55704EA374FC}"/>
                </a:ext>
              </a:extLst>
            </p:cNvPr>
            <p:cNvGrpSpPr/>
            <p:nvPr/>
          </p:nvGrpSpPr>
          <p:grpSpPr>
            <a:xfrm>
              <a:off x="2423160" y="2746258"/>
              <a:ext cx="2103120" cy="1097280"/>
              <a:chOff x="2651760" y="2606040"/>
              <a:chExt cx="2103120" cy="1097280"/>
            </a:xfrm>
          </p:grpSpPr>
          <p:sp>
            <p:nvSpPr>
              <p:cNvPr id="79" name="Shape 43">
                <a:extLst>
                  <a:ext uri="{FF2B5EF4-FFF2-40B4-BE49-F238E27FC236}">
                    <a16:creationId xmlns:a16="http://schemas.microsoft.com/office/drawing/2014/main" id="{ED5FCF9B-159B-C5AE-A597-8C17C07D5926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" name="Shape 44">
                <a:extLst>
                  <a:ext uri="{FF2B5EF4-FFF2-40B4-BE49-F238E27FC236}">
                    <a16:creationId xmlns:a16="http://schemas.microsoft.com/office/drawing/2014/main" id="{14890DCD-4D51-CA81-4B72-4BB9F5E6BD0F}"/>
                  </a:ext>
                </a:extLst>
              </p:cNvPr>
              <p:cNvSpPr/>
              <p:nvPr/>
            </p:nvSpPr>
            <p:spPr>
              <a:xfrm>
                <a:off x="265176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1" name="Text 45">
              <a:extLst>
                <a:ext uri="{FF2B5EF4-FFF2-40B4-BE49-F238E27FC236}">
                  <a16:creationId xmlns:a16="http://schemas.microsoft.com/office/drawing/2014/main" id="{D9955BDD-AD22-EFCD-1642-4BAF4349F2F9}"/>
                </a:ext>
              </a:extLst>
            </p:cNvPr>
            <p:cNvSpPr/>
            <p:nvPr/>
          </p:nvSpPr>
          <p:spPr>
            <a:xfrm>
              <a:off x="256032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Ticket Settings</a:t>
              </a:r>
              <a:endParaRPr lang="en-US" sz="1200" dirty="0"/>
            </a:p>
          </p:txBody>
        </p:sp>
        <p:sp>
          <p:nvSpPr>
            <p:cNvPr id="82" name="Text 46">
              <a:extLst>
                <a:ext uri="{FF2B5EF4-FFF2-40B4-BE49-F238E27FC236}">
                  <a16:creationId xmlns:a16="http://schemas.microsoft.com/office/drawing/2014/main" id="{9C10395D-CEE6-AB03-8FD7-B0B14CF46D1C}"/>
                </a:ext>
              </a:extLst>
            </p:cNvPr>
            <p:cNvSpPr/>
            <p:nvPr/>
          </p:nvSpPr>
          <p:spPr>
            <a:xfrm>
              <a:off x="260604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3" name="Text 47">
              <a:extLst>
                <a:ext uri="{FF2B5EF4-FFF2-40B4-BE49-F238E27FC236}">
                  <a16:creationId xmlns:a16="http://schemas.microsoft.com/office/drawing/2014/main" id="{BEC9ED02-257F-E2D1-A342-E6F3728F9A6E}"/>
                </a:ext>
              </a:extLst>
            </p:cNvPr>
            <p:cNvSpPr/>
            <p:nvPr/>
          </p:nvSpPr>
          <p:spPr>
            <a:xfrm>
              <a:off x="283464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Status, Priority</a:t>
              </a:r>
              <a:endParaRPr lang="en-US" sz="900" dirty="0"/>
            </a:p>
          </p:txBody>
        </p:sp>
        <p:sp>
          <p:nvSpPr>
            <p:cNvPr id="84" name="Text 48">
              <a:extLst>
                <a:ext uri="{FF2B5EF4-FFF2-40B4-BE49-F238E27FC236}">
                  <a16:creationId xmlns:a16="http://schemas.microsoft.com/office/drawing/2014/main" id="{43D37D7D-3918-769B-0711-5181AB75410B}"/>
                </a:ext>
              </a:extLst>
            </p:cNvPr>
            <p:cNvSpPr/>
            <p:nvPr/>
          </p:nvSpPr>
          <p:spPr>
            <a:xfrm>
              <a:off x="260604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85" name="Text 49">
              <a:extLst>
                <a:ext uri="{FF2B5EF4-FFF2-40B4-BE49-F238E27FC236}">
                  <a16:creationId xmlns:a16="http://schemas.microsoft.com/office/drawing/2014/main" id="{CC0213AB-0633-AB9A-C74F-9C3428CA5AD4}"/>
                </a:ext>
              </a:extLst>
            </p:cNvPr>
            <p:cNvSpPr/>
            <p:nvPr/>
          </p:nvSpPr>
          <p:spPr>
            <a:xfrm>
              <a:off x="283464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Type, Severity</a:t>
              </a:r>
              <a:endParaRPr lang="en-US" sz="900" dirty="0"/>
            </a:p>
          </p:txBody>
        </p: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75F5CF38-36FA-2E6E-4EB0-E3BB143D9F74}"/>
                </a:ext>
              </a:extLst>
            </p:cNvPr>
            <p:cNvGrpSpPr/>
            <p:nvPr/>
          </p:nvGrpSpPr>
          <p:grpSpPr>
            <a:xfrm>
              <a:off x="4617720" y="2746258"/>
              <a:ext cx="2103120" cy="1097280"/>
              <a:chOff x="4846320" y="2606040"/>
              <a:chExt cx="2103120" cy="1097280"/>
            </a:xfrm>
          </p:grpSpPr>
          <p:sp>
            <p:nvSpPr>
              <p:cNvPr id="87" name="Shape 50">
                <a:extLst>
                  <a:ext uri="{FF2B5EF4-FFF2-40B4-BE49-F238E27FC236}">
                    <a16:creationId xmlns:a16="http://schemas.microsoft.com/office/drawing/2014/main" id="{516F5F5C-E4F6-51A4-9FDA-60817DC27235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8" name="Shape 51">
                <a:extLst>
                  <a:ext uri="{FF2B5EF4-FFF2-40B4-BE49-F238E27FC236}">
                    <a16:creationId xmlns:a16="http://schemas.microsoft.com/office/drawing/2014/main" id="{DB61A3AF-8305-F330-2821-CD374C32B729}"/>
                  </a:ext>
                </a:extLst>
              </p:cNvPr>
              <p:cNvSpPr/>
              <p:nvPr/>
            </p:nvSpPr>
            <p:spPr>
              <a:xfrm>
                <a:off x="484632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9" name="Text 52">
              <a:extLst>
                <a:ext uri="{FF2B5EF4-FFF2-40B4-BE49-F238E27FC236}">
                  <a16:creationId xmlns:a16="http://schemas.microsoft.com/office/drawing/2014/main" id="{34EBCD96-0F7B-4A69-938F-F5936D8B5864}"/>
                </a:ext>
              </a:extLst>
            </p:cNvPr>
            <p:cNvSpPr/>
            <p:nvPr/>
          </p:nvSpPr>
          <p:spPr>
            <a:xfrm>
              <a:off x="475488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Types</a:t>
              </a:r>
              <a:endParaRPr lang="en-US" sz="1200" dirty="0"/>
            </a:p>
          </p:txBody>
        </p:sp>
        <p:sp>
          <p:nvSpPr>
            <p:cNvPr id="90" name="Text 53">
              <a:extLst>
                <a:ext uri="{FF2B5EF4-FFF2-40B4-BE49-F238E27FC236}">
                  <a16:creationId xmlns:a16="http://schemas.microsoft.com/office/drawing/2014/main" id="{1E8856EA-6723-3D64-4052-2AADE861DB0E}"/>
                </a:ext>
              </a:extLst>
            </p:cNvPr>
            <p:cNvSpPr/>
            <p:nvPr/>
          </p:nvSpPr>
          <p:spPr>
            <a:xfrm>
              <a:off x="480060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1" name="Text 54">
              <a:extLst>
                <a:ext uri="{FF2B5EF4-FFF2-40B4-BE49-F238E27FC236}">
                  <a16:creationId xmlns:a16="http://schemas.microsoft.com/office/drawing/2014/main" id="{B4B2C7D9-8FB6-5D1C-B2D4-6BFF7A3DB9D5}"/>
                </a:ext>
              </a:extLst>
            </p:cNvPr>
            <p:cNvSpPr/>
            <p:nvPr/>
          </p:nvSpPr>
          <p:spPr>
            <a:xfrm>
              <a:off x="502920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Serialized items</a:t>
              </a:r>
              <a:endParaRPr lang="en-US" sz="900" dirty="0"/>
            </a:p>
          </p:txBody>
        </p:sp>
        <p:sp>
          <p:nvSpPr>
            <p:cNvPr id="92" name="Text 55">
              <a:extLst>
                <a:ext uri="{FF2B5EF4-FFF2-40B4-BE49-F238E27FC236}">
                  <a16:creationId xmlns:a16="http://schemas.microsoft.com/office/drawing/2014/main" id="{045CD279-5CA3-3D82-6B7C-FECB350B5784}"/>
                </a:ext>
              </a:extLst>
            </p:cNvPr>
            <p:cNvSpPr/>
            <p:nvPr/>
          </p:nvSpPr>
          <p:spPr>
            <a:xfrm>
              <a:off x="480060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3" name="Text 56">
              <a:extLst>
                <a:ext uri="{FF2B5EF4-FFF2-40B4-BE49-F238E27FC236}">
                  <a16:creationId xmlns:a16="http://schemas.microsoft.com/office/drawing/2014/main" id="{BC567778-F21A-FD32-21B2-FBAEF22F8B6C}"/>
                </a:ext>
              </a:extLst>
            </p:cNvPr>
            <p:cNvSpPr/>
            <p:nvPr/>
          </p:nvSpPr>
          <p:spPr>
            <a:xfrm>
              <a:off x="502920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Non-serialized</a:t>
              </a:r>
              <a:endParaRPr lang="en-US" sz="900" dirty="0"/>
            </a:p>
          </p:txBody>
        </p:sp>
        <p:sp>
          <p:nvSpPr>
            <p:cNvPr id="94" name="Text 57">
              <a:extLst>
                <a:ext uri="{FF2B5EF4-FFF2-40B4-BE49-F238E27FC236}">
                  <a16:creationId xmlns:a16="http://schemas.microsoft.com/office/drawing/2014/main" id="{14F9CD98-0F87-6EA1-4387-6C28F0311C03}"/>
                </a:ext>
              </a:extLst>
            </p:cNvPr>
            <p:cNvSpPr/>
            <p:nvPr/>
          </p:nvSpPr>
          <p:spPr>
            <a:xfrm>
              <a:off x="4800600" y="3578362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95" name="Text 58">
              <a:extLst>
                <a:ext uri="{FF2B5EF4-FFF2-40B4-BE49-F238E27FC236}">
                  <a16:creationId xmlns:a16="http://schemas.microsoft.com/office/drawing/2014/main" id="{FAFB79CD-9C8F-7C14-EF79-9DDDF63CF905}"/>
                </a:ext>
              </a:extLst>
            </p:cNvPr>
            <p:cNvSpPr/>
            <p:nvPr/>
          </p:nvSpPr>
          <p:spPr>
            <a:xfrm>
              <a:off x="5029200" y="3578362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Labor, Service</a:t>
              </a:r>
              <a:endParaRPr lang="en-US" sz="900" dirty="0"/>
            </a:p>
          </p:txBody>
        </p:sp>
        <p:grpSp>
          <p:nvGrpSpPr>
            <p:cNvPr id="96" name="Group 95">
              <a:extLst>
                <a:ext uri="{FF2B5EF4-FFF2-40B4-BE49-F238E27FC236}">
                  <a16:creationId xmlns:a16="http://schemas.microsoft.com/office/drawing/2014/main" id="{023063D7-1F2D-81F8-15B5-4DE18B508B7F}"/>
                </a:ext>
              </a:extLst>
            </p:cNvPr>
            <p:cNvGrpSpPr/>
            <p:nvPr/>
          </p:nvGrpSpPr>
          <p:grpSpPr>
            <a:xfrm>
              <a:off x="6812280" y="2746258"/>
              <a:ext cx="2103120" cy="1097280"/>
              <a:chOff x="7040880" y="2606040"/>
              <a:chExt cx="2103120" cy="1097280"/>
            </a:xfrm>
          </p:grpSpPr>
          <p:sp>
            <p:nvSpPr>
              <p:cNvPr id="97" name="Shape 59">
                <a:extLst>
                  <a:ext uri="{FF2B5EF4-FFF2-40B4-BE49-F238E27FC236}">
                    <a16:creationId xmlns:a16="http://schemas.microsoft.com/office/drawing/2014/main" id="{5D31E4E8-074E-9647-24D3-CD1B9B0EF265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109728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E6E7E8"/>
                </a:solidFill>
                <a:prstDash val="solid"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98" name="Shape 60">
                <a:extLst>
                  <a:ext uri="{FF2B5EF4-FFF2-40B4-BE49-F238E27FC236}">
                    <a16:creationId xmlns:a16="http://schemas.microsoft.com/office/drawing/2014/main" id="{CFAAC86E-20B8-6E0C-2F87-7FEFFBA46ECF}"/>
                  </a:ext>
                </a:extLst>
              </p:cNvPr>
              <p:cNvSpPr/>
              <p:nvPr/>
            </p:nvSpPr>
            <p:spPr>
              <a:xfrm>
                <a:off x="7040880" y="2606040"/>
                <a:ext cx="2103120" cy="45720"/>
              </a:xfrm>
              <a:prstGeom prst="rect">
                <a:avLst/>
              </a:prstGeom>
              <a:solidFill>
                <a:srgbClr val="2399B5"/>
              </a:solidFill>
              <a:ln/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99" name="Text 61">
              <a:extLst>
                <a:ext uri="{FF2B5EF4-FFF2-40B4-BE49-F238E27FC236}">
                  <a16:creationId xmlns:a16="http://schemas.microsoft.com/office/drawing/2014/main" id="{D8BD4ABB-9108-DACE-846F-B401BBA29C6A}"/>
                </a:ext>
              </a:extLst>
            </p:cNvPr>
            <p:cNvSpPr/>
            <p:nvPr/>
          </p:nvSpPr>
          <p:spPr>
            <a:xfrm>
              <a:off x="6949440" y="2883418"/>
              <a:ext cx="1828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 Methods</a:t>
              </a:r>
              <a:endParaRPr lang="en-US" sz="1200" dirty="0"/>
            </a:p>
          </p:txBody>
        </p:sp>
        <p:sp>
          <p:nvSpPr>
            <p:cNvPr id="100" name="Text 62">
              <a:extLst>
                <a:ext uri="{FF2B5EF4-FFF2-40B4-BE49-F238E27FC236}">
                  <a16:creationId xmlns:a16="http://schemas.microsoft.com/office/drawing/2014/main" id="{6F015967-6891-0CEF-B1F7-76324874FF7F}"/>
                </a:ext>
              </a:extLst>
            </p:cNvPr>
            <p:cNvSpPr/>
            <p:nvPr/>
          </p:nvSpPr>
          <p:spPr>
            <a:xfrm>
              <a:off x="6995160" y="3249178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1" name="Text 63">
              <a:extLst>
                <a:ext uri="{FF2B5EF4-FFF2-40B4-BE49-F238E27FC236}">
                  <a16:creationId xmlns:a16="http://schemas.microsoft.com/office/drawing/2014/main" id="{787308F7-7278-A846-6C39-3A2A84517936}"/>
                </a:ext>
              </a:extLst>
            </p:cNvPr>
            <p:cNvSpPr/>
            <p:nvPr/>
          </p:nvSpPr>
          <p:spPr>
            <a:xfrm>
              <a:off x="7223760" y="3249178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Check, CC, ACH</a:t>
              </a:r>
              <a:endParaRPr lang="en-US" sz="900" dirty="0"/>
            </a:p>
          </p:txBody>
        </p:sp>
        <p:sp>
          <p:nvSpPr>
            <p:cNvPr id="102" name="Text 64">
              <a:extLst>
                <a:ext uri="{FF2B5EF4-FFF2-40B4-BE49-F238E27FC236}">
                  <a16:creationId xmlns:a16="http://schemas.microsoft.com/office/drawing/2014/main" id="{4B0FFAE4-D2F2-0FE4-2EA3-28DDBF4145E4}"/>
                </a:ext>
              </a:extLst>
            </p:cNvPr>
            <p:cNvSpPr/>
            <p:nvPr/>
          </p:nvSpPr>
          <p:spPr>
            <a:xfrm>
              <a:off x="6995160" y="341377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b="1" dirty="0">
                  <a:solidFill>
                    <a:srgbClr val="6EBE4F"/>
                  </a:solidFill>
                </a:rPr>
                <a:t>✓</a:t>
              </a:r>
              <a:endParaRPr lang="en-US" sz="900" dirty="0"/>
            </a:p>
          </p:txBody>
        </p:sp>
        <p:sp>
          <p:nvSpPr>
            <p:cNvPr id="103" name="Text 65">
              <a:extLst>
                <a:ext uri="{FF2B5EF4-FFF2-40B4-BE49-F238E27FC236}">
                  <a16:creationId xmlns:a16="http://schemas.microsoft.com/office/drawing/2014/main" id="{8AA3AD9C-5F01-60EB-57BB-2C12E5ADB60D}"/>
                </a:ext>
              </a:extLst>
            </p:cNvPr>
            <p:cNvSpPr/>
            <p:nvPr/>
          </p:nvSpPr>
          <p:spPr>
            <a:xfrm>
              <a:off x="7223760" y="3413770"/>
              <a:ext cx="15544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eCheck, Cash</a:t>
              </a:r>
              <a:endParaRPr lang="en-US" sz="900" dirty="0"/>
            </a:p>
          </p:txBody>
        </p:sp>
      </p:grpSp>
      <p:sp>
        <p:nvSpPr>
          <p:cNvPr id="104" name="Text 2">
            <a:extLst>
              <a:ext uri="{FF2B5EF4-FFF2-40B4-BE49-F238E27FC236}">
                <a16:creationId xmlns:a16="http://schemas.microsoft.com/office/drawing/2014/main" id="{974D8A85-FB9E-B17A-6CDF-4CE0181ABCA0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PRECONFIGURED SETUP</a:t>
            </a:r>
            <a:endParaRPr lang="en-US" sz="1400" dirty="0"/>
          </a:p>
        </p:txBody>
      </p:sp>
      <p:sp>
        <p:nvSpPr>
          <p:cNvPr id="105" name="Text 3">
            <a:extLst>
              <a:ext uri="{FF2B5EF4-FFF2-40B4-BE49-F238E27FC236}">
                <a16:creationId xmlns:a16="http://schemas.microsoft.com/office/drawing/2014/main" id="{42A58D09-EE33-5A9A-078F-64523C634DC3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Ready To Go From Day One</a:t>
            </a:r>
            <a:endParaRPr lang="en-US" sz="2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D130CB0-0413-2E16-6DC9-523067FA5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ext 19">
            <a:extLst>
              <a:ext uri="{FF2B5EF4-FFF2-40B4-BE49-F238E27FC236}">
                <a16:creationId xmlns:a16="http://schemas.microsoft.com/office/drawing/2014/main" id="{BC2982B5-2906-FAA6-526A-94BF1A67B8E5}"/>
              </a:ext>
            </a:extLst>
          </p:cNvPr>
          <p:cNvSpPr/>
          <p:nvPr/>
        </p:nvSpPr>
        <p:spPr>
          <a:xfrm>
            <a:off x="6324600" y="1456398"/>
            <a:ext cx="244830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470"/>
              </a:lnSpc>
              <a:buNone/>
            </a:pPr>
            <a:r>
              <a:rPr lang="en-US" sz="1050" b="1" dirty="0">
                <a:solidFill>
                  <a:srgbClr val="1A3656"/>
                </a:solidFill>
                <a:latin typeface="Montserrat" pitchFamily="2" charset="77"/>
                <a:ea typeface="Segoe UI" pitchFamily="34" charset="-122"/>
                <a:cs typeface="Segoe UI" pitchFamily="34" charset="-120"/>
              </a:rPr>
              <a:t>Security Aligns Naturally</a:t>
            </a:r>
            <a:endParaRPr lang="en-US" sz="1050" dirty="0">
              <a:solidFill>
                <a:srgbClr val="1A3656"/>
              </a:solidFill>
              <a:latin typeface="Montserrat" pitchFamily="2" charset="77"/>
            </a:endParaRPr>
          </a:p>
        </p:txBody>
      </p:sp>
      <p:sp>
        <p:nvSpPr>
          <p:cNvPr id="35" name="Freeform 10">
            <a:extLst>
              <a:ext uri="{FF2B5EF4-FFF2-40B4-BE49-F238E27FC236}">
                <a16:creationId xmlns:a16="http://schemas.microsoft.com/office/drawing/2014/main" id="{63CC2649-5DDD-2DE6-AA0E-F5A5C5A5825E}"/>
              </a:ext>
            </a:extLst>
          </p:cNvPr>
          <p:cNvSpPr/>
          <p:nvPr/>
        </p:nvSpPr>
        <p:spPr>
          <a:xfrm>
            <a:off x="7576350" y="4655813"/>
            <a:ext cx="1293330" cy="332292"/>
          </a:xfrm>
          <a:custGeom>
            <a:avLst/>
            <a:gdLst/>
            <a:ahLst/>
            <a:cxnLst/>
            <a:rect l="l" t="t" r="r" b="b"/>
            <a:pathLst>
              <a:path w="2586660" h="664583">
                <a:moveTo>
                  <a:pt x="0" y="0"/>
                </a:moveTo>
                <a:lnTo>
                  <a:pt x="2586660" y="0"/>
                </a:lnTo>
                <a:lnTo>
                  <a:pt x="2586660" y="664582"/>
                </a:lnTo>
                <a:lnTo>
                  <a:pt x="0" y="66458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659A5EE7-718F-DE18-4C17-4EB3E51D896F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A3656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89" name="Group 188">
            <a:extLst>
              <a:ext uri="{FF2B5EF4-FFF2-40B4-BE49-F238E27FC236}">
                <a16:creationId xmlns:a16="http://schemas.microsoft.com/office/drawing/2014/main" id="{FFB590CD-D27D-5381-AB42-220BE24F42F4}"/>
              </a:ext>
            </a:extLst>
          </p:cNvPr>
          <p:cNvGrpSpPr/>
          <p:nvPr/>
        </p:nvGrpSpPr>
        <p:grpSpPr>
          <a:xfrm>
            <a:off x="320043" y="1037942"/>
            <a:ext cx="8503913" cy="3594644"/>
            <a:chOff x="365767" y="1026372"/>
            <a:chExt cx="8503913" cy="3594644"/>
          </a:xfrm>
        </p:grpSpPr>
        <p:grpSp>
          <p:nvGrpSpPr>
            <p:cNvPr id="106" name="Group 105">
              <a:extLst>
                <a:ext uri="{FF2B5EF4-FFF2-40B4-BE49-F238E27FC236}">
                  <a16:creationId xmlns:a16="http://schemas.microsoft.com/office/drawing/2014/main" id="{E89A33A4-065F-3D09-FDE5-8CE17B70F65A}"/>
                </a:ext>
              </a:extLst>
            </p:cNvPr>
            <p:cNvGrpSpPr/>
            <p:nvPr/>
          </p:nvGrpSpPr>
          <p:grpSpPr>
            <a:xfrm>
              <a:off x="376421" y="1091578"/>
              <a:ext cx="8493259" cy="3529438"/>
              <a:chOff x="371094" y="1318253"/>
              <a:chExt cx="8503920" cy="3429000"/>
            </a:xfrm>
          </p:grpSpPr>
          <p:grpSp>
            <p:nvGrpSpPr>
              <p:cNvPr id="100" name="Group 99">
                <a:extLst>
                  <a:ext uri="{FF2B5EF4-FFF2-40B4-BE49-F238E27FC236}">
                    <a16:creationId xmlns:a16="http://schemas.microsoft.com/office/drawing/2014/main" id="{B2D363D7-939B-1DFB-D94C-26C58D0F8BB1}"/>
                  </a:ext>
                </a:extLst>
              </p:cNvPr>
              <p:cNvGrpSpPr/>
              <p:nvPr/>
            </p:nvGrpSpPr>
            <p:grpSpPr>
              <a:xfrm>
                <a:off x="371094" y="1318253"/>
                <a:ext cx="8503920" cy="3429000"/>
                <a:chOff x="371094" y="978408"/>
                <a:chExt cx="8503920" cy="3429000"/>
              </a:xfrm>
            </p:grpSpPr>
            <p:grpSp>
              <p:nvGrpSpPr>
                <p:cNvPr id="98" name="Group 97">
                  <a:extLst>
                    <a:ext uri="{FF2B5EF4-FFF2-40B4-BE49-F238E27FC236}">
                      <a16:creationId xmlns:a16="http://schemas.microsoft.com/office/drawing/2014/main" id="{3006C3FD-578E-39D8-2ADA-4752E19F8F4E}"/>
                    </a:ext>
                  </a:extLst>
                </p:cNvPr>
                <p:cNvGrpSpPr/>
                <p:nvPr/>
              </p:nvGrpSpPr>
              <p:grpSpPr>
                <a:xfrm>
                  <a:off x="371094" y="978408"/>
                  <a:ext cx="8503920" cy="3429000"/>
                  <a:chOff x="457200" y="1417320"/>
                  <a:chExt cx="8503920" cy="3429000"/>
                </a:xfrm>
              </p:grpSpPr>
              <p:sp>
                <p:nvSpPr>
                  <p:cNvPr id="97" name="Shape 14">
                    <a:extLst>
                      <a:ext uri="{FF2B5EF4-FFF2-40B4-BE49-F238E27FC236}">
                        <a16:creationId xmlns:a16="http://schemas.microsoft.com/office/drawing/2014/main" id="{0719DD51-1D44-BF63-F729-0A08D1590B1C}"/>
                      </a:ext>
                    </a:extLst>
                  </p:cNvPr>
                  <p:cNvSpPr/>
                  <p:nvPr/>
                </p:nvSpPr>
                <p:spPr>
                  <a:xfrm>
                    <a:off x="457200" y="2752344"/>
                    <a:ext cx="2743200" cy="320040"/>
                  </a:xfrm>
                  <a:prstGeom prst="rect">
                    <a:avLst/>
                  </a:prstGeom>
                  <a:solidFill>
                    <a:srgbClr val="2399B5"/>
                  </a:solidFill>
                  <a:ln/>
                </p:spPr>
                <p:txBody>
                  <a:bodyPr/>
                  <a:lstStyle/>
                  <a:p>
                    <a:endParaRPr lang="en-US"/>
                  </a:p>
                </p:txBody>
              </p:sp>
              <p:grpSp>
                <p:nvGrpSpPr>
                  <p:cNvPr id="3" name="Group 2">
                    <a:extLst>
                      <a:ext uri="{FF2B5EF4-FFF2-40B4-BE49-F238E27FC236}">
                        <a16:creationId xmlns:a16="http://schemas.microsoft.com/office/drawing/2014/main" id="{EA72BF39-6B42-C179-092A-A00157FC42D1}"/>
                      </a:ext>
                    </a:extLst>
                  </p:cNvPr>
                  <p:cNvGrpSpPr/>
                  <p:nvPr/>
                </p:nvGrpSpPr>
                <p:grpSpPr>
                  <a:xfrm>
                    <a:off x="457200" y="1417320"/>
                    <a:ext cx="8503920" cy="3429000"/>
                    <a:chOff x="457200" y="1417320"/>
                    <a:chExt cx="8503920" cy="3429000"/>
                  </a:xfrm>
                </p:grpSpPr>
                <p:sp>
                  <p:nvSpPr>
                    <p:cNvPr id="4" name="Shape 5">
                      <a:extLst>
                        <a:ext uri="{FF2B5EF4-FFF2-40B4-BE49-F238E27FC236}">
                          <a16:creationId xmlns:a16="http://schemas.microsoft.com/office/drawing/2014/main" id="{E0B0F8E6-9637-D443-3B63-5E57C9DC04E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1417320"/>
                      <a:ext cx="2748534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6" name="Text 7">
                      <a:extLst>
                        <a:ext uri="{FF2B5EF4-FFF2-40B4-BE49-F238E27FC236}">
                          <a16:creationId xmlns:a16="http://schemas.microsoft.com/office/drawing/2014/main" id="{65966246-D1F4-787B-96ED-7D17E9AAEB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Company Info</a:t>
                      </a:r>
                      <a:endParaRPr lang="en-US" sz="1200" dirty="0"/>
                    </a:p>
                  </p:txBody>
                </p:sp>
                <p:sp>
                  <p:nvSpPr>
                    <p:cNvPr id="7" name="Text 8">
                      <a:extLst>
                        <a:ext uri="{FF2B5EF4-FFF2-40B4-BE49-F238E27FC236}">
                          <a16:creationId xmlns:a16="http://schemas.microsoft.com/office/drawing/2014/main" id="{871A1CE5-CB66-57A0-3B4C-7A5D999B961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" name="Text 9">
                      <a:extLst>
                        <a:ext uri="{FF2B5EF4-FFF2-40B4-BE49-F238E27FC236}">
                          <a16:creationId xmlns:a16="http://schemas.microsoft.com/office/drawing/2014/main" id="{0D66468F-6958-3215-48ED-2CD9BF9AF53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Logo</a:t>
                      </a:r>
                      <a:endParaRPr lang="en-US" sz="900" dirty="0"/>
                    </a:p>
                  </p:txBody>
                </p:sp>
                <p:sp>
                  <p:nvSpPr>
                    <p:cNvPr id="9" name="Text 10">
                      <a:extLst>
                        <a:ext uri="{FF2B5EF4-FFF2-40B4-BE49-F238E27FC236}">
                          <a16:creationId xmlns:a16="http://schemas.microsoft.com/office/drawing/2014/main" id="{93A94276-E2DA-AA57-1DBC-4B6B1F649B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0" name="Text 11">
                      <a:extLst>
                        <a:ext uri="{FF2B5EF4-FFF2-40B4-BE49-F238E27FC236}">
                          <a16:creationId xmlns:a16="http://schemas.microsoft.com/office/drawing/2014/main" id="{D2C64E7E-4791-3230-2D72-C57EA824D02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Contact Details</a:t>
                      </a:r>
                      <a:endParaRPr lang="en-US" sz="900" dirty="0"/>
                    </a:p>
                  </p:txBody>
                </p:sp>
                <p:sp>
                  <p:nvSpPr>
                    <p:cNvPr id="11" name="Text 12">
                      <a:extLst>
                        <a:ext uri="{FF2B5EF4-FFF2-40B4-BE49-F238E27FC236}">
                          <a16:creationId xmlns:a16="http://schemas.microsoft.com/office/drawing/2014/main" id="{18DA2643-A6A9-BA0B-3589-849C5BCCBE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2" name="Text 13">
                      <a:extLst>
                        <a:ext uri="{FF2B5EF4-FFF2-40B4-BE49-F238E27FC236}">
                          <a16:creationId xmlns:a16="http://schemas.microsoft.com/office/drawing/2014/main" id="{C50D0E5E-39EA-63E4-D78E-94520407B2C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Billing Address</a:t>
                      </a:r>
                      <a:endParaRPr lang="en-US" sz="900" dirty="0"/>
                    </a:p>
                  </p:txBody>
                </p:sp>
                <p:sp>
                  <p:nvSpPr>
                    <p:cNvPr id="13" name="Text 15">
                      <a:extLst>
                        <a:ext uri="{FF2B5EF4-FFF2-40B4-BE49-F238E27FC236}">
                          <a16:creationId xmlns:a16="http://schemas.microsoft.com/office/drawing/2014/main" id="{588123A3-C6BB-A4B2-81AD-94EFBE6832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14" name="Shape 16">
                      <a:extLst>
                        <a:ext uri="{FF2B5EF4-FFF2-40B4-BE49-F238E27FC236}">
                          <a16:creationId xmlns:a16="http://schemas.microsoft.com/office/drawing/2014/main" id="{D1C2644F-E79D-5725-B571-92DAF47B49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16" name="Text 19">
                      <a:extLst>
                        <a:ext uri="{FF2B5EF4-FFF2-40B4-BE49-F238E27FC236}">
                          <a16:creationId xmlns:a16="http://schemas.microsoft.com/office/drawing/2014/main" id="{AE4E837A-1A34-B36E-25F3-9A913CFA301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17" name="Text 20">
                      <a:extLst>
                        <a:ext uri="{FF2B5EF4-FFF2-40B4-BE49-F238E27FC236}">
                          <a16:creationId xmlns:a16="http://schemas.microsoft.com/office/drawing/2014/main" id="{B21CC230-498F-EE72-7FE2-B7A87FF42AA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Customers*</a:t>
                      </a:r>
                      <a:endParaRPr lang="en-US" sz="900" dirty="0"/>
                    </a:p>
                  </p:txBody>
                </p:sp>
                <p:sp>
                  <p:nvSpPr>
                    <p:cNvPr id="19" name="Text 21">
                      <a:extLst>
                        <a:ext uri="{FF2B5EF4-FFF2-40B4-BE49-F238E27FC236}">
                          <a16:creationId xmlns:a16="http://schemas.microsoft.com/office/drawing/2014/main" id="{A97C015D-EDA6-2F7E-1DFE-814C4A1347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0" name="Text 22">
                      <a:extLst>
                        <a:ext uri="{FF2B5EF4-FFF2-40B4-BE49-F238E27FC236}">
                          <a16:creationId xmlns:a16="http://schemas.microsoft.com/office/drawing/2014/main" id="{98E6B412-C0FD-2AF0-155D-6535A1D754F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Vendors*</a:t>
                      </a:r>
                      <a:endParaRPr lang="en-US" sz="900" dirty="0"/>
                    </a:p>
                  </p:txBody>
                </p:sp>
                <p:sp>
                  <p:nvSpPr>
                    <p:cNvPr id="22" name="Text 23">
                      <a:extLst>
                        <a:ext uri="{FF2B5EF4-FFF2-40B4-BE49-F238E27FC236}">
                          <a16:creationId xmlns:a16="http://schemas.microsoft.com/office/drawing/2014/main" id="{189A2DB6-78B1-EC86-730D-7382AE56A3F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3" name="Text 24">
                      <a:extLst>
                        <a:ext uri="{FF2B5EF4-FFF2-40B4-BE49-F238E27FC236}">
                          <a16:creationId xmlns:a16="http://schemas.microsoft.com/office/drawing/2014/main" id="{F43FA8FD-F421-3B57-9EB2-EFC80EE536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Employees*</a:t>
                      </a:r>
                      <a:endParaRPr lang="en-US" sz="900" dirty="0"/>
                    </a:p>
                  </p:txBody>
                </p:sp>
                <p:sp>
                  <p:nvSpPr>
                    <p:cNvPr id="24" name="Text 25">
                      <a:extLst>
                        <a:ext uri="{FF2B5EF4-FFF2-40B4-BE49-F238E27FC236}">
                          <a16:creationId xmlns:a16="http://schemas.microsoft.com/office/drawing/2014/main" id="{5C3A5C83-934A-D100-B97A-787F1A44329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2414016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25" name="Text 26">
                      <a:extLst>
                        <a:ext uri="{FF2B5EF4-FFF2-40B4-BE49-F238E27FC236}">
                          <a16:creationId xmlns:a16="http://schemas.microsoft.com/office/drawing/2014/main" id="{C6D24CFF-D6F0-F6F3-4244-9E84922CB86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2414016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Products/Services*</a:t>
                      </a:r>
                      <a:endParaRPr lang="en-US" sz="900" dirty="0"/>
                    </a:p>
                  </p:txBody>
                </p:sp>
                <p:sp>
                  <p:nvSpPr>
                    <p:cNvPr id="26" name="Shape 27">
                      <a:extLst>
                        <a:ext uri="{FF2B5EF4-FFF2-40B4-BE49-F238E27FC236}">
                          <a16:creationId xmlns:a16="http://schemas.microsoft.com/office/drawing/2014/main" id="{57BEC4EA-62BA-B79A-765E-C96DE641A9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27" name="Text 28">
                      <a:extLst>
                        <a:ext uri="{FF2B5EF4-FFF2-40B4-BE49-F238E27FC236}">
                          <a16:creationId xmlns:a16="http://schemas.microsoft.com/office/drawing/2014/main" id="{2BC89B44-6843-91BD-C938-2818CA71DF1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28" name="Shape 29">
                      <a:extLst>
                        <a:ext uri="{FF2B5EF4-FFF2-40B4-BE49-F238E27FC236}">
                          <a16:creationId xmlns:a16="http://schemas.microsoft.com/office/drawing/2014/main" id="{6CD21CCC-9EB8-FBBF-CBBA-96503AA988F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141732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30" name="Text 31">
                      <a:extLst>
                        <a:ext uri="{FF2B5EF4-FFF2-40B4-BE49-F238E27FC236}">
                          <a16:creationId xmlns:a16="http://schemas.microsoft.com/office/drawing/2014/main" id="{27AD9BFE-F804-3EF8-48A4-4652EBF2D36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155448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&amp; Assets</a:t>
                      </a:r>
                      <a:endParaRPr lang="en-US" sz="1200" dirty="0"/>
                    </a:p>
                  </p:txBody>
                </p:sp>
                <p:sp>
                  <p:nvSpPr>
                    <p:cNvPr id="31" name="Text 32">
                      <a:extLst>
                        <a:ext uri="{FF2B5EF4-FFF2-40B4-BE49-F238E27FC236}">
                          <a16:creationId xmlns:a16="http://schemas.microsoft.com/office/drawing/2014/main" id="{F375CC1C-D0DD-55A2-2C4D-3A21DE93644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192024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3" name="Text 33">
                      <a:extLst>
                        <a:ext uri="{FF2B5EF4-FFF2-40B4-BE49-F238E27FC236}">
                          <a16:creationId xmlns:a16="http://schemas.microsoft.com/office/drawing/2014/main" id="{1E062C65-89C9-F157-5888-46FD8E90038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192024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Sites</a:t>
                      </a:r>
                      <a:endParaRPr lang="en-US" sz="900" dirty="0"/>
                    </a:p>
                  </p:txBody>
                </p:sp>
                <p:sp>
                  <p:nvSpPr>
                    <p:cNvPr id="34" name="Text 34">
                      <a:extLst>
                        <a:ext uri="{FF2B5EF4-FFF2-40B4-BE49-F238E27FC236}">
                          <a16:creationId xmlns:a16="http://schemas.microsoft.com/office/drawing/2014/main" id="{A7D037AB-8B8E-252C-B920-C50176CADD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08483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6" name="Text 35">
                      <a:extLst>
                        <a:ext uri="{FF2B5EF4-FFF2-40B4-BE49-F238E27FC236}">
                          <a16:creationId xmlns:a16="http://schemas.microsoft.com/office/drawing/2014/main" id="{04F0A544-F57C-976E-B2AD-475870D7909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08483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Customer Contacts</a:t>
                      </a:r>
                      <a:endParaRPr lang="en-US" sz="900" dirty="0"/>
                    </a:p>
                  </p:txBody>
                </p:sp>
                <p:sp>
                  <p:nvSpPr>
                    <p:cNvPr id="37" name="Text 36">
                      <a:extLst>
                        <a:ext uri="{FF2B5EF4-FFF2-40B4-BE49-F238E27FC236}">
                          <a16:creationId xmlns:a16="http://schemas.microsoft.com/office/drawing/2014/main" id="{21F9F901-0278-1371-3A92-153DF74535C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224942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38" name="Text 37">
                      <a:extLst>
                        <a:ext uri="{FF2B5EF4-FFF2-40B4-BE49-F238E27FC236}">
                          <a16:creationId xmlns:a16="http://schemas.microsoft.com/office/drawing/2014/main" id="{51CB86A0-5D71-9C09-650A-8B78F14704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224942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Asset Import</a:t>
                      </a:r>
                      <a:endParaRPr lang="en-US" sz="900" dirty="0"/>
                    </a:p>
                  </p:txBody>
                </p:sp>
                <p:sp>
                  <p:nvSpPr>
                    <p:cNvPr id="39" name="Shape 38">
                      <a:extLst>
                        <a:ext uri="{FF2B5EF4-FFF2-40B4-BE49-F238E27FC236}">
                          <a16:creationId xmlns:a16="http://schemas.microsoft.com/office/drawing/2014/main" id="{678A6A72-867E-B3A0-D2D3-95024B8584F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0" name="Text 39">
                      <a:extLst>
                        <a:ext uri="{FF2B5EF4-FFF2-40B4-BE49-F238E27FC236}">
                          <a16:creationId xmlns:a16="http://schemas.microsoft.com/office/drawing/2014/main" id="{65FC1AC3-D5C7-7E41-95B6-304B4E619D4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274320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5 days</a:t>
                      </a:r>
                      <a:endParaRPr lang="en-US" sz="900" dirty="0"/>
                    </a:p>
                  </p:txBody>
                </p:sp>
                <p:sp>
                  <p:nvSpPr>
                    <p:cNvPr id="41" name="Shape 40">
                      <a:extLst>
                        <a:ext uri="{FF2B5EF4-FFF2-40B4-BE49-F238E27FC236}">
                          <a16:creationId xmlns:a16="http://schemas.microsoft.com/office/drawing/2014/main" id="{481AF60D-F02E-2294-7732-100FD7F769B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42" name="Text 42">
                      <a:extLst>
                        <a:ext uri="{FF2B5EF4-FFF2-40B4-BE49-F238E27FC236}">
                          <a16:creationId xmlns:a16="http://schemas.microsoft.com/office/drawing/2014/main" id="{EB64C42F-2F9D-A55F-52A3-A0EE3FBE835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8580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Data Import Timeline</a:t>
                      </a:r>
                      <a:endParaRPr lang="en-US" sz="1200" dirty="0"/>
                    </a:p>
                  </p:txBody>
                </p:sp>
                <p:sp>
                  <p:nvSpPr>
                    <p:cNvPr id="43" name="Text 43">
                      <a:extLst>
                        <a:ext uri="{FF2B5EF4-FFF2-40B4-BE49-F238E27FC236}">
                          <a16:creationId xmlns:a16="http://schemas.microsoft.com/office/drawing/2014/main" id="{22369C65-937C-1304-0A8E-A86693D0401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4" name="Text 44">
                      <a:extLst>
                        <a:ext uri="{FF2B5EF4-FFF2-40B4-BE49-F238E27FC236}">
                          <a16:creationId xmlns:a16="http://schemas.microsoft.com/office/drawing/2014/main" id="{EBAC752F-3DE0-F872-EBC3-BBE9D1A8BEB2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Prepared Files</a:t>
                      </a:r>
                      <a:endParaRPr lang="en-US" sz="900" dirty="0"/>
                    </a:p>
                  </p:txBody>
                </p:sp>
                <p:sp>
                  <p:nvSpPr>
                    <p:cNvPr id="45" name="Text 45">
                      <a:extLst>
                        <a:ext uri="{FF2B5EF4-FFF2-40B4-BE49-F238E27FC236}">
                          <a16:creationId xmlns:a16="http://schemas.microsoft.com/office/drawing/2014/main" id="{BD0F1488-C177-539C-00A7-EEFD88A4F369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46" name="Text 46">
                      <a:extLst>
                        <a:ext uri="{FF2B5EF4-FFF2-40B4-BE49-F238E27FC236}">
                          <a16:creationId xmlns:a16="http://schemas.microsoft.com/office/drawing/2014/main" id="{9A5C1994-8AAD-CA2E-E633-08FD9977F32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QA Review</a:t>
                      </a:r>
                      <a:endParaRPr lang="en-US" sz="900" dirty="0"/>
                    </a:p>
                  </p:txBody>
                </p:sp>
                <p:sp>
                  <p:nvSpPr>
                    <p:cNvPr id="47" name="Text 47">
                      <a:extLst>
                        <a:ext uri="{FF2B5EF4-FFF2-40B4-BE49-F238E27FC236}">
                          <a16:creationId xmlns:a16="http://schemas.microsoft.com/office/drawing/2014/main" id="{66C3078B-2FC3-41B1-2E8B-F3CBF92F19B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3152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2" name="Text 48">
                      <a:extLst>
                        <a:ext uri="{FF2B5EF4-FFF2-40B4-BE49-F238E27FC236}">
                          <a16:creationId xmlns:a16="http://schemas.microsoft.com/office/drawing/2014/main" id="{88CF4394-639E-126D-31EF-89D6F56137B7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96012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Final Load</a:t>
                      </a:r>
                      <a:endParaRPr lang="en-US" sz="900" dirty="0"/>
                    </a:p>
                  </p:txBody>
                </p:sp>
                <p:sp>
                  <p:nvSpPr>
                    <p:cNvPr id="74" name="Shape 49">
                      <a:extLst>
                        <a:ext uri="{FF2B5EF4-FFF2-40B4-BE49-F238E27FC236}">
                          <a16:creationId xmlns:a16="http://schemas.microsoft.com/office/drawing/2014/main" id="{AD34909C-F993-07BA-F76C-C04C88EFB87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5" name="Text 50">
                      <a:extLst>
                        <a:ext uri="{FF2B5EF4-FFF2-40B4-BE49-F238E27FC236}">
                          <a16:creationId xmlns:a16="http://schemas.microsoft.com/office/drawing/2014/main" id="{3068303D-1928-5977-1725-257AD46A3FB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5720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10 days</a:t>
                      </a:r>
                      <a:endParaRPr lang="en-US" sz="900" dirty="0"/>
                    </a:p>
                  </p:txBody>
                </p:sp>
                <p:sp>
                  <p:nvSpPr>
                    <p:cNvPr id="76" name="Shape 51">
                      <a:extLst>
                        <a:ext uri="{FF2B5EF4-FFF2-40B4-BE49-F238E27FC236}">
                          <a16:creationId xmlns:a16="http://schemas.microsoft.com/office/drawing/2014/main" id="{378008D3-56F5-20ED-A727-F4F9B4F46C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78" name="Text 54">
                      <a:extLst>
                        <a:ext uri="{FF2B5EF4-FFF2-40B4-BE49-F238E27FC236}">
                          <a16:creationId xmlns:a16="http://schemas.microsoft.com/office/drawing/2014/main" id="{C6D091C2-1D2A-B57C-5095-ADB50B3030B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79" name="Text 55">
                      <a:extLst>
                        <a:ext uri="{FF2B5EF4-FFF2-40B4-BE49-F238E27FC236}">
                          <a16:creationId xmlns:a16="http://schemas.microsoft.com/office/drawing/2014/main" id="{9FDCD3FB-AC9A-EF05-3D17-8FE4B3CAEF0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Templates*</a:t>
                      </a:r>
                      <a:endParaRPr lang="en-US" sz="900" dirty="0"/>
                    </a:p>
                  </p:txBody>
                </p:sp>
                <p:sp>
                  <p:nvSpPr>
                    <p:cNvPr id="80" name="Text 56">
                      <a:extLst>
                        <a:ext uri="{FF2B5EF4-FFF2-40B4-BE49-F238E27FC236}">
                          <a16:creationId xmlns:a16="http://schemas.microsoft.com/office/drawing/2014/main" id="{7ADA7B1B-2B4F-8841-775B-EFB88F82ED8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1" name="Text 57">
                      <a:extLst>
                        <a:ext uri="{FF2B5EF4-FFF2-40B4-BE49-F238E27FC236}">
                          <a16:creationId xmlns:a16="http://schemas.microsoft.com/office/drawing/2014/main" id="{7A6A6B58-6E19-85C4-96F9-1FDD7A9E53D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Pricing Rules</a:t>
                      </a:r>
                      <a:endParaRPr lang="en-US" sz="900" dirty="0"/>
                    </a:p>
                  </p:txBody>
                </p:sp>
                <p:sp>
                  <p:nvSpPr>
                    <p:cNvPr id="82" name="Text 58">
                      <a:extLst>
                        <a:ext uri="{FF2B5EF4-FFF2-40B4-BE49-F238E27FC236}">
                          <a16:creationId xmlns:a16="http://schemas.microsoft.com/office/drawing/2014/main" id="{65292DD0-1A09-C342-EB1E-71551C9330F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61188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83" name="Text 59">
                      <a:extLst>
                        <a:ext uri="{FF2B5EF4-FFF2-40B4-BE49-F238E27FC236}">
                          <a16:creationId xmlns:a16="http://schemas.microsoft.com/office/drawing/2014/main" id="{D703CD09-B658-4E4F-BA17-6FFAD30C97F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84048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Terms</a:t>
                      </a:r>
                      <a:endParaRPr lang="en-US" sz="900" dirty="0"/>
                    </a:p>
                  </p:txBody>
                </p:sp>
                <p:sp>
                  <p:nvSpPr>
                    <p:cNvPr id="84" name="Shape 60">
                      <a:extLst>
                        <a:ext uri="{FF2B5EF4-FFF2-40B4-BE49-F238E27FC236}">
                          <a16:creationId xmlns:a16="http://schemas.microsoft.com/office/drawing/2014/main" id="{C776C46F-770A-29A4-F24B-83F3BCA2B00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5" name="Text 61">
                      <a:extLst>
                        <a:ext uri="{FF2B5EF4-FFF2-40B4-BE49-F238E27FC236}">
                          <a16:creationId xmlns:a16="http://schemas.microsoft.com/office/drawing/2014/main" id="{335B9D47-018E-6522-A02B-D955BF3FB53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3756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  <p:sp>
                  <p:nvSpPr>
                    <p:cNvPr id="86" name="Shape 62">
                      <a:extLst>
                        <a:ext uri="{FF2B5EF4-FFF2-40B4-BE49-F238E27FC236}">
                          <a16:creationId xmlns:a16="http://schemas.microsoft.com/office/drawing/2014/main" id="{91BAE7EA-4837-2A29-53C0-01221BA1C0CB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3200400"/>
                      <a:ext cx="2743200" cy="1234440"/>
                    </a:xfrm>
                    <a:prstGeom prst="rect">
                      <a:avLst/>
                    </a:prstGeom>
                    <a:solidFill>
                      <a:srgbClr val="FFFFFF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88" name="Text 64">
                      <a:extLst>
                        <a:ext uri="{FF2B5EF4-FFF2-40B4-BE49-F238E27FC236}">
                          <a16:creationId xmlns:a16="http://schemas.microsoft.com/office/drawing/2014/main" id="{DD51F1DE-55E4-51A4-19FB-5E00C6A6CBC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46520" y="3337560"/>
                      <a:ext cx="2377440" cy="27432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>
                        <a:buNone/>
                      </a:pPr>
                      <a:r>
                        <a:rPr lang="en-US" sz="1200" b="1" dirty="0">
                          <a:solidFill>
                            <a:srgbClr val="1D3756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Time Entry</a:t>
                      </a:r>
                      <a:endParaRPr lang="en-US" sz="1200" dirty="0"/>
                    </a:p>
                  </p:txBody>
                </p:sp>
                <p:sp>
                  <p:nvSpPr>
                    <p:cNvPr id="89" name="Text 65">
                      <a:extLst>
                        <a:ext uri="{FF2B5EF4-FFF2-40B4-BE49-F238E27FC236}">
                          <a16:creationId xmlns:a16="http://schemas.microsoft.com/office/drawing/2014/main" id="{47D846D8-1061-5F56-D529-5CB6DE25CB3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703320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0" name="Text 66">
                      <a:extLst>
                        <a:ext uri="{FF2B5EF4-FFF2-40B4-BE49-F238E27FC236}">
                          <a16:creationId xmlns:a16="http://schemas.microsoft.com/office/drawing/2014/main" id="{0E638666-6B0D-1284-7602-3F454DE5AFA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703320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Labor Rates</a:t>
                      </a:r>
                      <a:endParaRPr lang="en-US" sz="900" dirty="0"/>
                    </a:p>
                  </p:txBody>
                </p:sp>
                <p:sp>
                  <p:nvSpPr>
                    <p:cNvPr id="91" name="Text 67">
                      <a:extLst>
                        <a:ext uri="{FF2B5EF4-FFF2-40B4-BE49-F238E27FC236}">
                          <a16:creationId xmlns:a16="http://schemas.microsoft.com/office/drawing/2014/main" id="{3B825FD7-1612-D42F-EFCD-1DE9FABA69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3867912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2" name="Text 68">
                      <a:extLst>
                        <a:ext uri="{FF2B5EF4-FFF2-40B4-BE49-F238E27FC236}">
                          <a16:creationId xmlns:a16="http://schemas.microsoft.com/office/drawing/2014/main" id="{96621972-DE19-6055-81AA-79DC8C5474EE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3867912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Overtime Rules</a:t>
                      </a:r>
                      <a:endParaRPr lang="en-US" sz="900" dirty="0"/>
                    </a:p>
                  </p:txBody>
                </p:sp>
                <p:sp>
                  <p:nvSpPr>
                    <p:cNvPr id="93" name="Text 69">
                      <a:extLst>
                        <a:ext uri="{FF2B5EF4-FFF2-40B4-BE49-F238E27FC236}">
                          <a16:creationId xmlns:a16="http://schemas.microsoft.com/office/drawing/2014/main" id="{CCBF5955-3C07-43F5-405D-215F557A616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492240" y="4032504"/>
                      <a:ext cx="18288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6EBE4F"/>
                          </a:solidFill>
                        </a:rPr>
                        <a:t>✓</a:t>
                      </a:r>
                      <a:endParaRPr lang="en-US" sz="900" dirty="0"/>
                    </a:p>
                  </p:txBody>
                </p:sp>
                <p:sp>
                  <p:nvSpPr>
                    <p:cNvPr id="94" name="Text 70">
                      <a:extLst>
                        <a:ext uri="{FF2B5EF4-FFF2-40B4-BE49-F238E27FC236}">
                          <a16:creationId xmlns:a16="http://schemas.microsoft.com/office/drawing/2014/main" id="{68AC0DAE-D001-FFC7-D038-AEE08907096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720840" y="4032504"/>
                      <a:ext cx="2103120" cy="13716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t"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5C5C5C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PTO Policies</a:t>
                      </a:r>
                      <a:endParaRPr lang="en-US" sz="900" dirty="0"/>
                    </a:p>
                  </p:txBody>
                </p:sp>
                <p:sp>
                  <p:nvSpPr>
                    <p:cNvPr id="95" name="Shape 71">
                      <a:extLst>
                        <a:ext uri="{FF2B5EF4-FFF2-40B4-BE49-F238E27FC236}">
                          <a16:creationId xmlns:a16="http://schemas.microsoft.com/office/drawing/2014/main" id="{894F7CE1-499B-F59E-4D70-0AA4F57FB08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solidFill>
                      <a:srgbClr val="2399B5"/>
                    </a:solidFill>
                    <a:ln/>
                  </p:spPr>
                  <p:txBody>
                    <a:bodyPr/>
                    <a:lstStyle/>
                    <a:p>
                      <a:endParaRPr lang="en-US"/>
                    </a:p>
                  </p:txBody>
                </p:sp>
                <p:sp>
                  <p:nvSpPr>
                    <p:cNvPr id="96" name="Text 72">
                      <a:extLst>
                        <a:ext uri="{FF2B5EF4-FFF2-40B4-BE49-F238E27FC236}">
                          <a16:creationId xmlns:a16="http://schemas.microsoft.com/office/drawing/2014/main" id="{654AC503-ECAB-BB2C-E2AD-FC86FFD9F948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6217920" y="4526280"/>
                      <a:ext cx="2743200" cy="320040"/>
                    </a:xfrm>
                    <a:prstGeom prst="rect">
                      <a:avLst/>
                    </a:prstGeom>
                    <a:noFill/>
                    <a:ln/>
                  </p:spPr>
                  <p:txBody>
                    <a:bodyPr wrap="square" rtlCol="0" anchor="ctr"/>
                    <a:lstStyle/>
                    <a:p>
                      <a:pPr marL="0" indent="0" algn="ctr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Montserrat" pitchFamily="34" charset="0"/>
                          <a:ea typeface="Montserrat" pitchFamily="34" charset="-122"/>
                          <a:cs typeface="Montserrat" pitchFamily="34" charset="-120"/>
                        </a:rPr>
                        <a:t>Expected timeline: 3 days</a:t>
                      </a:r>
                      <a:endParaRPr lang="en-US" sz="900" dirty="0"/>
                    </a:p>
                  </p:txBody>
                </p:sp>
              </p:grpSp>
            </p:grpSp>
            <p:sp>
              <p:nvSpPr>
                <p:cNvPr id="99" name="Text 7">
                  <a:extLst>
                    <a:ext uri="{FF2B5EF4-FFF2-40B4-BE49-F238E27FC236}">
                      <a16:creationId xmlns:a16="http://schemas.microsoft.com/office/drawing/2014/main" id="{5F20C51C-AE2D-087B-3993-BF3E4C3D3BC1}"/>
                    </a:ext>
                  </a:extLst>
                </p:cNvPr>
                <p:cNvSpPr/>
                <p:nvPr/>
              </p:nvSpPr>
              <p:spPr>
                <a:xfrm>
                  <a:off x="3423668" y="1115568"/>
                  <a:ext cx="2377440" cy="274320"/>
                </a:xfrm>
                <a:prstGeom prst="rect">
                  <a:avLst/>
                </a:prstGeom>
                <a:noFill/>
                <a:ln/>
              </p:spPr>
              <p:txBody>
                <a:bodyPr wrap="square" rtlCol="0" anchor="ctr"/>
                <a:lstStyle/>
                <a:p>
                  <a:r>
                    <a:rPr lang="en-US" sz="1200" b="1" dirty="0">
                      <a:solidFill>
                        <a:srgbClr val="1D3756"/>
                      </a:solidFill>
                      <a:latin typeface="Montserrat" pitchFamily="34" charset="0"/>
                      <a:ea typeface="Montserrat" pitchFamily="34" charset="-122"/>
                      <a:cs typeface="Montserrat" pitchFamily="34" charset="-120"/>
                    </a:rPr>
                    <a:t>Data Setup</a:t>
                  </a:r>
                  <a:endParaRPr lang="en-US" sz="1200" dirty="0"/>
                </a:p>
              </p:txBody>
            </p:sp>
          </p:grpSp>
          <p:sp>
            <p:nvSpPr>
              <p:cNvPr id="104" name="TextBox 103">
                <a:extLst>
                  <a:ext uri="{FF2B5EF4-FFF2-40B4-BE49-F238E27FC236}">
                    <a16:creationId xmlns:a16="http://schemas.microsoft.com/office/drawing/2014/main" id="{8CE25980-6E95-9CAA-791E-AC271A7D0015}"/>
                  </a:ext>
                </a:extLst>
              </p:cNvPr>
              <p:cNvSpPr txBox="1"/>
              <p:nvPr/>
            </p:nvSpPr>
            <p:spPr>
              <a:xfrm>
                <a:off x="3491187" y="3243696"/>
                <a:ext cx="2320933" cy="26911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:r>
                  <a:rPr lang="en-US" sz="1200" b="1" dirty="0">
                    <a:solidFill>
                      <a:srgbClr val="1D3756"/>
                    </a:solidFill>
                    <a:latin typeface="Montserrat" pitchFamily="34" charset="0"/>
                    <a:ea typeface="Montserrat" pitchFamily="34" charset="-122"/>
                    <a:cs typeface="Montserrat" pitchFamily="34" charset="-120"/>
                  </a:rPr>
                  <a:t>Quotes</a:t>
                </a:r>
                <a:endParaRPr lang="en-US" sz="1200" dirty="0"/>
              </a:p>
            </p:txBody>
          </p:sp>
        </p:grpSp>
        <p:sp>
          <p:nvSpPr>
            <p:cNvPr id="108" name="Shape 5">
              <a:extLst>
                <a:ext uri="{FF2B5EF4-FFF2-40B4-BE49-F238E27FC236}">
                  <a16:creationId xmlns:a16="http://schemas.microsoft.com/office/drawing/2014/main" id="{88C14587-ECAE-49B6-0694-72DB3D6EB4D2}"/>
                </a:ext>
              </a:extLst>
            </p:cNvPr>
            <p:cNvSpPr/>
            <p:nvPr/>
          </p:nvSpPr>
          <p:spPr>
            <a:xfrm>
              <a:off x="371094" y="1032409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9" name="Shape 5">
              <a:extLst>
                <a:ext uri="{FF2B5EF4-FFF2-40B4-BE49-F238E27FC236}">
                  <a16:creationId xmlns:a16="http://schemas.microsoft.com/office/drawing/2014/main" id="{84D9C1ED-C7C4-47D3-58A7-5CD845930883}"/>
                </a:ext>
              </a:extLst>
            </p:cNvPr>
            <p:cNvSpPr/>
            <p:nvPr/>
          </p:nvSpPr>
          <p:spPr>
            <a:xfrm>
              <a:off x="3247843" y="1026372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0" name="Shape 5">
              <a:extLst>
                <a:ext uri="{FF2B5EF4-FFF2-40B4-BE49-F238E27FC236}">
                  <a16:creationId xmlns:a16="http://schemas.microsoft.com/office/drawing/2014/main" id="{81198AC7-A66D-6F95-1D2D-6F269E444E24}"/>
                </a:ext>
              </a:extLst>
            </p:cNvPr>
            <p:cNvSpPr/>
            <p:nvPr/>
          </p:nvSpPr>
          <p:spPr>
            <a:xfrm>
              <a:off x="6124592" y="1032443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1" name="Shape 5">
              <a:extLst>
                <a:ext uri="{FF2B5EF4-FFF2-40B4-BE49-F238E27FC236}">
                  <a16:creationId xmlns:a16="http://schemas.microsoft.com/office/drawing/2014/main" id="{66BB3143-963C-91DE-D992-BBF7429EBC6B}"/>
                </a:ext>
              </a:extLst>
            </p:cNvPr>
            <p:cNvSpPr/>
            <p:nvPr/>
          </p:nvSpPr>
          <p:spPr>
            <a:xfrm>
              <a:off x="6124592" y="2873290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2" name="Shape 5">
              <a:extLst>
                <a:ext uri="{FF2B5EF4-FFF2-40B4-BE49-F238E27FC236}">
                  <a16:creationId xmlns:a16="http://schemas.microsoft.com/office/drawing/2014/main" id="{887C433C-641A-D53E-EA98-6B7182AE0EE9}"/>
                </a:ext>
              </a:extLst>
            </p:cNvPr>
            <p:cNvSpPr/>
            <p:nvPr/>
          </p:nvSpPr>
          <p:spPr>
            <a:xfrm>
              <a:off x="3247843" y="2881166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3" name="Shape 5">
              <a:extLst>
                <a:ext uri="{FF2B5EF4-FFF2-40B4-BE49-F238E27FC236}">
                  <a16:creationId xmlns:a16="http://schemas.microsoft.com/office/drawing/2014/main" id="{C7B0C769-35D5-69EF-B6B2-DFE98E08F75B}"/>
                </a:ext>
              </a:extLst>
            </p:cNvPr>
            <p:cNvSpPr/>
            <p:nvPr/>
          </p:nvSpPr>
          <p:spPr>
            <a:xfrm>
              <a:off x="365767" y="2879261"/>
              <a:ext cx="2745088" cy="45719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1" name="Text 2">
            <a:extLst>
              <a:ext uri="{FF2B5EF4-FFF2-40B4-BE49-F238E27FC236}">
                <a16:creationId xmlns:a16="http://schemas.microsoft.com/office/drawing/2014/main" id="{B828003D-1826-B33B-EE25-F73419F3103F}"/>
              </a:ext>
            </a:extLst>
          </p:cNvPr>
          <p:cNvSpPr/>
          <p:nvPr/>
        </p:nvSpPr>
        <p:spPr>
          <a:xfrm>
            <a:off x="290322" y="230101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399B5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CUSTOMER CONFIGURATION</a:t>
            </a:r>
            <a:endParaRPr lang="en-US" sz="1400" dirty="0"/>
          </a:p>
        </p:txBody>
      </p:sp>
      <p:sp>
        <p:nvSpPr>
          <p:cNvPr id="102" name="Text 3">
            <a:extLst>
              <a:ext uri="{FF2B5EF4-FFF2-40B4-BE49-F238E27FC236}">
                <a16:creationId xmlns:a16="http://schemas.microsoft.com/office/drawing/2014/main" id="{94C31FE6-7A96-9EC9-A64F-14ABB5D637F1}"/>
              </a:ext>
            </a:extLst>
          </p:cNvPr>
          <p:cNvSpPr/>
          <p:nvPr/>
        </p:nvSpPr>
        <p:spPr>
          <a:xfrm>
            <a:off x="290322" y="482809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Where You’ll Customize Your Instance</a:t>
            </a:r>
            <a:endParaRPr lang="en-US" sz="2800" dirty="0"/>
          </a:p>
        </p:txBody>
      </p:sp>
      <p:sp>
        <p:nvSpPr>
          <p:cNvPr id="107" name="Text 4">
            <a:extLst>
              <a:ext uri="{FF2B5EF4-FFF2-40B4-BE49-F238E27FC236}">
                <a16:creationId xmlns:a16="http://schemas.microsoft.com/office/drawing/2014/main" id="{AA0A6B4F-8D70-6DC6-3099-383D31655BF1}"/>
              </a:ext>
            </a:extLst>
          </p:cNvPr>
          <p:cNvSpPr/>
          <p:nvPr/>
        </p:nvSpPr>
        <p:spPr>
          <a:xfrm>
            <a:off x="231648" y="4730519"/>
            <a:ext cx="2743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F8F8F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Indicates pre-configured setups available</a:t>
            </a:r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6126127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3ECFC99A-3096-09AB-6DD9-86914DECE1D7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/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804241D0-D1AE-DEB2-0F62-B21E0ACCF093}"/>
              </a:ext>
            </a:extLst>
          </p:cNvPr>
          <p:cNvGrpSpPr/>
          <p:nvPr/>
        </p:nvGrpSpPr>
        <p:grpSpPr>
          <a:xfrm>
            <a:off x="434340" y="1654879"/>
            <a:ext cx="8275320" cy="2194560"/>
            <a:chOff x="548640" y="1554480"/>
            <a:chExt cx="8275320" cy="2194560"/>
          </a:xfrm>
        </p:grpSpPr>
        <p:sp>
          <p:nvSpPr>
            <p:cNvPr id="39" name="Shape 5">
              <a:extLst>
                <a:ext uri="{FF2B5EF4-FFF2-40B4-BE49-F238E27FC236}">
                  <a16:creationId xmlns:a16="http://schemas.microsoft.com/office/drawing/2014/main" id="{0EF5F7E1-F9F9-7130-E281-BEE5F6002D7D}"/>
                </a:ext>
              </a:extLst>
            </p:cNvPr>
            <p:cNvSpPr/>
            <p:nvPr/>
          </p:nvSpPr>
          <p:spPr>
            <a:xfrm>
              <a:off x="54864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0" name="Shape 6">
              <a:extLst>
                <a:ext uri="{FF2B5EF4-FFF2-40B4-BE49-F238E27FC236}">
                  <a16:creationId xmlns:a16="http://schemas.microsoft.com/office/drawing/2014/main" id="{7307F801-F8E1-0682-DFDD-0F3E4F1B5663}"/>
                </a:ext>
              </a:extLst>
            </p:cNvPr>
            <p:cNvSpPr/>
            <p:nvPr/>
          </p:nvSpPr>
          <p:spPr>
            <a:xfrm>
              <a:off x="54864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1" name="Text 7">
              <a:extLst>
                <a:ext uri="{FF2B5EF4-FFF2-40B4-BE49-F238E27FC236}">
                  <a16:creationId xmlns:a16="http://schemas.microsoft.com/office/drawing/2014/main" id="{8E1EDEE3-0F42-CB13-8535-E37C7D05308E}"/>
                </a:ext>
              </a:extLst>
            </p:cNvPr>
            <p:cNvSpPr/>
            <p:nvPr/>
          </p:nvSpPr>
          <p:spPr>
            <a:xfrm>
              <a:off x="64008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Payments</a:t>
              </a:r>
              <a:endParaRPr lang="en-US" sz="1200" dirty="0"/>
            </a:p>
          </p:txBody>
        </p:sp>
        <p:sp>
          <p:nvSpPr>
            <p:cNvPr id="42" name="Text 8">
              <a:extLst>
                <a:ext uri="{FF2B5EF4-FFF2-40B4-BE49-F238E27FC236}">
                  <a16:creationId xmlns:a16="http://schemas.microsoft.com/office/drawing/2014/main" id="{8F37A92B-113B-0A11-85F8-2FA2A2D96639}"/>
                </a:ext>
              </a:extLst>
            </p:cNvPr>
            <p:cNvSpPr/>
            <p:nvPr/>
          </p:nvSpPr>
          <p:spPr>
            <a:xfrm>
              <a:off x="68580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3" name="Text 9">
              <a:extLst>
                <a:ext uri="{FF2B5EF4-FFF2-40B4-BE49-F238E27FC236}">
                  <a16:creationId xmlns:a16="http://schemas.microsoft.com/office/drawing/2014/main" id="{980326DB-6A80-F852-010C-11BFEA7EC41E}"/>
                </a:ext>
              </a:extLst>
            </p:cNvPr>
            <p:cNvSpPr/>
            <p:nvPr/>
          </p:nvSpPr>
          <p:spPr>
            <a:xfrm>
              <a:off x="91440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No token migrations</a:t>
              </a:r>
              <a:endParaRPr lang="en-US" sz="900" dirty="0"/>
            </a:p>
          </p:txBody>
        </p:sp>
        <p:sp>
          <p:nvSpPr>
            <p:cNvPr id="44" name="Text 10">
              <a:extLst>
                <a:ext uri="{FF2B5EF4-FFF2-40B4-BE49-F238E27FC236}">
                  <a16:creationId xmlns:a16="http://schemas.microsoft.com/office/drawing/2014/main" id="{837C89D4-B53A-2C5B-CEB5-025B497141E9}"/>
                </a:ext>
              </a:extLst>
            </p:cNvPr>
            <p:cNvSpPr/>
            <p:nvPr/>
          </p:nvSpPr>
          <p:spPr>
            <a:xfrm>
              <a:off x="68580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5" name="Text 11">
              <a:extLst>
                <a:ext uri="{FF2B5EF4-FFF2-40B4-BE49-F238E27FC236}">
                  <a16:creationId xmlns:a16="http://schemas.microsoft.com/office/drawing/2014/main" id="{C962192A-32B6-6781-E055-8107A110E46D}"/>
                </a:ext>
              </a:extLst>
            </p:cNvPr>
            <p:cNvSpPr/>
            <p:nvPr/>
          </p:nvSpPr>
          <p:spPr>
            <a:xfrm>
              <a:off x="91440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 months statements</a:t>
              </a:r>
              <a:endParaRPr lang="en-US" sz="900" dirty="0"/>
            </a:p>
          </p:txBody>
        </p:sp>
        <p:sp>
          <p:nvSpPr>
            <p:cNvPr id="46" name="Text 12">
              <a:extLst>
                <a:ext uri="{FF2B5EF4-FFF2-40B4-BE49-F238E27FC236}">
                  <a16:creationId xmlns:a16="http://schemas.microsoft.com/office/drawing/2014/main" id="{D9AD512C-0C94-8270-D7EB-0E69B94394BA}"/>
                </a:ext>
              </a:extLst>
            </p:cNvPr>
            <p:cNvSpPr/>
            <p:nvPr/>
          </p:nvSpPr>
          <p:spPr>
            <a:xfrm>
              <a:off x="68580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47" name="Text 13">
              <a:extLst>
                <a:ext uri="{FF2B5EF4-FFF2-40B4-BE49-F238E27FC236}">
                  <a16:creationId xmlns:a16="http://schemas.microsoft.com/office/drawing/2014/main" id="{C7F22636-FB99-3F7D-D981-31F41DFE6D36}"/>
                </a:ext>
              </a:extLst>
            </p:cNvPr>
            <p:cNvSpPr/>
            <p:nvPr/>
          </p:nvSpPr>
          <p:spPr>
            <a:xfrm>
              <a:off x="91440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Credentials loaded</a:t>
              </a:r>
              <a:endParaRPr lang="en-US" sz="900" dirty="0"/>
            </a:p>
          </p:txBody>
        </p:sp>
        <p:sp>
          <p:nvSpPr>
            <p:cNvPr id="48" name="Shape 14">
              <a:extLst>
                <a:ext uri="{FF2B5EF4-FFF2-40B4-BE49-F238E27FC236}">
                  <a16:creationId xmlns:a16="http://schemas.microsoft.com/office/drawing/2014/main" id="{273D5FB5-3A78-6343-9B3A-21707C2D7F50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Text 15">
              <a:extLst>
                <a:ext uri="{FF2B5EF4-FFF2-40B4-BE49-F238E27FC236}">
                  <a16:creationId xmlns:a16="http://schemas.microsoft.com/office/drawing/2014/main" id="{23FFCFC2-B5EE-2018-CDEF-5CB5397E99F2}"/>
                </a:ext>
              </a:extLst>
            </p:cNvPr>
            <p:cNvSpPr/>
            <p:nvPr/>
          </p:nvSpPr>
          <p:spPr>
            <a:xfrm>
              <a:off x="54864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10 days</a:t>
              </a:r>
              <a:endParaRPr lang="en-US" sz="900" dirty="0"/>
            </a:p>
          </p:txBody>
        </p:sp>
        <p:sp>
          <p:nvSpPr>
            <p:cNvPr id="50" name="Shape 16">
              <a:extLst>
                <a:ext uri="{FF2B5EF4-FFF2-40B4-BE49-F238E27FC236}">
                  <a16:creationId xmlns:a16="http://schemas.microsoft.com/office/drawing/2014/main" id="{DA1BC5E8-B0C0-FC2F-2DC2-216A5B108915}"/>
                </a:ext>
              </a:extLst>
            </p:cNvPr>
            <p:cNvSpPr/>
            <p:nvPr/>
          </p:nvSpPr>
          <p:spPr>
            <a:xfrm>
              <a:off x="265176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Shape 17">
              <a:extLst>
                <a:ext uri="{FF2B5EF4-FFF2-40B4-BE49-F238E27FC236}">
                  <a16:creationId xmlns:a16="http://schemas.microsoft.com/office/drawing/2014/main" id="{1A149185-3F90-D242-D19F-AB0AC5EAD352}"/>
                </a:ext>
              </a:extLst>
            </p:cNvPr>
            <p:cNvSpPr/>
            <p:nvPr/>
          </p:nvSpPr>
          <p:spPr>
            <a:xfrm>
              <a:off x="265176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52" name="Text 18">
              <a:extLst>
                <a:ext uri="{FF2B5EF4-FFF2-40B4-BE49-F238E27FC236}">
                  <a16:creationId xmlns:a16="http://schemas.microsoft.com/office/drawing/2014/main" id="{575F1739-15DA-B47E-7A7F-F1907197B67E}"/>
                </a:ext>
              </a:extLst>
            </p:cNvPr>
            <p:cNvSpPr/>
            <p:nvPr/>
          </p:nvSpPr>
          <p:spPr>
            <a:xfrm>
              <a:off x="274320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Data Import</a:t>
              </a:r>
              <a:endParaRPr lang="en-US" sz="1200" dirty="0"/>
            </a:p>
          </p:txBody>
        </p:sp>
        <p:sp>
          <p:nvSpPr>
            <p:cNvPr id="53" name="Text 19">
              <a:extLst>
                <a:ext uri="{FF2B5EF4-FFF2-40B4-BE49-F238E27FC236}">
                  <a16:creationId xmlns:a16="http://schemas.microsoft.com/office/drawing/2014/main" id="{F51A46D8-E21B-1A0B-A2AA-A5E3DA269F12}"/>
                </a:ext>
              </a:extLst>
            </p:cNvPr>
            <p:cNvSpPr/>
            <p:nvPr/>
          </p:nvSpPr>
          <p:spPr>
            <a:xfrm>
              <a:off x="278892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4" name="Text 20">
              <a:extLst>
                <a:ext uri="{FF2B5EF4-FFF2-40B4-BE49-F238E27FC236}">
                  <a16:creationId xmlns:a16="http://schemas.microsoft.com/office/drawing/2014/main" id="{AA8D8BCB-5745-EC47-E6CD-3A0CA6699B66}"/>
                </a:ext>
              </a:extLst>
            </p:cNvPr>
            <p:cNvSpPr/>
            <p:nvPr/>
          </p:nvSpPr>
          <p:spPr>
            <a:xfrm>
              <a:off x="301752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Follow timeline/SLA</a:t>
              </a:r>
              <a:endParaRPr lang="en-US" sz="900" dirty="0"/>
            </a:p>
          </p:txBody>
        </p:sp>
        <p:sp>
          <p:nvSpPr>
            <p:cNvPr id="55" name="Text 21">
              <a:extLst>
                <a:ext uri="{FF2B5EF4-FFF2-40B4-BE49-F238E27FC236}">
                  <a16:creationId xmlns:a16="http://schemas.microsoft.com/office/drawing/2014/main" id="{89682F4C-6544-0F69-32F9-5EC54472A2AA}"/>
                </a:ext>
              </a:extLst>
            </p:cNvPr>
            <p:cNvSpPr/>
            <p:nvPr/>
          </p:nvSpPr>
          <p:spPr>
            <a:xfrm>
              <a:off x="278892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6" name="Text 22">
              <a:extLst>
                <a:ext uri="{FF2B5EF4-FFF2-40B4-BE49-F238E27FC236}">
                  <a16:creationId xmlns:a16="http://schemas.microsoft.com/office/drawing/2014/main" id="{023CC5B9-C2FD-5B3E-8429-804D334F7B58}"/>
                </a:ext>
              </a:extLst>
            </p:cNvPr>
            <p:cNvSpPr/>
            <p:nvPr/>
          </p:nvSpPr>
          <p:spPr>
            <a:xfrm>
              <a:off x="301752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Set time for QA</a:t>
              </a:r>
              <a:endParaRPr lang="en-US" sz="900" dirty="0"/>
            </a:p>
          </p:txBody>
        </p:sp>
        <p:sp>
          <p:nvSpPr>
            <p:cNvPr id="57" name="Text 23">
              <a:extLst>
                <a:ext uri="{FF2B5EF4-FFF2-40B4-BE49-F238E27FC236}">
                  <a16:creationId xmlns:a16="http://schemas.microsoft.com/office/drawing/2014/main" id="{F641DC83-CE60-2E37-63A1-D4621C30E920}"/>
                </a:ext>
              </a:extLst>
            </p:cNvPr>
            <p:cNvSpPr/>
            <p:nvPr/>
          </p:nvSpPr>
          <p:spPr>
            <a:xfrm>
              <a:off x="278892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58" name="Text 24">
              <a:extLst>
                <a:ext uri="{FF2B5EF4-FFF2-40B4-BE49-F238E27FC236}">
                  <a16:creationId xmlns:a16="http://schemas.microsoft.com/office/drawing/2014/main" id="{F36929E9-003A-05DC-B9E9-A154894EE7C6}"/>
                </a:ext>
              </a:extLst>
            </p:cNvPr>
            <p:cNvSpPr/>
            <p:nvPr/>
          </p:nvSpPr>
          <p:spPr>
            <a:xfrm>
              <a:off x="301752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loads data</a:t>
              </a:r>
              <a:endParaRPr lang="en-US" sz="900" dirty="0"/>
            </a:p>
          </p:txBody>
        </p:sp>
        <p:sp>
          <p:nvSpPr>
            <p:cNvPr id="59" name="Shape 25">
              <a:extLst>
                <a:ext uri="{FF2B5EF4-FFF2-40B4-BE49-F238E27FC236}">
                  <a16:creationId xmlns:a16="http://schemas.microsoft.com/office/drawing/2014/main" id="{8EB86B4C-5D04-374E-0264-D3D0A2BF55C7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0" name="Text 26">
              <a:extLst>
                <a:ext uri="{FF2B5EF4-FFF2-40B4-BE49-F238E27FC236}">
                  <a16:creationId xmlns:a16="http://schemas.microsoft.com/office/drawing/2014/main" id="{B44583D5-C025-8D0B-5CD9-DDDD95D46113}"/>
                </a:ext>
              </a:extLst>
            </p:cNvPr>
            <p:cNvSpPr/>
            <p:nvPr/>
          </p:nvSpPr>
          <p:spPr>
            <a:xfrm>
              <a:off x="265176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  <p:sp>
          <p:nvSpPr>
            <p:cNvPr id="61" name="Shape 27">
              <a:extLst>
                <a:ext uri="{FF2B5EF4-FFF2-40B4-BE49-F238E27FC236}">
                  <a16:creationId xmlns:a16="http://schemas.microsoft.com/office/drawing/2014/main" id="{E0E462F4-3968-1527-EB97-A915962B2585}"/>
                </a:ext>
              </a:extLst>
            </p:cNvPr>
            <p:cNvSpPr/>
            <p:nvPr/>
          </p:nvSpPr>
          <p:spPr>
            <a:xfrm>
              <a:off x="475488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62" name="Shape 28">
              <a:extLst>
                <a:ext uri="{FF2B5EF4-FFF2-40B4-BE49-F238E27FC236}">
                  <a16:creationId xmlns:a16="http://schemas.microsoft.com/office/drawing/2014/main" id="{634DC00B-4D90-AEBC-9471-860250180FA9}"/>
                </a:ext>
              </a:extLst>
            </p:cNvPr>
            <p:cNvSpPr/>
            <p:nvPr/>
          </p:nvSpPr>
          <p:spPr>
            <a:xfrm>
              <a:off x="475488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63" name="Text 29">
              <a:extLst>
                <a:ext uri="{FF2B5EF4-FFF2-40B4-BE49-F238E27FC236}">
                  <a16:creationId xmlns:a16="http://schemas.microsoft.com/office/drawing/2014/main" id="{DFD60B52-46E8-FA6B-DFC3-35020C99FB94}"/>
                </a:ext>
              </a:extLst>
            </p:cNvPr>
            <p:cNvSpPr/>
            <p:nvPr/>
          </p:nvSpPr>
          <p:spPr>
            <a:xfrm>
              <a:off x="484632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Taxation</a:t>
              </a:r>
              <a:endParaRPr lang="en-US" sz="1200" dirty="0"/>
            </a:p>
          </p:txBody>
        </p:sp>
        <p:sp>
          <p:nvSpPr>
            <p:cNvPr id="64" name="Text 30">
              <a:extLst>
                <a:ext uri="{FF2B5EF4-FFF2-40B4-BE49-F238E27FC236}">
                  <a16:creationId xmlns:a16="http://schemas.microsoft.com/office/drawing/2014/main" id="{C0F15DB0-890E-FAFB-4A1A-62AC7701EF2A}"/>
                </a:ext>
              </a:extLst>
            </p:cNvPr>
            <p:cNvSpPr/>
            <p:nvPr/>
          </p:nvSpPr>
          <p:spPr>
            <a:xfrm>
              <a:off x="489204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5" name="Text 31">
              <a:extLst>
                <a:ext uri="{FF2B5EF4-FFF2-40B4-BE49-F238E27FC236}">
                  <a16:creationId xmlns:a16="http://schemas.microsoft.com/office/drawing/2014/main" id="{C5339A16-24EB-3D1D-BC26-CF1F7D711E3E}"/>
                </a:ext>
              </a:extLst>
            </p:cNvPr>
            <p:cNvSpPr/>
            <p:nvPr/>
          </p:nvSpPr>
          <p:spPr>
            <a:xfrm>
              <a:off x="512064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Provide credentials</a:t>
              </a:r>
              <a:endParaRPr lang="en-US" sz="900" dirty="0"/>
            </a:p>
          </p:txBody>
        </p:sp>
        <p:sp>
          <p:nvSpPr>
            <p:cNvPr id="66" name="Text 32">
              <a:extLst>
                <a:ext uri="{FF2B5EF4-FFF2-40B4-BE49-F238E27FC236}">
                  <a16:creationId xmlns:a16="http://schemas.microsoft.com/office/drawing/2014/main" id="{3EE0A717-885E-5DF0-827E-5C46F7DFC82C}"/>
                </a:ext>
              </a:extLst>
            </p:cNvPr>
            <p:cNvSpPr/>
            <p:nvPr/>
          </p:nvSpPr>
          <p:spPr>
            <a:xfrm>
              <a:off x="489204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7" name="Text 33">
              <a:extLst>
                <a:ext uri="{FF2B5EF4-FFF2-40B4-BE49-F238E27FC236}">
                  <a16:creationId xmlns:a16="http://schemas.microsoft.com/office/drawing/2014/main" id="{317C402E-6AF2-B624-7416-FD63F4EF31B2}"/>
                </a:ext>
              </a:extLst>
            </p:cNvPr>
            <p:cNvSpPr/>
            <p:nvPr/>
          </p:nvSpPr>
          <p:spPr>
            <a:xfrm>
              <a:off x="512064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Prepare code mapping</a:t>
              </a:r>
              <a:endParaRPr lang="en-US" sz="900" dirty="0"/>
            </a:p>
          </p:txBody>
        </p:sp>
        <p:sp>
          <p:nvSpPr>
            <p:cNvPr id="68" name="Text 34">
              <a:extLst>
                <a:ext uri="{FF2B5EF4-FFF2-40B4-BE49-F238E27FC236}">
                  <a16:creationId xmlns:a16="http://schemas.microsoft.com/office/drawing/2014/main" id="{C4C2232F-C106-F2EB-003A-FCCD4143DDB0}"/>
                </a:ext>
              </a:extLst>
            </p:cNvPr>
            <p:cNvSpPr/>
            <p:nvPr/>
          </p:nvSpPr>
          <p:spPr>
            <a:xfrm>
              <a:off x="4874788" y="2626739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69" name="Text 35">
              <a:extLst>
                <a:ext uri="{FF2B5EF4-FFF2-40B4-BE49-F238E27FC236}">
                  <a16:creationId xmlns:a16="http://schemas.microsoft.com/office/drawing/2014/main" id="{E417FD5F-4D9B-A69B-8325-CFB919C4F9E8}"/>
                </a:ext>
              </a:extLst>
            </p:cNvPr>
            <p:cNvSpPr/>
            <p:nvPr/>
          </p:nvSpPr>
          <p:spPr>
            <a:xfrm>
              <a:off x="5103388" y="2626739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SureTax submission</a:t>
              </a:r>
              <a:endParaRPr lang="en-US" sz="900" dirty="0"/>
            </a:p>
          </p:txBody>
        </p:sp>
        <p:sp>
          <p:nvSpPr>
            <p:cNvPr id="70" name="Shape 36">
              <a:extLst>
                <a:ext uri="{FF2B5EF4-FFF2-40B4-BE49-F238E27FC236}">
                  <a16:creationId xmlns:a16="http://schemas.microsoft.com/office/drawing/2014/main" id="{CF1B1728-E54E-19E7-B967-1F5E8B2724F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1" name="Text 37">
              <a:extLst>
                <a:ext uri="{FF2B5EF4-FFF2-40B4-BE49-F238E27FC236}">
                  <a16:creationId xmlns:a16="http://schemas.microsoft.com/office/drawing/2014/main" id="{22E75DAE-FE12-CC8C-1A4F-B45045AF7894}"/>
                </a:ext>
              </a:extLst>
            </p:cNvPr>
            <p:cNvSpPr/>
            <p:nvPr/>
          </p:nvSpPr>
          <p:spPr>
            <a:xfrm>
              <a:off x="475488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3 days</a:t>
              </a:r>
              <a:endParaRPr lang="en-US" sz="900" dirty="0"/>
            </a:p>
          </p:txBody>
        </p:sp>
        <p:sp>
          <p:nvSpPr>
            <p:cNvPr id="72" name="Shape 38">
              <a:extLst>
                <a:ext uri="{FF2B5EF4-FFF2-40B4-BE49-F238E27FC236}">
                  <a16:creationId xmlns:a16="http://schemas.microsoft.com/office/drawing/2014/main" id="{E497E642-79B5-2D32-E46C-84925F9F9A47}"/>
                </a:ext>
              </a:extLst>
            </p:cNvPr>
            <p:cNvSpPr/>
            <p:nvPr/>
          </p:nvSpPr>
          <p:spPr>
            <a:xfrm>
              <a:off x="6858000" y="1554480"/>
              <a:ext cx="1965960" cy="1828800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rgbClr val="E6E7E8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73" name="Shape 39">
              <a:extLst>
                <a:ext uri="{FF2B5EF4-FFF2-40B4-BE49-F238E27FC236}">
                  <a16:creationId xmlns:a16="http://schemas.microsoft.com/office/drawing/2014/main" id="{72CC4D66-F931-A61C-BF45-314757EC00E2}"/>
                </a:ext>
              </a:extLst>
            </p:cNvPr>
            <p:cNvSpPr/>
            <p:nvPr/>
          </p:nvSpPr>
          <p:spPr>
            <a:xfrm>
              <a:off x="6858000" y="1554480"/>
              <a:ext cx="1965960" cy="45720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4" name="Text 40">
              <a:extLst>
                <a:ext uri="{FF2B5EF4-FFF2-40B4-BE49-F238E27FC236}">
                  <a16:creationId xmlns:a16="http://schemas.microsoft.com/office/drawing/2014/main" id="{C5579E77-8EEB-25A6-898F-50439C920A00}"/>
                </a:ext>
              </a:extLst>
            </p:cNvPr>
            <p:cNvSpPr/>
            <p:nvPr/>
          </p:nvSpPr>
          <p:spPr>
            <a:xfrm>
              <a:off x="6949440" y="1645920"/>
              <a:ext cx="178308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2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Integrations*</a:t>
              </a:r>
              <a:endParaRPr lang="en-US" sz="1200" dirty="0"/>
            </a:p>
          </p:txBody>
        </p:sp>
        <p:sp>
          <p:nvSpPr>
            <p:cNvPr id="75" name="Text 41">
              <a:extLst>
                <a:ext uri="{FF2B5EF4-FFF2-40B4-BE49-F238E27FC236}">
                  <a16:creationId xmlns:a16="http://schemas.microsoft.com/office/drawing/2014/main" id="{A332CEEF-CCB5-215A-E9FE-73DFD9BB6342}"/>
                </a:ext>
              </a:extLst>
            </p:cNvPr>
            <p:cNvSpPr/>
            <p:nvPr/>
          </p:nvSpPr>
          <p:spPr>
            <a:xfrm>
              <a:off x="6995160" y="214884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6" name="Text 42">
              <a:extLst>
                <a:ext uri="{FF2B5EF4-FFF2-40B4-BE49-F238E27FC236}">
                  <a16:creationId xmlns:a16="http://schemas.microsoft.com/office/drawing/2014/main" id="{261E0ABE-07DE-1954-1E76-66DE40CC0981}"/>
                </a:ext>
              </a:extLst>
            </p:cNvPr>
            <p:cNvSpPr/>
            <p:nvPr/>
          </p:nvSpPr>
          <p:spPr>
            <a:xfrm>
              <a:off x="7223760" y="214884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Client prioritizes</a:t>
              </a:r>
              <a:endParaRPr lang="en-US" sz="900" dirty="0"/>
            </a:p>
          </p:txBody>
        </p:sp>
        <p:sp>
          <p:nvSpPr>
            <p:cNvPr id="77" name="Text 43">
              <a:extLst>
                <a:ext uri="{FF2B5EF4-FFF2-40B4-BE49-F238E27FC236}">
                  <a16:creationId xmlns:a16="http://schemas.microsoft.com/office/drawing/2014/main" id="{F68076F7-D464-89B7-CC32-87034182018E}"/>
                </a:ext>
              </a:extLst>
            </p:cNvPr>
            <p:cNvSpPr/>
            <p:nvPr/>
          </p:nvSpPr>
          <p:spPr>
            <a:xfrm>
              <a:off x="6995160" y="233172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78" name="Text 44">
              <a:extLst>
                <a:ext uri="{FF2B5EF4-FFF2-40B4-BE49-F238E27FC236}">
                  <a16:creationId xmlns:a16="http://schemas.microsoft.com/office/drawing/2014/main" id="{176C1862-9FF5-BEB5-15C1-F04DF8B53E0C}"/>
                </a:ext>
              </a:extLst>
            </p:cNvPr>
            <p:cNvSpPr/>
            <p:nvPr/>
          </p:nvSpPr>
          <p:spPr>
            <a:xfrm>
              <a:off x="7223760" y="233172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Selection-dependent</a:t>
              </a:r>
              <a:endParaRPr lang="en-US" sz="900" dirty="0"/>
            </a:p>
          </p:txBody>
        </p:sp>
        <p:sp>
          <p:nvSpPr>
            <p:cNvPr id="79" name="Text 45">
              <a:extLst>
                <a:ext uri="{FF2B5EF4-FFF2-40B4-BE49-F238E27FC236}">
                  <a16:creationId xmlns:a16="http://schemas.microsoft.com/office/drawing/2014/main" id="{CB7D1AE2-316B-7A70-49D7-5400A2024836}"/>
                </a:ext>
              </a:extLst>
            </p:cNvPr>
            <p:cNvSpPr/>
            <p:nvPr/>
          </p:nvSpPr>
          <p:spPr>
            <a:xfrm>
              <a:off x="6995160" y="2514600"/>
              <a:ext cx="18288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1000" b="1" dirty="0">
                  <a:solidFill>
                    <a:srgbClr val="6EBE4F"/>
                  </a:solidFill>
                </a:rPr>
                <a:t>✓</a:t>
              </a:r>
              <a:endParaRPr lang="en-US" sz="1000" dirty="0"/>
            </a:p>
          </p:txBody>
        </p:sp>
        <p:sp>
          <p:nvSpPr>
            <p:cNvPr id="80" name="Text 46">
              <a:extLst>
                <a:ext uri="{FF2B5EF4-FFF2-40B4-BE49-F238E27FC236}">
                  <a16:creationId xmlns:a16="http://schemas.microsoft.com/office/drawing/2014/main" id="{1EB2061F-3593-F859-2A17-B4FE38F53B8A}"/>
                </a:ext>
              </a:extLst>
            </p:cNvPr>
            <p:cNvSpPr/>
            <p:nvPr/>
          </p:nvSpPr>
          <p:spPr>
            <a:xfrm>
              <a:off x="7223760" y="2514600"/>
              <a:ext cx="1463040" cy="137160"/>
            </a:xfrm>
            <a:prstGeom prst="rect">
              <a:avLst/>
            </a:prstGeom>
            <a:noFill/>
            <a:ln/>
          </p:spPr>
          <p:txBody>
            <a:bodyPr wrap="square" rtlCol="0" anchor="t"/>
            <a:lstStyle/>
            <a:p>
              <a:pPr marL="0" indent="0">
                <a:buNone/>
              </a:pPr>
              <a:r>
                <a:rPr lang="en-US" sz="900" dirty="0">
                  <a:solidFill>
                    <a:srgbClr val="5C5C5C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Rev.io assists setup</a:t>
              </a:r>
              <a:endParaRPr lang="en-US" sz="900" dirty="0"/>
            </a:p>
          </p:txBody>
        </p:sp>
        <p:sp>
          <p:nvSpPr>
            <p:cNvPr id="81" name="Shape 47">
              <a:extLst>
                <a:ext uri="{FF2B5EF4-FFF2-40B4-BE49-F238E27FC236}">
                  <a16:creationId xmlns:a16="http://schemas.microsoft.com/office/drawing/2014/main" id="{97358577-A818-0882-CAD0-82E0E06669CD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Text 48">
              <a:extLst>
                <a:ext uri="{FF2B5EF4-FFF2-40B4-BE49-F238E27FC236}">
                  <a16:creationId xmlns:a16="http://schemas.microsoft.com/office/drawing/2014/main" id="{4A2F6FAA-F17B-CE6F-2D40-7BB8BBA71549}"/>
                </a:ext>
              </a:extLst>
            </p:cNvPr>
            <p:cNvSpPr/>
            <p:nvPr/>
          </p:nvSpPr>
          <p:spPr>
            <a:xfrm>
              <a:off x="6858000" y="3429000"/>
              <a:ext cx="1965960" cy="32004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9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Expected timeline: 5 days</a:t>
              </a:r>
              <a:endParaRPr lang="en-US" sz="900" dirty="0"/>
            </a:p>
          </p:txBody>
        </p:sp>
      </p:grpSp>
      <p:sp>
        <p:nvSpPr>
          <p:cNvPr id="83" name="Text 2">
            <a:extLst>
              <a:ext uri="{FF2B5EF4-FFF2-40B4-BE49-F238E27FC236}">
                <a16:creationId xmlns:a16="http://schemas.microsoft.com/office/drawing/2014/main" id="{D4F59F92-7559-9702-4C03-B221E2981ADD}"/>
              </a:ext>
            </a:extLst>
          </p:cNvPr>
          <p:cNvSpPr/>
          <p:nvPr/>
        </p:nvSpPr>
        <p:spPr>
          <a:xfrm>
            <a:off x="441894" y="315695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EBE4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ONBOARDING ASSISTED</a:t>
            </a:r>
            <a:endParaRPr lang="en-US" sz="1400" dirty="0"/>
          </a:p>
        </p:txBody>
      </p:sp>
      <p:sp>
        <p:nvSpPr>
          <p:cNvPr id="84" name="Text 3">
            <a:extLst>
              <a:ext uri="{FF2B5EF4-FFF2-40B4-BE49-F238E27FC236}">
                <a16:creationId xmlns:a16="http://schemas.microsoft.com/office/drawing/2014/main" id="{A73F0216-E017-0959-4D5F-C5C1C040CAD8}"/>
              </a:ext>
            </a:extLst>
          </p:cNvPr>
          <p:cNvSpPr/>
          <p:nvPr/>
        </p:nvSpPr>
        <p:spPr>
          <a:xfrm>
            <a:off x="441894" y="681455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1D3756"/>
                </a:solidFill>
                <a:latin typeface="Montserrat" pitchFamily="34" charset="0"/>
              </a:rPr>
              <a:t>Preparing You to be Operations Ready</a:t>
            </a:r>
            <a:endParaRPr lang="en-US" sz="2800" dirty="0"/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52FFA1EA-79D3-7029-E22D-E945F0F0EC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sp>
        <p:nvSpPr>
          <p:cNvPr id="86" name="Text 4">
            <a:extLst>
              <a:ext uri="{FF2B5EF4-FFF2-40B4-BE49-F238E27FC236}">
                <a16:creationId xmlns:a16="http://schemas.microsoft.com/office/drawing/2014/main" id="{7BD69CE9-7B04-6F0B-736D-4D2ACD3B65D2}"/>
              </a:ext>
            </a:extLst>
          </p:cNvPr>
          <p:cNvSpPr/>
          <p:nvPr/>
        </p:nvSpPr>
        <p:spPr>
          <a:xfrm>
            <a:off x="434340" y="4652895"/>
            <a:ext cx="22860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Only Rev.io supported integrations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B9B6D1F-D740-DBF6-FF04-1E93DEBF53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1493C940-F826-007B-BA37-DC6B0CDA5BE1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A77BE0F-4DF1-8094-61CA-AC4AFE6816D6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FAF2BBBB-5125-4F22-A20B-D4C68F6CDAE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F6C067CF-A899-10AF-505D-34807237B90F}"/>
              </a:ext>
            </a:extLst>
          </p:cNvPr>
          <p:cNvGrpSpPr/>
          <p:nvPr/>
        </p:nvGrpSpPr>
        <p:grpSpPr>
          <a:xfrm>
            <a:off x="4209467" y="664711"/>
            <a:ext cx="4114800" cy="3680460"/>
            <a:chOff x="4572000" y="434340"/>
            <a:chExt cx="4114800" cy="3680460"/>
          </a:xfrm>
        </p:grpSpPr>
        <p:sp>
          <p:nvSpPr>
            <p:cNvPr id="4" name="Text 3">
              <a:extLst>
                <a:ext uri="{FF2B5EF4-FFF2-40B4-BE49-F238E27FC236}">
                  <a16:creationId xmlns:a16="http://schemas.microsoft.com/office/drawing/2014/main" id="{47A2C81C-91AC-D473-2C14-2FD6579403B9}"/>
                </a:ext>
              </a:extLst>
            </p:cNvPr>
            <p:cNvSpPr/>
            <p:nvPr/>
          </p:nvSpPr>
          <p:spPr>
            <a:xfrm>
              <a:off x="4572000" y="434340"/>
              <a:ext cx="41148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dirty="0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 dirty="0"/>
            </a:p>
          </p:txBody>
        </p:sp>
        <p:sp>
          <p:nvSpPr>
            <p:cNvPr id="5" name="Text 4">
              <a:extLst>
                <a:ext uri="{FF2B5EF4-FFF2-40B4-BE49-F238E27FC236}">
                  <a16:creationId xmlns:a16="http://schemas.microsoft.com/office/drawing/2014/main" id="{8D8FBEA3-607F-5CFA-5412-42600EE7E233}"/>
                </a:ext>
              </a:extLst>
            </p:cNvPr>
            <p:cNvSpPr/>
            <p:nvPr/>
          </p:nvSpPr>
          <p:spPr>
            <a:xfrm>
              <a:off x="4572000" y="914400"/>
              <a:ext cx="41148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 dirty="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YOUR QUESTIONS ANSWERED</a:t>
              </a:r>
              <a:endParaRPr lang="en-US" sz="2800" dirty="0"/>
            </a:p>
          </p:txBody>
        </p:sp>
        <p:sp>
          <p:nvSpPr>
            <p:cNvPr id="6" name="Shape 7">
              <a:extLst>
                <a:ext uri="{FF2B5EF4-FFF2-40B4-BE49-F238E27FC236}">
                  <a16:creationId xmlns:a16="http://schemas.microsoft.com/office/drawing/2014/main" id="{31091BCB-C21E-4734-85DD-ABCFD699544B}"/>
                </a:ext>
              </a:extLst>
            </p:cNvPr>
            <p:cNvSpPr/>
            <p:nvPr/>
          </p:nvSpPr>
          <p:spPr>
            <a:xfrm>
              <a:off x="4572000" y="1645920"/>
              <a:ext cx="4114800" cy="1097280"/>
            </a:xfrm>
            <a:prstGeom prst="rect">
              <a:avLst/>
            </a:prstGeom>
            <a:solidFill>
              <a:srgbClr val="1D3756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Shape 8">
              <a:extLst>
                <a:ext uri="{FF2B5EF4-FFF2-40B4-BE49-F238E27FC236}">
                  <a16:creationId xmlns:a16="http://schemas.microsoft.com/office/drawing/2014/main" id="{34DA7D2F-B173-7B3A-767F-671036EAD93D}"/>
                </a:ext>
              </a:extLst>
            </p:cNvPr>
            <p:cNvSpPr/>
            <p:nvPr/>
          </p:nvSpPr>
          <p:spPr>
            <a:xfrm>
              <a:off x="4572000" y="1645920"/>
              <a:ext cx="73152" cy="109728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Text 9">
              <a:extLst>
                <a:ext uri="{FF2B5EF4-FFF2-40B4-BE49-F238E27FC236}">
                  <a16:creationId xmlns:a16="http://schemas.microsoft.com/office/drawing/2014/main" id="{26BD16F7-12F0-E9F2-0CBC-F657CCA1C7A2}"/>
                </a:ext>
              </a:extLst>
            </p:cNvPr>
            <p:cNvSpPr/>
            <p:nvPr/>
          </p:nvSpPr>
          <p:spPr>
            <a:xfrm>
              <a:off x="4846320" y="178308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Documentation Center</a:t>
              </a:r>
              <a:endParaRPr lang="en-US" sz="1400" dirty="0"/>
            </a:p>
          </p:txBody>
        </p:sp>
        <p:sp>
          <p:nvSpPr>
            <p:cNvPr id="9" name="Text 10">
              <a:extLst>
                <a:ext uri="{FF2B5EF4-FFF2-40B4-BE49-F238E27FC236}">
                  <a16:creationId xmlns:a16="http://schemas.microsoft.com/office/drawing/2014/main" id="{E878F02E-E8D5-0359-91B5-205443EFCE6B}"/>
                </a:ext>
              </a:extLst>
            </p:cNvPr>
            <p:cNvSpPr/>
            <p:nvPr/>
          </p:nvSpPr>
          <p:spPr>
            <a:xfrm>
              <a:off x="4846320" y="2103120"/>
              <a:ext cx="3657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300" dirty="0">
                  <a:solidFill>
                    <a:srgbClr val="F8F8F8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Articles and videos in lower left corner</a:t>
              </a:r>
              <a:endParaRPr lang="en-US" sz="1300" dirty="0"/>
            </a:p>
          </p:txBody>
        </p:sp>
        <p:sp>
          <p:nvSpPr>
            <p:cNvPr id="10" name="Shape 11">
              <a:extLst>
                <a:ext uri="{FF2B5EF4-FFF2-40B4-BE49-F238E27FC236}">
                  <a16:creationId xmlns:a16="http://schemas.microsoft.com/office/drawing/2014/main" id="{4B2C49E6-D576-277D-B242-0E43127393D6}"/>
                </a:ext>
              </a:extLst>
            </p:cNvPr>
            <p:cNvSpPr/>
            <p:nvPr/>
          </p:nvSpPr>
          <p:spPr>
            <a:xfrm>
              <a:off x="4572000" y="2926080"/>
              <a:ext cx="4114800" cy="1188720"/>
            </a:xfrm>
            <a:prstGeom prst="rect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Shape 12">
              <a:extLst>
                <a:ext uri="{FF2B5EF4-FFF2-40B4-BE49-F238E27FC236}">
                  <a16:creationId xmlns:a16="http://schemas.microsoft.com/office/drawing/2014/main" id="{0E76869A-4912-BDAA-C43A-15C77B2131C0}"/>
                </a:ext>
              </a:extLst>
            </p:cNvPr>
            <p:cNvSpPr/>
            <p:nvPr/>
          </p:nvSpPr>
          <p:spPr>
            <a:xfrm>
              <a:off x="4572000" y="2926080"/>
              <a:ext cx="73152" cy="1188720"/>
            </a:xfrm>
            <a:prstGeom prst="rect">
              <a:avLst/>
            </a:prstGeom>
            <a:solidFill>
              <a:srgbClr val="6EBE4F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Text 13">
              <a:extLst>
                <a:ext uri="{FF2B5EF4-FFF2-40B4-BE49-F238E27FC236}">
                  <a16:creationId xmlns:a16="http://schemas.microsoft.com/office/drawing/2014/main" id="{3CCD8E91-DA29-91FB-A2FD-2CE25B48F220}"/>
                </a:ext>
              </a:extLst>
            </p:cNvPr>
            <p:cNvSpPr/>
            <p:nvPr/>
          </p:nvSpPr>
          <p:spPr>
            <a:xfrm>
              <a:off x="4846320" y="3063240"/>
              <a:ext cx="3657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Get Help Button</a:t>
              </a:r>
              <a:endParaRPr lang="en-US" sz="1400" dirty="0"/>
            </a:p>
          </p:txBody>
        </p:sp>
        <p:sp>
          <p:nvSpPr>
            <p:cNvPr id="13" name="Text 14">
              <a:extLst>
                <a:ext uri="{FF2B5EF4-FFF2-40B4-BE49-F238E27FC236}">
                  <a16:creationId xmlns:a16="http://schemas.microsoft.com/office/drawing/2014/main" id="{F3894F95-CF8A-BF3C-13B7-360BC1F41CA5}"/>
                </a:ext>
              </a:extLst>
            </p:cNvPr>
            <p:cNvSpPr/>
            <p:nvPr/>
          </p:nvSpPr>
          <p:spPr>
            <a:xfrm>
              <a:off x="4846320" y="3383280"/>
              <a:ext cx="3657600" cy="64008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Located in top right corner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Select </a:t>
              </a:r>
              <a:r>
                <a:rPr lang="en-US" sz="1200" i="1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"I got stuck or confused"</a:t>
              </a:r>
              <a:endParaRPr lang="en-US" sz="1200" dirty="0"/>
            </a:p>
            <a:p>
              <a:pPr marL="0" indent="0">
                <a:buNone/>
              </a:pPr>
              <a:r>
                <a:rPr lang="en-US" sz="1200" dirty="0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support tickets for basic QA</a:t>
              </a:r>
              <a:endParaRPr lang="en-US" sz="1200" dirty="0"/>
            </a:p>
          </p:txBody>
        </p:sp>
      </p:grpSp>
      <p:pic>
        <p:nvPicPr>
          <p:cNvPr id="14" name="Picture 13" descr="A screenshot of a contact support&#10;&#10;AI-generated content may be incorrect.">
            <a:extLst>
              <a:ext uri="{FF2B5EF4-FFF2-40B4-BE49-F238E27FC236}">
                <a16:creationId xmlns:a16="http://schemas.microsoft.com/office/drawing/2014/main" id="{D73D3464-DAD1-76E8-B2E7-B2FC0361274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8073" t="24465"/>
          <a:stretch>
            <a:fillRect/>
          </a:stretch>
        </p:blipFill>
        <p:spPr>
          <a:xfrm>
            <a:off x="1110995" y="518922"/>
            <a:ext cx="2278739" cy="408279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02768600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2D04A64-E2FA-25B2-2A5A-B061B7743C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Freeform 2">
            <a:extLst>
              <a:ext uri="{FF2B5EF4-FFF2-40B4-BE49-F238E27FC236}">
                <a16:creationId xmlns:a16="http://schemas.microsoft.com/office/drawing/2014/main" id="{DE44E14E-12E5-74CE-56D5-F5933AEA7FFA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custGeom>
            <a:avLst/>
            <a:gdLst/>
            <a:ahLst/>
            <a:cxnLst/>
            <a:rect l="l" t="t" r="r" b="b"/>
            <a:pathLst>
              <a:path w="23012386" h="13414092">
                <a:moveTo>
                  <a:pt x="0" y="0"/>
                </a:moveTo>
                <a:lnTo>
                  <a:pt x="23012386" y="0"/>
                </a:lnTo>
                <a:lnTo>
                  <a:pt x="23012386" y="13414091"/>
                </a:lnTo>
                <a:lnTo>
                  <a:pt x="0" y="1341409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717" r="-7145" b="-1717"/>
            </a:stretch>
          </a:blipFill>
        </p:spPr>
        <p:txBody>
          <a:bodyPr/>
          <a:lstStyle/>
          <a:p>
            <a:endParaRPr lang="en-US" dirty="0"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917F29E5-9993-207F-1BA5-CD1D128A4CE9}"/>
              </a:ext>
            </a:extLst>
          </p:cNvPr>
          <p:cNvSpPr/>
          <p:nvPr/>
        </p:nvSpPr>
        <p:spPr>
          <a:xfrm>
            <a:off x="7496157" y="3716089"/>
            <a:ext cx="10808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buNone/>
            </a:pPr>
            <a:endParaRPr lang="en-US" sz="1500" dirty="0">
              <a:latin typeface="Montserrat" pitchFamily="2" charset="77"/>
            </a:endParaRPr>
          </a:p>
        </p:txBody>
      </p:sp>
      <p:pic>
        <p:nvPicPr>
          <p:cNvPr id="85" name="Picture 84" descr="A blue and black logo&#10;&#10;AI-generated content may be incorrect.">
            <a:extLst>
              <a:ext uri="{FF2B5EF4-FFF2-40B4-BE49-F238E27FC236}">
                <a16:creationId xmlns:a16="http://schemas.microsoft.com/office/drawing/2014/main" id="{75C6F023-C146-4074-7902-AC089557E2F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63864" y="4384775"/>
            <a:ext cx="1438242" cy="719121"/>
          </a:xfrm>
          <a:prstGeom prst="rect">
            <a:avLst/>
          </a:prstGeom>
        </p:spPr>
      </p:pic>
      <p:grpSp>
        <p:nvGrpSpPr>
          <p:cNvPr id="2" name="Group 1">
            <a:extLst>
              <a:ext uri="{FF2B5EF4-FFF2-40B4-BE49-F238E27FC236}">
                <a16:creationId xmlns:a16="http://schemas.microsoft.com/office/drawing/2014/main" id="{AB6D6F81-D18F-BDEC-E2A7-51A8CA0CA9E9}"/>
              </a:ext>
            </a:extLst>
          </p:cNvPr>
          <p:cNvGrpSpPr/>
          <p:nvPr/>
        </p:nvGrpSpPr>
        <p:grpSpPr>
          <a:xfrm>
            <a:off x="457200" y="365760"/>
            <a:ext cx="8229600" cy="4114800"/>
            <a:chOff x="457200" y="365760"/>
            <a:chExt cx="8229600" cy="4114800"/>
          </a:xfrm>
        </p:grpSpPr>
        <p:sp>
          <p:nvSpPr>
            <p:cNvPr id="14" name="Text 1">
              <a:extLst>
                <a:ext uri="{FF2B5EF4-FFF2-40B4-BE49-F238E27FC236}">
                  <a16:creationId xmlns:a16="http://schemas.microsoft.com/office/drawing/2014/main" id="{6FB5C8ED-68AA-AD80-4E93-06D3EA9E4CA6}"/>
                </a:ext>
              </a:extLst>
            </p:cNvPr>
            <p:cNvSpPr/>
            <p:nvPr/>
          </p:nvSpPr>
          <p:spPr>
            <a:xfrm>
              <a:off x="457200" y="365760"/>
              <a:ext cx="8229600" cy="27432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 b="1">
                  <a:solidFill>
                    <a:srgbClr val="6EBE4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SUPPORT &amp; COMMUNICATION</a:t>
              </a:r>
              <a:endParaRPr lang="en-US" sz="1400"/>
            </a:p>
          </p:txBody>
        </p:sp>
        <p:sp>
          <p:nvSpPr>
            <p:cNvPr id="15" name="Text 2">
              <a:extLst>
                <a:ext uri="{FF2B5EF4-FFF2-40B4-BE49-F238E27FC236}">
                  <a16:creationId xmlns:a16="http://schemas.microsoft.com/office/drawing/2014/main" id="{1DCBBC4C-3EF9-FF42-17A8-3E5296F09A19}"/>
                </a:ext>
              </a:extLst>
            </p:cNvPr>
            <p:cNvSpPr/>
            <p:nvPr/>
          </p:nvSpPr>
          <p:spPr>
            <a:xfrm>
              <a:off x="457200" y="731520"/>
              <a:ext cx="8229600" cy="45720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2800" b="1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Submit Your Suggestions</a:t>
              </a:r>
              <a:endParaRPr lang="en-US" sz="2800"/>
            </a:p>
          </p:txBody>
        </p:sp>
        <p:sp>
          <p:nvSpPr>
            <p:cNvPr id="16" name="Text 3">
              <a:extLst>
                <a:ext uri="{FF2B5EF4-FFF2-40B4-BE49-F238E27FC236}">
                  <a16:creationId xmlns:a16="http://schemas.microsoft.com/office/drawing/2014/main" id="{1AF6777B-4B60-FDED-B8A4-CDA86E2F495F}"/>
                </a:ext>
              </a:extLst>
            </p:cNvPr>
            <p:cNvSpPr/>
            <p:nvPr/>
          </p:nvSpPr>
          <p:spPr>
            <a:xfrm>
              <a:off x="457200" y="1339251"/>
              <a:ext cx="4272233" cy="263537"/>
            </a:xfrm>
            <a:prstGeom prst="rect">
              <a:avLst/>
            </a:prstGeom>
            <a:noFill/>
            <a:ln/>
          </p:spPr>
          <p:txBody>
            <a:bodyPr wrap="square" lIns="91440" tIns="45720" rIns="91440" bIns="45720" rtlCol="0" anchor="ctr"/>
            <a:lstStyle/>
            <a:p>
              <a:r>
                <a:rPr lang="en-US" sz="1600">
                  <a:solidFill>
                    <a:srgbClr val="1A3656"/>
                  </a:solidFill>
                  <a:latin typeface="Montserrat"/>
                  <a:ea typeface="Montserrat" pitchFamily="34" charset="-122"/>
                  <a:cs typeface="Montserrat" pitchFamily="34" charset="-120"/>
                </a:rPr>
                <a:t>Have an idea or feature suggestion? Need additional training?</a:t>
              </a:r>
              <a:endParaRPr lang="en-US" sz="1600" err="1">
                <a:solidFill>
                  <a:srgbClr val="1A3656"/>
                </a:solidFill>
              </a:endParaRPr>
            </a:p>
          </p:txBody>
        </p:sp>
        <p:sp>
          <p:nvSpPr>
            <p:cNvPr id="17" name="Shape 4">
              <a:extLst>
                <a:ext uri="{FF2B5EF4-FFF2-40B4-BE49-F238E27FC236}">
                  <a16:creationId xmlns:a16="http://schemas.microsoft.com/office/drawing/2014/main" id="{84EA4213-0D2A-7BD2-BFFF-6EC03D6BDBF0}"/>
                </a:ext>
              </a:extLst>
            </p:cNvPr>
            <p:cNvSpPr/>
            <p:nvPr/>
          </p:nvSpPr>
          <p:spPr>
            <a:xfrm>
              <a:off x="457200" y="182880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8" name="Shape 5">
              <a:extLst>
                <a:ext uri="{FF2B5EF4-FFF2-40B4-BE49-F238E27FC236}">
                  <a16:creationId xmlns:a16="http://schemas.microsoft.com/office/drawing/2014/main" id="{8CE98027-549A-7C23-46BC-DD96566E8D3B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6">
              <a:extLst>
                <a:ext uri="{FF2B5EF4-FFF2-40B4-BE49-F238E27FC236}">
                  <a16:creationId xmlns:a16="http://schemas.microsoft.com/office/drawing/2014/main" id="{0EC87F81-AE8D-B9C4-F4FB-86410D157995}"/>
                </a:ext>
              </a:extLst>
            </p:cNvPr>
            <p:cNvSpPr/>
            <p:nvPr/>
          </p:nvSpPr>
          <p:spPr>
            <a:xfrm>
              <a:off x="640080" y="187452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1</a:t>
              </a:r>
              <a:endParaRPr lang="en-US" sz="1600"/>
            </a:p>
          </p:txBody>
        </p:sp>
        <p:sp>
          <p:nvSpPr>
            <p:cNvPr id="20" name="Text 7">
              <a:extLst>
                <a:ext uri="{FF2B5EF4-FFF2-40B4-BE49-F238E27FC236}">
                  <a16:creationId xmlns:a16="http://schemas.microsoft.com/office/drawing/2014/main" id="{91AD69D1-CCE9-46D5-0DDF-AF741D3CCA9E}"/>
                </a:ext>
              </a:extLst>
            </p:cNvPr>
            <p:cNvSpPr/>
            <p:nvPr/>
          </p:nvSpPr>
          <p:spPr>
            <a:xfrm>
              <a:off x="1143000" y="187452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Navigate to the Community tab</a:t>
              </a:r>
              <a:endParaRPr lang="en-US" sz="1400"/>
            </a:p>
          </p:txBody>
        </p:sp>
        <p:sp>
          <p:nvSpPr>
            <p:cNvPr id="21" name="Shape 8">
              <a:extLst>
                <a:ext uri="{FF2B5EF4-FFF2-40B4-BE49-F238E27FC236}">
                  <a16:creationId xmlns:a16="http://schemas.microsoft.com/office/drawing/2014/main" id="{E0FEFB75-42C3-A157-4769-16AFEB27EAD9}"/>
                </a:ext>
              </a:extLst>
            </p:cNvPr>
            <p:cNvSpPr/>
            <p:nvPr/>
          </p:nvSpPr>
          <p:spPr>
            <a:xfrm>
              <a:off x="457200" y="237744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2" name="Shape 9">
              <a:extLst>
                <a:ext uri="{FF2B5EF4-FFF2-40B4-BE49-F238E27FC236}">
                  <a16:creationId xmlns:a16="http://schemas.microsoft.com/office/drawing/2014/main" id="{D30EC2BA-45AF-E5F7-BFBF-64D54C796272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3" name="Text 10">
              <a:extLst>
                <a:ext uri="{FF2B5EF4-FFF2-40B4-BE49-F238E27FC236}">
                  <a16:creationId xmlns:a16="http://schemas.microsoft.com/office/drawing/2014/main" id="{F67256CE-12B1-4E90-FDAB-D28DFC6393AA}"/>
                </a:ext>
              </a:extLst>
            </p:cNvPr>
            <p:cNvSpPr/>
            <p:nvPr/>
          </p:nvSpPr>
          <p:spPr>
            <a:xfrm>
              <a:off x="640080" y="242316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2</a:t>
              </a:r>
              <a:endParaRPr lang="en-US" sz="1600"/>
            </a:p>
          </p:txBody>
        </p:sp>
        <p:sp>
          <p:nvSpPr>
            <p:cNvPr id="24" name="Text 11">
              <a:extLst>
                <a:ext uri="{FF2B5EF4-FFF2-40B4-BE49-F238E27FC236}">
                  <a16:creationId xmlns:a16="http://schemas.microsoft.com/office/drawing/2014/main" id="{A1C08989-D3B3-31B9-AC65-90E1DFF36D3C}"/>
                </a:ext>
              </a:extLst>
            </p:cNvPr>
            <p:cNvSpPr/>
            <p:nvPr/>
          </p:nvSpPr>
          <p:spPr>
            <a:xfrm>
              <a:off x="1143000" y="242316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Sign up by clicking the link</a:t>
              </a:r>
              <a:endParaRPr lang="en-US" sz="1400"/>
            </a:p>
          </p:txBody>
        </p:sp>
        <p:sp>
          <p:nvSpPr>
            <p:cNvPr id="25" name="Shape 12">
              <a:extLst>
                <a:ext uri="{FF2B5EF4-FFF2-40B4-BE49-F238E27FC236}">
                  <a16:creationId xmlns:a16="http://schemas.microsoft.com/office/drawing/2014/main" id="{CAA59E94-29CE-181F-1953-9313EDBDA122}"/>
                </a:ext>
              </a:extLst>
            </p:cNvPr>
            <p:cNvSpPr/>
            <p:nvPr/>
          </p:nvSpPr>
          <p:spPr>
            <a:xfrm>
              <a:off x="457200" y="292608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6" name="Shape 13">
              <a:extLst>
                <a:ext uri="{FF2B5EF4-FFF2-40B4-BE49-F238E27FC236}">
                  <a16:creationId xmlns:a16="http://schemas.microsoft.com/office/drawing/2014/main" id="{B033FF82-42AC-3140-5B1E-6E95C021E957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Text 14">
              <a:extLst>
                <a:ext uri="{FF2B5EF4-FFF2-40B4-BE49-F238E27FC236}">
                  <a16:creationId xmlns:a16="http://schemas.microsoft.com/office/drawing/2014/main" id="{CFA648D7-054F-A812-0872-BDD7A6B8AFB2}"/>
                </a:ext>
              </a:extLst>
            </p:cNvPr>
            <p:cNvSpPr/>
            <p:nvPr/>
          </p:nvSpPr>
          <p:spPr>
            <a:xfrm>
              <a:off x="640080" y="297180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3</a:t>
              </a:r>
              <a:endParaRPr lang="en-US" sz="1600"/>
            </a:p>
          </p:txBody>
        </p:sp>
        <p:sp>
          <p:nvSpPr>
            <p:cNvPr id="28" name="Text 15">
              <a:extLst>
                <a:ext uri="{FF2B5EF4-FFF2-40B4-BE49-F238E27FC236}">
                  <a16:creationId xmlns:a16="http://schemas.microsoft.com/office/drawing/2014/main" id="{E94DD79B-E62C-76AB-F253-4B295CF27E76}"/>
                </a:ext>
              </a:extLst>
            </p:cNvPr>
            <p:cNvSpPr/>
            <p:nvPr/>
          </p:nvSpPr>
          <p:spPr>
            <a:xfrm>
              <a:off x="1143000" y="297180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Complete the form</a:t>
              </a:r>
              <a:endParaRPr lang="en-US" sz="1400"/>
            </a:p>
          </p:txBody>
        </p:sp>
        <p:sp>
          <p:nvSpPr>
            <p:cNvPr id="29" name="Shape 16">
              <a:extLst>
                <a:ext uri="{FF2B5EF4-FFF2-40B4-BE49-F238E27FC236}">
                  <a16:creationId xmlns:a16="http://schemas.microsoft.com/office/drawing/2014/main" id="{F41547AE-BB42-9C03-D396-7A864ABBD512}"/>
                </a:ext>
              </a:extLst>
            </p:cNvPr>
            <p:cNvSpPr/>
            <p:nvPr/>
          </p:nvSpPr>
          <p:spPr>
            <a:xfrm>
              <a:off x="457200" y="347472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0" name="Shape 17">
              <a:extLst>
                <a:ext uri="{FF2B5EF4-FFF2-40B4-BE49-F238E27FC236}">
                  <a16:creationId xmlns:a16="http://schemas.microsoft.com/office/drawing/2014/main" id="{6819459D-F881-3F10-B8EA-24EE45E9F891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1" name="Text 18">
              <a:extLst>
                <a:ext uri="{FF2B5EF4-FFF2-40B4-BE49-F238E27FC236}">
                  <a16:creationId xmlns:a16="http://schemas.microsoft.com/office/drawing/2014/main" id="{2E015C64-064E-2EA1-AC47-FF677B2CE352}"/>
                </a:ext>
              </a:extLst>
            </p:cNvPr>
            <p:cNvSpPr/>
            <p:nvPr/>
          </p:nvSpPr>
          <p:spPr>
            <a:xfrm>
              <a:off x="640080" y="352044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4</a:t>
              </a:r>
              <a:endParaRPr lang="en-US" sz="1600"/>
            </a:p>
          </p:txBody>
        </p:sp>
        <p:sp>
          <p:nvSpPr>
            <p:cNvPr id="32" name="Text 19">
              <a:extLst>
                <a:ext uri="{FF2B5EF4-FFF2-40B4-BE49-F238E27FC236}">
                  <a16:creationId xmlns:a16="http://schemas.microsoft.com/office/drawing/2014/main" id="{688A1DE8-19B1-11D0-6CC6-911163D9DE35}"/>
                </a:ext>
              </a:extLst>
            </p:cNvPr>
            <p:cNvSpPr/>
            <p:nvPr/>
          </p:nvSpPr>
          <p:spPr>
            <a:xfrm>
              <a:off x="1143000" y="352044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Log in and submit your ideas</a:t>
              </a:r>
              <a:endParaRPr lang="en-US" sz="1400"/>
            </a:p>
          </p:txBody>
        </p:sp>
        <p:sp>
          <p:nvSpPr>
            <p:cNvPr id="33" name="Shape 20">
              <a:extLst>
                <a:ext uri="{FF2B5EF4-FFF2-40B4-BE49-F238E27FC236}">
                  <a16:creationId xmlns:a16="http://schemas.microsoft.com/office/drawing/2014/main" id="{1EFE9DFF-E77A-470C-32CC-19D712B3C2D3}"/>
                </a:ext>
              </a:extLst>
            </p:cNvPr>
            <p:cNvSpPr/>
            <p:nvPr/>
          </p:nvSpPr>
          <p:spPr>
            <a:xfrm>
              <a:off x="457200" y="4023360"/>
              <a:ext cx="5043548" cy="457200"/>
            </a:xfrm>
            <a:prstGeom prst="rect">
              <a:avLst/>
            </a:prstGeom>
            <a:solidFill>
              <a:srgbClr val="F8F8F8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5" name="Shape 21">
              <a:extLst>
                <a:ext uri="{FF2B5EF4-FFF2-40B4-BE49-F238E27FC236}">
                  <a16:creationId xmlns:a16="http://schemas.microsoft.com/office/drawing/2014/main" id="{0796420B-A06B-E0EB-F774-978174EBFD26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ellipse">
              <a:avLst/>
            </a:prstGeom>
            <a:solidFill>
              <a:srgbClr val="2399B5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Text 22">
              <a:extLst>
                <a:ext uri="{FF2B5EF4-FFF2-40B4-BE49-F238E27FC236}">
                  <a16:creationId xmlns:a16="http://schemas.microsoft.com/office/drawing/2014/main" id="{7753A82A-0A7D-B8E1-61E3-8FAC0FE821FF}"/>
                </a:ext>
              </a:extLst>
            </p:cNvPr>
            <p:cNvSpPr/>
            <p:nvPr/>
          </p:nvSpPr>
          <p:spPr>
            <a:xfrm>
              <a:off x="640080" y="4069080"/>
              <a:ext cx="36576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 algn="ctr">
                <a:buNone/>
              </a:pPr>
              <a:r>
                <a:rPr lang="en-US" sz="1600" b="1">
                  <a:solidFill>
                    <a:srgbClr val="FFFFFF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5</a:t>
              </a:r>
              <a:endParaRPr lang="en-US" sz="1600"/>
            </a:p>
          </p:txBody>
        </p:sp>
        <p:sp>
          <p:nvSpPr>
            <p:cNvPr id="38" name="Text 23">
              <a:extLst>
                <a:ext uri="{FF2B5EF4-FFF2-40B4-BE49-F238E27FC236}">
                  <a16:creationId xmlns:a16="http://schemas.microsoft.com/office/drawing/2014/main" id="{4D6FFFC5-0962-6B1E-81E5-D2A3C689E56C}"/>
                </a:ext>
              </a:extLst>
            </p:cNvPr>
            <p:cNvSpPr/>
            <p:nvPr/>
          </p:nvSpPr>
          <p:spPr>
            <a:xfrm>
              <a:off x="1143000" y="4069080"/>
              <a:ext cx="7315200" cy="365760"/>
            </a:xfrm>
            <a:prstGeom prst="rect">
              <a:avLst/>
            </a:prstGeom>
            <a:noFill/>
            <a:ln/>
          </p:spPr>
          <p:txBody>
            <a:bodyPr wrap="square" rtlCol="0" anchor="ctr"/>
            <a:lstStyle/>
            <a:p>
              <a:pPr marL="0" indent="0">
                <a:buNone/>
              </a:pPr>
              <a:r>
                <a:rPr lang="en-US" sz="1400">
                  <a:solidFill>
                    <a:srgbClr val="1D3756"/>
                  </a:solidFill>
                  <a:latin typeface="Montserrat" pitchFamily="34" charset="0"/>
                  <a:ea typeface="Montserrat" pitchFamily="34" charset="-122"/>
                  <a:cs typeface="Montserrat" pitchFamily="34" charset="-120"/>
                </a:rPr>
                <a:t>Product team reviews submissions</a:t>
              </a:r>
              <a:endParaRPr lang="en-US" sz="1400"/>
            </a:p>
          </p:txBody>
        </p:sp>
      </p:grpSp>
      <p:sp>
        <p:nvSpPr>
          <p:cNvPr id="40" name="Text 24">
            <a:extLst>
              <a:ext uri="{FF2B5EF4-FFF2-40B4-BE49-F238E27FC236}">
                <a16:creationId xmlns:a16="http://schemas.microsoft.com/office/drawing/2014/main" id="{33B44CDE-D789-0CE7-5203-495DC324DE1D}"/>
              </a:ext>
            </a:extLst>
          </p:cNvPr>
          <p:cNvSpPr/>
          <p:nvPr/>
        </p:nvSpPr>
        <p:spPr>
          <a:xfrm>
            <a:off x="457200" y="4625463"/>
            <a:ext cx="270662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C5C5C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* Implementation is not guaranteed</a:t>
            </a:r>
            <a:endParaRPr lang="en-US" sz="1000" dirty="0"/>
          </a:p>
        </p:txBody>
      </p:sp>
      <p:grpSp>
        <p:nvGrpSpPr>
          <p:cNvPr id="45" name="Group 44">
            <a:extLst>
              <a:ext uri="{FF2B5EF4-FFF2-40B4-BE49-F238E27FC236}">
                <a16:creationId xmlns:a16="http://schemas.microsoft.com/office/drawing/2014/main" id="{16F7F53E-600C-F529-DAF5-3367E06FCA36}"/>
              </a:ext>
            </a:extLst>
          </p:cNvPr>
          <p:cNvGrpSpPr/>
          <p:nvPr/>
        </p:nvGrpSpPr>
        <p:grpSpPr>
          <a:xfrm>
            <a:off x="5657949" y="955776"/>
            <a:ext cx="3044157" cy="3483218"/>
            <a:chOff x="5657949" y="1216152"/>
            <a:chExt cx="2940045" cy="3222841"/>
          </a:xfrm>
          <a:effectLst/>
        </p:grpSpPr>
        <p:pic>
          <p:nvPicPr>
            <p:cNvPr id="41" name="Picture 12">
              <a:extLst>
                <a:ext uri="{FF2B5EF4-FFF2-40B4-BE49-F238E27FC236}">
                  <a16:creationId xmlns:a16="http://schemas.microsoft.com/office/drawing/2014/main" id="{D919F488-75C6-71CB-8BCC-08D130EFF35C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r="52626" b="50708"/>
            <a:stretch>
              <a:fillRect/>
            </a:stretch>
          </p:blipFill>
          <p:spPr bwMode="auto">
            <a:xfrm>
              <a:off x="5657949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2" name="Picture 12">
              <a:extLst>
                <a:ext uri="{FF2B5EF4-FFF2-40B4-BE49-F238E27FC236}">
                  <a16:creationId xmlns:a16="http://schemas.microsoft.com/office/drawing/2014/main" id="{D52BE9F1-EC7C-64BC-1E06-3DE48B8A7B9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t="50395" r="52153"/>
            <a:stretch>
              <a:fillRect/>
            </a:stretch>
          </p:blipFill>
          <p:spPr bwMode="auto">
            <a:xfrm>
              <a:off x="7159752" y="2852089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3" name="Picture 12">
              <a:extLst>
                <a:ext uri="{FF2B5EF4-FFF2-40B4-BE49-F238E27FC236}">
                  <a16:creationId xmlns:a16="http://schemas.microsoft.com/office/drawing/2014/main" id="{78862598-06F5-A959-612E-A677BD22528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1176" r="1450" b="50708"/>
            <a:stretch>
              <a:fillRect/>
            </a:stretch>
          </p:blipFill>
          <p:spPr bwMode="auto">
            <a:xfrm>
              <a:off x="7168896" y="1216152"/>
              <a:ext cx="1424020" cy="157276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4" name="Picture 12">
              <a:extLst>
                <a:ext uri="{FF2B5EF4-FFF2-40B4-BE49-F238E27FC236}">
                  <a16:creationId xmlns:a16="http://schemas.microsoft.com/office/drawing/2014/main" id="{46B4C4E5-CCFA-7B23-83AA-DAC7DF01078B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52153" t="50395"/>
            <a:stretch>
              <a:fillRect/>
            </a:stretch>
          </p:blipFill>
          <p:spPr bwMode="auto">
            <a:xfrm>
              <a:off x="5657949" y="2856242"/>
              <a:ext cx="1438242" cy="158275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3151378818"/>
      </p:ext>
    </p:extLst>
  </p:cSld>
  <p:clrMapOvr>
    <a:masterClrMapping/>
  </p:clrMapOvr>
</p:sld>
</file>

<file path=ppt/slides/slide11.xml><?xml version="1.0" encoding="utf-8"?>
<ns0:sld xmlns:ns0="http://schemas.openxmlformats.org/presentationml/2006/main" xmlns:ns1="http://schemas.openxmlformats.org/drawingml/2006/main" xmlns:ns2="http://schemas.microsoft.com/office/drawing/2014/main" xmlns:ns3="http://schemas.openxmlformats.org/officeDocument/2006/relationships" xmlns:ns4="http://schemas.microsoft.com/office/powerpoint/2010/main">
  <ns0:cSld>
    <ns0:bg>
      <ns0:bgPr>
        <ns1:solidFill>
          <ns1:srgbClr val="FFFFFF"/>
        </ns1:solidFill>
        <ns1:effectLst/>
      </ns0:bgPr>
    </ns0:bg>
    <ns0:spTree>
      <ns0:nvGrpSpPr>
        <ns0:cNvPr id="1" name="">
          <ns1:extLst>
            <ns1:ext uri="{FF2B5EF4-FFF2-40B4-BE49-F238E27FC236}">
              <ns2:creationId id="{0CA39810-A2DA-86BD-4F5D-78E299C3BCB6}"/>
            </ns1:ext>
          </ns1:extLst>
        </ns0:cNvPr>
        <ns0:cNvGrpSpPr/>
        <ns0:nvPr/>
      </ns0:nvGrpSpPr>
      <ns0:grpSpPr>
        <ns1:xfrm>
          <ns1:off x="0" y="0"/>
          <ns1:ext cx="0" cy="0"/>
          <ns1:chOff x="0" y="0"/>
          <ns1:chExt cx="0" cy="0"/>
        </ns1:xfrm>
      </ns0:grpSpPr>
      <ns0:sp>
        <ns0:nvSpPr>
          <ns0:cNvPr id="21" name="Text 19">
            <ns1:extLst>
              <ns1:ext uri="{FF2B5EF4-FFF2-40B4-BE49-F238E27FC236}">
                <ns2:creationId id="{95B0CC5F-5A6F-D38A-4FA2-8D12B4C8ADB9}"/>
              </ns1:ext>
            </ns1:extLst>
          </ns0:cNvPr>
          <ns0:cNvSpPr/>
          <ns0:nvPr/>
        </ns0:nvSpPr>
        <ns0:spPr>
          <ns1:xfrm>
            <ns1:off x="6324600" y="1456398"/>
            <ns1:ext cx="2448306" cy="186630"/>
          </ns1:xfrm>
          <ns1:prstGeom prst="rect">
            <ns1:avLst/>
          </ns1:prstGeom>
          <ns1:noFill/>
          <ns1:ln/>
        </ns0:spPr>
        <ns0:txBody>
          <ns1:bodyPr wrap="square" lIns="0" tIns="0" rIns="0" bIns="0" rtlCol="0" anchor="t"/>
          <ns1:lstStyle/>
          <ns1:p>
            <ns1:pPr marL="0" indent="0" algn="l">
              <ns1:lnSpc>
                <ns1:spcPts val="1470"/>
              </ns1:lnSpc>
              <ns1:buNone/>
            </ns1:pPr>
            <ns1:r>
              <ns1:rPr lang="en-US" sz="1050" b="1" dirty="0">
                <ns1:solidFill>
                  <ns1:srgbClr val="1A3656"/>
                </ns1:solidFill>
                <ns1:latin typeface="Montserrat" pitchFamily="2" charset="77"/>
                <ns1:ea typeface="Segoe UI" pitchFamily="34" charset="-122"/>
                <ns1:cs typeface="Segoe UI" pitchFamily="34" charset="-120"/>
              </ns1:rPr>
              <ns1:t>Security Aligns Naturally</ns1:t>
            </ns1:r>
            <ns1:endParaRPr lang="en-US" sz="1050" dirty="0">
              <ns1:solidFill>
                <ns1:srgbClr val="1A3656"/>
              </ns1:solidFill>
              <ns1:latin typeface="Montserrat" pitchFamily="2" charset="77"/>
            </ns1:endParaRPr>
          </ns1:p>
        </ns0:txBody>
      </ns0:sp>
      <ns0:sp>
        <ns0:nvSpPr>
          <ns0:cNvPr id="35" name="Freeform 10">
            <ns1:extLst>
              <ns1:ext uri="{FF2B5EF4-FFF2-40B4-BE49-F238E27FC236}">
                <ns2:creationId id="{69E32E10-2D22-C64B-13DC-65C2B3B37FEC}"/>
              </ns1:ext>
            </ns1:extLst>
          </ns0:cNvPr>
          <ns0:cNvSpPr/>
          <ns0:nvPr/>
        </ns0:nvSpPr>
        <ns0:spPr>
          <ns1:xfrm>
            <ns1:off x="7336320" y="4581107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  <ns0:grpSp>
        <ns0:nvGrpSpPr>
          <ns0:cNvPr id="33" name="Group 32">
            <ns1:extLst>
              <ns1:ext uri="{FF2B5EF4-FFF2-40B4-BE49-F238E27FC236}">
                <ns2:creationId id="{7ACD8B27-4A5F-258C-60CE-26C3BF724A3E}"/>
              </ns1:ext>
            </ns1:extLst>
          </ns0:cNvPr>
          <ns0:cNvGrpSpPr/>
          <ns0:nvPr/>
        </ns0:nvGrpSpPr>
        <ns0:grpSpPr>
          <ns1:xfrm>
            <ns1:off x="0" y="86967"/>
            <ns1:ext cx="9144000" cy="5143500"/>
            <ns1:chOff x="0" y="13989"/>
            <ns1:chExt cx="9144000" cy="5143500"/>
          </ns1:xfrm>
        </ns0:grpSpPr>
        <ns0:sp>
          <ns0:nvSpPr>
            <ns0:cNvPr id="32" name="Rectangle 31">
              <ns1:extLst>
                <ns1:ext uri="{FF2B5EF4-FFF2-40B4-BE49-F238E27FC236}">
                  <ns2:creationId id="{413942F2-6CF6-538E-D92E-B20EA1213F47}"/>
                </ns1:ext>
              </ns1:extLst>
            </ns0:cNvPr>
            <ns0:cNvSpPr/>
            <ns0:nvPr/>
          </ns0:nvSpPr>
          <ns0:spPr>
            <ns1:xfrm>
              <ns1:off x="0" y="13989"/>
              <ns1:ext cx="9144000" cy="5143500"/>
            </ns1:xfrm>
            <ns1:prstGeom prst="rect">
              <ns1:avLst/>
            </ns1:prstGeom>
            <ns1:solidFill>
              <ns1:srgbClr val="1A3656"/>
            </ns1:solidFill>
          </ns0:spPr>
          <ns0:style>
            <ns1:lnRef idx="2">
              <ns1:schemeClr val="accent1">
                <ns1:shade val="15000"/>
              </ns1:schemeClr>
            </ns1:lnRef>
            <ns1:fillRef idx="1">
              <ns1:schemeClr val="accent1"/>
            </ns1:fillRef>
            <ns1:effectRef idx="0">
              <ns1:schemeClr val="accent1"/>
            </ns1:effectRef>
            <ns1:fontRef idx="minor">
              <ns1:schemeClr val="lt1"/>
            </ns1:fontRef>
          </ns0:style>
          <ns0:txBody>
            <ns1:bodyPr rtlCol="0" anchor="ctr"/>
            <ns1:lstStyle/>
            <ns1:p>
              <ns1:pPr algn="ctr"/>
              <ns1:endParaRPr lang="en-US"/>
            </ns1:p>
          </ns0:txBody>
        </ns0:sp>
        <ns0:grpSp>
          <ns0:nvGrpSpPr>
            <ns0:cNvPr id="3" name="Group 2">
              <ns1:extLst>
                <ns1:ext uri="{FF2B5EF4-FFF2-40B4-BE49-F238E27FC236}">
                  <ns2:creationId id="{B25498A5-F2E6-9F92-B6F2-45FA186B3241}"/>
                </ns1:ext>
              </ns1:extLst>
            </ns0:cNvPr>
            <ns0:cNvGrpSpPr/>
            <ns0:nvPr/>
          </ns0:nvGrpSpPr>
          <ns0:grpSpPr>
            <ns1:xfrm>
              <ns1:off x="457200" y="320040"/>
              <ns1:ext cx="8229600" cy="4389120"/>
              <ns1:chOff x="457200" y="320040"/>
              <ns1:chExt cx="8229600" cy="4389120"/>
            </ns1:xfrm>
          </ns0:grpSpPr>
          <ns0:sp>
            <ns0:nvSpPr>
              <ns0:cNvPr id="4" name="Text 3">
                <ns1:extLst>
                  <ns1:ext uri="{FF2B5EF4-FFF2-40B4-BE49-F238E27FC236}">
                    <ns2:creationId id="{A4EF0E0C-6878-F022-1A82-72E9E53764F9}"/>
                  </ns1:ext>
                </ns1:extLst>
              </ns0:cNvPr>
              <ns0:cNvSpPr/>
              <ns0:nvPr/>
            </ns0:nvSpPr>
            <ns0:spPr>
              <ns1:xfrm>
                <ns1:off x="457200" y="32004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2399B5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DISCUSSION TOPICS</ns1:t>
                </ns1:r>
                <ns1:endParaRPr lang="en-US" sz="1400"/>
              </ns1:p>
            </ns0:txBody>
          </ns0:sp>
          <ns0:sp>
            <ns0:nvSpPr>
              <ns0:cNvPr id="5" name="Text 4">
                <ns1:extLst>
                  <ns1:ext uri="{FF2B5EF4-FFF2-40B4-BE49-F238E27FC236}">
                    <ns2:creationId id="{CB95E5CA-D834-116E-F905-5B4A03BFF5FC}"/>
                  </ns1:ext>
                </ns1:extLst>
              </ns0:cNvPr>
              <ns0:cNvSpPr/>
              <ns0:nvPr/>
            </ns0:nvSpPr>
            <ns0:spPr>
              <ns1:xfrm>
                <ns1:off x="457200" y="685800"/>
                <ns1:ext cx="8229600" cy="5486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2800" b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What’s Next?</ns1:t>
                </ns1:r>
                <ns1:endParaRPr lang="en-US" sz="2800"/>
              </ns1:p>
            </ns0:txBody>
          </ns0:sp>
          <ns0:sp>
            <ns0:nvSpPr>
              <ns0:cNvPr id="6" name="Text 5">
                <ns1:extLst>
                  <ns1:ext uri="{FF2B5EF4-FFF2-40B4-BE49-F238E27FC236}">
                    <ns2:creationId id="{02CDC88D-4CDE-487F-9D87-A24E81998B89}"/>
                  </ns1:ext>
                </ns1:extLst>
              </ns0:cNvPr>
              <ns0:cNvSpPr/>
              <ns0:nvPr/>
            </ns0:nvSpPr>
            <ns0:spPr>
              <ns1:xfrm>
                <ns1:off x="457200" y="1325880"/>
                <ns1:ext cx="8229600" cy="27432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 i="1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Your action items to get started</ns1:t>
                </ns1:r>
                <ns1:endParaRPr lang="en-US" sz="1400">
                  <ns1:solidFill>
                    <ns1:srgbClr val="FFFFFF"/>
                  </ns1:solidFill>
                </ns1:endParaRPr>
              </ns1:p>
            </ns0:txBody>
          </ns0:sp>
          <ns0:sp>
            <ns0:nvSpPr>
              <ns0:cNvPr id="7" name="Text 8">
                <ns1:extLst>
                  <ns1:ext uri="{FF2B5EF4-FFF2-40B4-BE49-F238E27FC236}">
                    <ns2:creationId id="{4BBAAD93-6D98-D38B-6230-88335F71EB25}"/>
                  </ns1:ext>
                </ns1:extLst>
              </ns0:cNvPr>
              <ns0:cNvSpPr/>
              <ns0:nvPr/>
            </ns0:nvSpPr>
            <ns0:spPr>
              <ns1:xfrm>
                <ns1:off x="1188720" y="19202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Set kickoff target date and time</ns1:t>
                </ns1:r>
                <ns1:endParaRPr lang="en-US" sz="1400"/>
              </ns1:p>
            </ns0:txBody>
          </ns0:sp>
          <ns0:sp>
            <ns0:nvSpPr>
              <ns0:cNvPr id="8" name="Shape 9">
                <ns1:extLst>
                  <ns1:ext uri="{FF2B5EF4-FFF2-40B4-BE49-F238E27FC236}">
                    <ns2:creationId id="{5AECF63F-741E-A8EE-A6ED-6C19691EB481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9" name="Text 10">
                <ns1:extLst>
                  <ns1:ext uri="{FF2B5EF4-FFF2-40B4-BE49-F238E27FC236}">
                    <ns2:creationId id="{65216675-A510-1F32-DB27-9CB379ED6076}"/>
                  </ns1:ext>
                </ns1:extLst>
              </ns0:cNvPr>
              <ns0:cNvSpPr/>
              <ns0:nvPr/>
            </ns0:nvSpPr>
            <ns0:spPr>
              <ns1:xfrm>
                <ns1:off x="731520" y="23317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0" name="Text 11">
                <ns1:extLst>
                  <ns1:ext uri="{FF2B5EF4-FFF2-40B4-BE49-F238E27FC236}">
                    <ns2:creationId id="{F04E2227-CC18-C64B-FE97-25674D8D1067}"/>
                  </ns1:ext>
                </ns1:extLst>
              </ns0:cNvPr>
              <ns0:cNvSpPr/>
              <ns0:nvPr/>
            </ns0:nvSpPr>
            <ns0:spPr>
              <ns1:xfrm>
                <ns1:off x="1188720" y="23317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Vanessa vs. Shawn onboarding ownership and approval authority</ns1:t>
                </ns1:r>
                <ns1:endParaRPr lang="en-US" sz="1400"/>
              </ns1:p>
            </ns0:txBody>
          </ns0:sp>
          <ns0:sp>
            <ns0:nvSpPr>
              <ns0:cNvPr id="11" name="Shape 12">
                <ns1:extLst>
                  <ns1:ext uri="{FF2B5EF4-FFF2-40B4-BE49-F238E27FC236}">
                    <ns2:creationId id="{89189F7E-C4E6-DACB-6F49-A8BDD81B98D4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2" name="Text 13">
                <ns1:extLst>
                  <ns1:ext uri="{FF2B5EF4-FFF2-40B4-BE49-F238E27FC236}">
                    <ns2:creationId id="{D646F9DC-2CAF-363E-E2F9-84D8C7B81365}"/>
                  </ns1:ext>
                </ns1:extLst>
              </ns0:cNvPr>
              <ns0:cNvSpPr/>
              <ns0:nvPr/>
            </ns0:nvSpPr>
            <ns0:spPr>
              <ns1:xfrm>
                <ns1:off x="731520" y="274320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3" name="Text 14">
                <ns1:extLst>
                  <ns1:ext uri="{FF2B5EF4-FFF2-40B4-BE49-F238E27FC236}">
                    <ns2:creationId id="{27CF2A5F-79F1-AA91-B435-9ABE8D4E3B7A}"/>
                  </ns1:ext>
                </ns1:extLst>
              </ns0:cNvPr>
              <ns0:cNvSpPr/>
              <ns0:nvPr/>
            </ns0:nvSpPr>
            <ns0:spPr>
              <ns1:xfrm>
                <ns1:off x="1188720" y="274320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Sue O'Keefe role</ns1:t>
                </ns1:r>
                <ns1:endParaRPr lang="en-US" sz="1400"/>
              </ns1:p>
            </ns0:txBody>
          </ns0:sp>
          <ns0:sp>
            <ns0:nvSpPr>
              <ns0:cNvPr id="14" name="Shape 15">
                <ns1:extLst>
                  <ns1:ext uri="{FF2B5EF4-FFF2-40B4-BE49-F238E27FC236}">
                    <ns2:creationId id="{402F73A6-DE23-7666-819C-6A0EA4B65387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5" name="Text 16">
                <ns1:extLst>
                  <ns1:ext uri="{FF2B5EF4-FFF2-40B4-BE49-F238E27FC236}">
                    <ns2:creationId id="{60E0F09E-223A-5F4C-230C-AF0BC7B7E4AF}"/>
                  </ns1:ext>
                </ns1:extLst>
              </ns0:cNvPr>
              <ns0:cNvSpPr/>
              <ns0:nvPr/>
            </ns0:nvSpPr>
            <ns0:spPr>
              <ns1:xfrm>
                <ns1:off x="731520" y="315468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16" name="Text 17">
                <ns1:extLst>
                  <ns1:ext uri="{FF2B5EF4-FFF2-40B4-BE49-F238E27FC236}">
                    <ns2:creationId id="{6F80BDE0-029B-71D8-BE97-8AC204A5645A}"/>
                  </ns1:ext>
                </ns1:extLst>
              </ns0:cNvPr>
              <ns0:cNvSpPr/>
              <ns0:nvPr/>
            </ns0:nvSpPr>
            <ns0:spPr>
              <ns1:xfrm>
                <ns1:off x="1188720" y="315468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merchant statements for Rev.io Payments migration</ns1:t>
                </ns1:r>
                <ns1:endParaRPr lang="en-US" sz="1400"/>
              </ns1:p>
            </ns0:txBody>
          </ns0:sp>
          <ns0:sp>
            <ns0:nvSpPr>
              <ns0:cNvPr id="17" name="Shape 18">
                <ns1:extLst>
                  <ns1:ext uri="{FF2B5EF4-FFF2-40B4-BE49-F238E27FC236}">
                    <ns2:creationId id="{6D65581D-81A8-00D6-D5E9-C1E1D8CC68D7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19" name="Text 19">
                <ns1:extLst>
                  <ns1:ext uri="{FF2B5EF4-FFF2-40B4-BE49-F238E27FC236}">
                    <ns2:creationId id="{61A826BD-506F-3795-9AE6-7CEB437908E4}"/>
                  </ns1:ext>
                </ns1:extLst>
              </ns0:cNvPr>
              <ns0:cNvSpPr/>
              <ns0:nvPr/>
            </ns0:nvSpPr>
            <ns0:spPr>
              <ns1:xfrm>
                <ns1:off x="731520" y="356616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0" name="Text 20">
                <ns1:extLst>
                  <ns1:ext uri="{FF2B5EF4-FFF2-40B4-BE49-F238E27FC236}">
                    <ns2:creationId id="{FE432067-9A72-0EBB-2737-61D660EEF585}"/>
                  </ns1:ext>
                </ns1:extLst>
              </ns0:cNvPr>
              <ns0:cNvSpPr/>
              <ns0:nvPr/>
            </ns0:nvSpPr>
            <ns0:spPr>
              <ns1:xfrm>
                <ns1:off x="1188720" y="356616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QuickBooks Desktop workaround and accounting plan</ns1:t>
                </ns1:r>
                <ns1:endParaRPr lang="en-US" sz="1400"/>
              </ns1:p>
            </ns0:txBody>
          </ns0:sp>
          <ns0:sp>
            <ns0:nvSpPr>
              <ns0:cNvPr id="22" name="Shape 21">
                <ns1:extLst>
                  <ns1:ext uri="{FF2B5EF4-FFF2-40B4-BE49-F238E27FC236}">
                    <ns2:creationId id="{B6AD7EF1-C0DD-860E-713E-0B6CA9265051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3" name="Text 22">
                <ns1:extLst>
                  <ns1:ext uri="{FF2B5EF4-FFF2-40B4-BE49-F238E27FC236}">
                    <ns2:creationId id="{4A5C94A8-18F9-387C-7B04-FFDB565B5C17}"/>
                  </ns1:ext>
                </ns1:extLst>
              </ns0:cNvPr>
              <ns0:cNvSpPr/>
              <ns0:nvPr/>
            </ns0:nvSpPr>
            <ns0:spPr>
              <ns1:xfrm>
                <ns1:off x="731520" y="397764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4" name="Text 23">
                <ns1:extLst>
                  <ns1:ext uri="{FF2B5EF4-FFF2-40B4-BE49-F238E27FC236}">
                    <ns2:creationId id="{D3CE3FD5-50A2-B7EB-062C-01325125CADB}"/>
                  </ns1:ext>
                </ns1:extLst>
              </ns0:cNvPr>
              <ns0:cNvSpPr/>
              <ns0:nvPr/>
            </ns0:nvSpPr>
            <ns0:spPr>
              <ns1:xfrm>
                <ns1:off x="1188720" y="397764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Collect GL/chart of accounts details</ns1:t>
                </ns1:r>
                <ns1:endParaRPr lang="en-US" sz="1400"/>
              </ns1:p>
            </ns0:txBody>
          </ns0:sp>
          <ns0:sp>
            <ns0:nvSpPr>
              <ns0:cNvPr id="25" name="Shape 24">
                <ns1:extLst>
                  <ns1:ext uri="{FF2B5EF4-FFF2-40B4-BE49-F238E27FC236}">
                    <ns2:creationId id="{B3A06F4B-B74F-FDA6-3856-6DD0317FAEF6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solidFill>
                <ns1:srgbClr val="FFFFFF"/>
              </ns1:solidFill>
              <ns1:ln w="25400">
                <ns1:solidFill>
                  <ns1:srgbClr val="2399B5"/>
                </ns1:solidFill>
                <ns1:prstDash val="solid"/>
              </ns1:ln>
            </ns0:spPr>
            <ns0:txBody>
              <ns1:bodyPr/>
              <ns1:lstStyle/>
              <ns1:p>
                <ns1:endParaRPr lang="en-US"/>
              </ns1:p>
            </ns0:txBody>
          </ns0:sp>
          <ns0:sp>
            <ns0:nvSpPr>
              <ns0:cNvPr id="26" name="Text 25">
                <ns1:extLst>
                  <ns1:ext uri="{FF2B5EF4-FFF2-40B4-BE49-F238E27FC236}">
                    <ns2:creationId id="{C4B86BBA-1080-0A94-DFB8-2B9EEDEDA1E2}"/>
                  </ns1:ext>
                </ns1:extLst>
              </ns0:cNvPr>
              <ns0:cNvSpPr/>
              <ns0:nvPr/>
            </ns0:nvSpPr>
            <ns0:spPr>
              <ns1:xfrm>
                <ns1:off x="731520" y="4389120"/>
                <ns1:ext cx="32004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 algn="ctr">
                  <ns1:buNone/>
                </ns1:pPr>
                <ns1:r>
                  <ns1:rPr lang="en-US" sz="1800" b="1">
                    <ns1:solidFill>
                      <ns1:srgbClr val="6EBE4F"/>
                    </ns1:solidFill>
                  </ns1:rPr>
                  <ns1:t>✓</ns1:t>
                </ns1:r>
                <ns1:endParaRPr lang="en-US" sz="1800"/>
              </ns1:p>
            </ns0:txBody>
          </ns0:sp>
          <ns0:sp>
            <ns0:nvSpPr>
              <ns0:cNvPr id="27" name="Text 26">
                <ns1:extLst>
                  <ns1:ext uri="{FF2B5EF4-FFF2-40B4-BE49-F238E27FC236}">
                    <ns2:creationId id="{56D656AC-56B5-9578-B73A-8A29451ABCFD}"/>
                  </ns1:ext>
                </ns1:extLst>
              </ns0:cNvPr>
              <ns0:cNvSpPr/>
              <ns0:nvPr/>
            </ns0:nvSpPr>
            <ns0:spPr>
              <ns1:xfrm>
                <ns1:off x="1188720" y="4389120"/>
                <ns1:ext cx="7223760" cy="320040"/>
              </ns1:xfrm>
              <ns1:prstGeom prst="rect">
                <ns1:avLst/>
              </ns1:prstGeom>
              <ns1:noFill/>
              <ns1:ln/>
            </ns0:spPr>
            <ns0:txBody>
              <ns1:bodyPr wrap="square" rtlCol="0" anchor="ctr"/>
              <ns1:lstStyle/>
              <ns1:p>
                <ns1:pPr marL="0" indent="0">
                  <ns1:buNone/>
                </ns1:pPr>
                <ns1:r>
                  <ns1:rPr lang="en-US" sz="1400">
                    <ns1:solidFill>
                      <ns1:srgbClr val="FFFFFF"/>
                    </ns1:solidFill>
                    <ns1:latin typeface="Montserrat" pitchFamily="34" charset="0"/>
                    <ns1:ea typeface="Montserrat" pitchFamily="34" charset="-122"/>
                    <ns1:cs typeface="Montserrat" pitchFamily="34" charset="-120"/>
                  </ns1:rPr>
                  <ns1:t>Confirm field mobile workflow priorities</ns1:t>
                </ns1:r>
                <ns1:endParaRPr lang="en-US" sz="1400"/>
              </ns1:p>
            </ns0:txBody>
          </ns0:sp>
        </ns0:grpSp>
        <ns0:sp>
          <ns0:nvSpPr>
            <ns0:cNvPr id="30" name="Shape 9">
              <ns1:extLst>
                <ns1:ext uri="{FF2B5EF4-FFF2-40B4-BE49-F238E27FC236}">
                  <ns2:creationId id="{29CCE3E8-D32B-C473-3ABA-7DCC65D3D7F1}"/>
                </ns1:ext>
              </ns1:extLst>
            </ns0:cNvPr>
            <ns0:cNvSpPr/>
            <ns0:nvPr/>
          </ns0:nvSpPr>
          <ns0:spPr>
            <ns1:xfrm>
              <ns1:off x="737616" y="1935480"/>
              <ns1:ext cx="320040" cy="320040"/>
            </ns1:xfrm>
            <ns1:prstGeom prst="rect">
              <ns1:avLst/>
            </ns1:prstGeom>
            <ns1:solidFill>
              <ns1:srgbClr val="FFFFFF"/>
            </ns1:solidFill>
            <ns1:ln w="25400">
              <ns1:solidFill>
                <ns1:srgbClr val="2399B5"/>
              </ns1:solidFill>
              <ns1:prstDash val="solid"/>
            </ns1:ln>
          </ns0:spPr>
          <ns0:txBody>
            <ns1:bodyPr/>
            <ns1:lstStyle/>
            <ns1:p>
              <ns1:endParaRPr lang="en-US"/>
            </ns1:p>
          </ns0:txBody>
        </ns0:sp>
      </ns0:grpSp>
      <ns0:sp>
        <ns0:nvSpPr>
          <ns0:cNvPr id="31" name="Text 10">
            <ns1:extLst>
              <ns1:ext uri="{FF2B5EF4-FFF2-40B4-BE49-F238E27FC236}">
                <ns2:creationId id="{33BD86F8-9BC0-B3BF-1A6D-3D44C620123C}"/>
              </ns1:ext>
            </ns1:extLst>
          </ns0:cNvPr>
          <ns0:cNvSpPr/>
          <ns0:nvPr/>
        </ns0:nvSpPr>
        <ns0:spPr>
          <ns1:xfrm>
            <ns1:off x="737616" y="2000216"/>
            <ns1:ext cx="320040" cy="320040"/>
          </ns1:xfrm>
          <ns1:prstGeom prst="rect">
            <ns1:avLst/>
          </ns1:prstGeom>
          <ns1:noFill/>
          <ns1:ln/>
        </ns0:spPr>
        <ns0:txBody>
          <ns1:bodyPr wrap="square" rtlCol="0" anchor="ctr"/>
          <ns1:lstStyle/>
          <ns1:p>
            <ns1:pPr algn="ctr"/>
            <ns1:r>
              <ns1:rPr lang="en-US" b="1" dirty="0">
                <ns1:solidFill>
                  <ns1:srgbClr val="6EBE4F"/>
                </ns1:solidFill>
              </ns1:rPr>
              <ns1:t>✓</ns1:t>
            </ns1:r>
            <ns1:endParaRPr lang="en-US" sz="1800" dirty="0"/>
          </ns1:p>
        </ns0:txBody>
      </ns0:sp>
      <ns0:sp>
        <ns0:nvSpPr>
          <ns0:cNvPr id="2" name="Freeform 10">
            <ns1:extLst>
              <ns1:ext uri="{FF2B5EF4-FFF2-40B4-BE49-F238E27FC236}">
                <ns2:creationId id="{0F76E402-2265-9E25-3BD3-228E06DCCC67}"/>
              </ns1:ext>
            </ns1:extLst>
          </ns0:cNvPr>
          <ns0:cNvSpPr/>
          <ns0:nvPr/>
        </ns0:nvSpPr>
        <ns0:spPr>
          <ns1:xfrm>
            <ns1:off x="7479576" y="4535151"/>
            <ns1:ext cx="1293330" cy="332292"/>
          </ns1:xfrm>
          <ns1:custGeom>
            <ns1:avLst/>
            <ns1:gdLst/>
            <ns1:ahLst/>
            <ns1:cxnLst/>
            <ns1:rect l="l" t="t" r="r" b="b"/>
            <ns1:pathLst>
              <ns1:path w="2586660" h="664583">
                <ns1:moveTo>
                  <ns1:pt x="0" y="0"/>
                </ns1:moveTo>
                <ns1:lnTo>
                  <ns1:pt x="2586660" y="0"/>
                </ns1:lnTo>
                <ns1:lnTo>
                  <ns1:pt x="2586660" y="664582"/>
                </ns1:lnTo>
                <ns1:lnTo>
                  <ns1:pt x="0" y="664582"/>
                </ns1:lnTo>
                <ns1:lnTo>
                  <ns1:pt x="0" y="0"/>
                </ns1:lnTo>
                <ns1:close/>
              </ns1:path>
            </ns1:pathLst>
          </ns1:custGeom>
          <ns1:blipFill>
            <ns1:blip ns3:embed="rId3"/>
            <ns1:stretch>
              <ns1:fillRect/>
            </ns1:stretch>
          </ns1:blipFill>
        </ns0:spPr>
        <ns0:txBody>
          <ns1:bodyPr/>
          <ns1:lstStyle/>
          <ns1:p>
            <ns1:endParaRPr lang="en-US" sz="900"/>
          </ns1:p>
        </ns0:txBody>
      </ns0:sp>
    </ns0:spTree>
    <ns0:extLst>
      <ns0:ext uri="{BB962C8B-B14F-4D97-AF65-F5344CB8AC3E}">
        <ns4:creationId val="1483844255"/>
      </ns0:ext>
    </ns0:extLst>
  </ns0:cSld>
  <ns0:clrMapOvr>
    <ns1:masterClrMapping/>
  </ns0:clrMapOvr>
</ns0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851" y="0"/>
            <a:ext cx="9140300" cy="5143500"/>
          </a:xfrm>
          <a:custGeom>
            <a:avLst/>
            <a:gdLst/>
            <a:ahLst/>
            <a:cxnLst/>
            <a:rect l="l" t="t" r="r" b="b"/>
            <a:pathLst>
              <a:path w="18280599" h="10287000">
                <a:moveTo>
                  <a:pt x="0" y="0"/>
                </a:moveTo>
                <a:lnTo>
                  <a:pt x="18280598" y="0"/>
                </a:lnTo>
                <a:lnTo>
                  <a:pt x="18280598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  <p:sp>
        <p:nvSpPr>
          <p:cNvPr id="3" name="Freeform 3"/>
          <p:cNvSpPr/>
          <p:nvPr/>
        </p:nvSpPr>
        <p:spPr>
          <a:xfrm>
            <a:off x="3122218" y="2199262"/>
            <a:ext cx="2899564" cy="744976"/>
          </a:xfrm>
          <a:custGeom>
            <a:avLst/>
            <a:gdLst/>
            <a:ahLst/>
            <a:cxnLst/>
            <a:rect l="l" t="t" r="r" b="b"/>
            <a:pathLst>
              <a:path w="5799127" h="1489952">
                <a:moveTo>
                  <a:pt x="0" y="0"/>
                </a:moveTo>
                <a:lnTo>
                  <a:pt x="5799128" y="0"/>
                </a:lnTo>
                <a:lnTo>
                  <a:pt x="5799128" y="1489952"/>
                </a:lnTo>
                <a:lnTo>
                  <a:pt x="0" y="14899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9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igrationWizId xmlns="fcc6e3aa-4ea7-4eb8-8e8b-9dc206a45512" xsi:nil="true"/>
    <MigrationWizIdVersion xmlns="fcc6e3aa-4ea7-4eb8-8e8b-9dc206a45512" xsi:nil="true"/>
    <MigrationWizIdPermissions xmlns="fcc6e3aa-4ea7-4eb8-8e8b-9dc206a45512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32FE5CA277198469C57A537D9A7A0EB" ma:contentTypeVersion="12" ma:contentTypeDescription="Create a new document." ma:contentTypeScope="" ma:versionID="667d41d1ccc7f1394c4b8267aa7c0068">
  <xsd:schema xmlns:xsd="http://www.w3.org/2001/XMLSchema" xmlns:xs="http://www.w3.org/2001/XMLSchema" xmlns:p="http://schemas.microsoft.com/office/2006/metadata/properties" xmlns:ns2="fcc6e3aa-4ea7-4eb8-8e8b-9dc206a45512" xmlns:ns3="5487fdd6-6a39-4bd3-9172-23a32ded92d6" targetNamespace="http://schemas.microsoft.com/office/2006/metadata/properties" ma:root="true" ma:fieldsID="bc3b870150e57ca2a142b0cbd1efd805" ns2:_="" ns3:_="">
    <xsd:import namespace="fcc6e3aa-4ea7-4eb8-8e8b-9dc206a45512"/>
    <xsd:import namespace="5487fdd6-6a39-4bd3-9172-23a32ded92d6"/>
    <xsd:element name="properties">
      <xsd:complexType>
        <xsd:sequence>
          <xsd:element name="documentManagement">
            <xsd:complexType>
              <xsd:all>
                <xsd:element ref="ns2:MigrationWizId" minOccurs="0"/>
                <xsd:element ref="ns2:MigrationWizIdPermissions" minOccurs="0"/>
                <xsd:element ref="ns2:MigrationWizIdVersion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3:SharedWithUsers" minOccurs="0"/>
                <xsd:element ref="ns3:SharedWithDetail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cc6e3aa-4ea7-4eb8-8e8b-9dc206a45512" elementFormDefault="qualified">
    <xsd:import namespace="http://schemas.microsoft.com/office/2006/documentManagement/types"/>
    <xsd:import namespace="http://schemas.microsoft.com/office/infopath/2007/PartnerControls"/>
    <xsd:element name="MigrationWizId" ma:index="8" nillable="true" ma:displayName="MigrationWizId" ma:internalName="MigrationWizId">
      <xsd:simpleType>
        <xsd:restriction base="dms:Text"/>
      </xsd:simpleType>
    </xsd:element>
    <xsd:element name="MigrationWizIdPermissions" ma:index="9" nillable="true" ma:displayName="MigrationWizIdPermissions" ma:internalName="MigrationWizIdPermissions">
      <xsd:simpleType>
        <xsd:restriction base="dms:Text"/>
      </xsd:simpleType>
    </xsd:element>
    <xsd:element name="MigrationWizIdVersion" ma:index="10" nillable="true" ma:displayName="MigrationWizIdVersion" ma:internalName="MigrationWizIdVersion">
      <xsd:simpleType>
        <xsd:restriction base="dms:Text"/>
      </xsd:simple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87fdd6-6a39-4bd3-9172-23a32ded92d6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B27BEB0-FB32-4427-97B5-30E1FAD8316B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AC9E0A6-6FC3-47C2-863A-0414D445210F}">
  <ds:schemaRefs>
    <ds:schemaRef ds:uri="http://schemas.microsoft.com/office/2006/metadata/properties"/>
    <ds:schemaRef ds:uri="http://schemas.microsoft.com/office/infopath/2007/PartnerControls"/>
    <ds:schemaRef ds:uri="fcc6e3aa-4ea7-4eb8-8e8b-9dc206a45512"/>
  </ds:schemaRefs>
</ds:datastoreItem>
</file>

<file path=customXml/itemProps3.xml><?xml version="1.0" encoding="utf-8"?>
<ds:datastoreItem xmlns:ds="http://schemas.openxmlformats.org/officeDocument/2006/customXml" ds:itemID="{6740608B-5366-4D7C-9DAF-4E7552C23E8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fcc6e3aa-4ea7-4eb8-8e8b-9dc206a45512"/>
    <ds:schemaRef ds:uri="5487fdd6-6a39-4bd3-9172-23a32ded92d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1499</TotalTime>
  <Words>674</Words>
  <Application>Microsoft Office PowerPoint</Application>
  <PresentationFormat>On-screen Show (16:9)</PresentationFormat>
  <Paragraphs>239</Paragraphs>
  <Slides>12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3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CSP Growth Through Managed IT Security</dc:title>
  <dc:subject>PptxGenJS Presentation</dc:subject>
  <dc:creator>Rev.io</dc:creator>
  <cp:lastModifiedBy>Lauren Swygert</cp:lastModifiedBy>
  <cp:revision>23</cp:revision>
  <dcterms:created xsi:type="dcterms:W3CDTF">2026-01-09T15:25:27Z</dcterms:created>
  <dcterms:modified xsi:type="dcterms:W3CDTF">2026-07-09T21:01:16Z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0x010100A32FE5CA277198469C57A537D9A7A0EB</vt:lpwstr>
  </property>
</Properties>
</file>