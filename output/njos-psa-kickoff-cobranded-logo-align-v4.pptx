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69" r:id="rId5"/>
    <p:sldId id="272" r:id="rId6"/>
    <p:sldId id="273" r:id="rId7"/>
    <p:sldId id="256" r:id="rId8"/>
    <p:sldId id="257" r:id="rId9"/>
    <p:sldId id="258" r:id="rId10"/>
    <p:sldId id="274" r:id="rId11"/>
    <p:sldId id="260" r:id="rId12"/>
    <p:sldId id="275" r:id="rId13"/>
    <p:sldId id="276" r:id="rId14"/>
    <p:sldId id="277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CC1BF-554F-BDF2-994C-C36370127796}" v="2" dt="2026-06-16T17:32:23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971A-87C7-53D3-360C-D3937E76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1BDAA-06E1-D702-D5AA-4A11732D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FE348-DF90-ED7B-9C98-8D89F2002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AE7B-E425-1161-9DAE-0DD3727B3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E06A-934E-9D07-9904-9371D1B6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93E45-FD64-CB3A-E6ED-4DAC7E2A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B9976-0180-275C-B0C9-E1C3D466C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732E-C6CA-097E-73A2-CA0338590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client-logo.png" /></ns0: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Freeform 2"/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18288000" h="10287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3" name="Freeform 3"/>
          <ns0:cNvSpPr/>
          <ns0:nvPr/>
        </ns0:nvSpPr>
        <ns0:spPr>
          <ns1:xfrm>
            <ns1:off x="522891" y="891013"/>
            <ns1:ext cx="2544517" cy="653755"/>
          </ns1:xfrm>
          <ns1:custGeom>
            <ns1:avLst/>
            <ns1:gdLst/>
            <ns1:ahLst/>
            <ns1:cxnLst/>
            <ns1:rect l="l" t="t" r="r" b="b"/>
            <ns1:pathLst>
              <ns1:path w="5089034" h="1307510">
                <ns1:moveTo>
                  <ns1:pt x="0" y="0"/>
                </ns1:moveTo>
                <ns1:lnTo>
                  <ns1:pt x="5089034" y="0"/>
                </ns1:lnTo>
                <ns1:lnTo>
                  <ns1:pt x="5089034" y="1307510"/>
                </ns1:lnTo>
                <ns1:lnTo>
                  <ns1:pt x="0" y="130751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>
              <ns1:alphaModFix amt="99000"/>
            </ns1:blip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4" name="AutoShape 4"/>
          <ns0:cNvSpPr/>
          <ns0:nvPr/>
        </ns0:nvSpPr>
        <ns0:spPr>
          <ns1:xfrm flipV="1">
            <ns1:off x="522891" y="1737971"/>
            <ns1:ext cx="5719123" cy="0"/>
          </ns1:xfrm>
          <ns1:prstGeom prst="line">
            <ns1:avLst/>
          </ns1:prstGeom>
          <ns1:ln w="57150" cap="rnd">
            <ns1:gradFill>
              <ns1:gsLst>
                <ns1:gs pos="0">
                  <ns1:srgbClr val="1667CC">
                    <ns1:alpha val="100000"/>
                  </ns1:srgbClr>
                </ns1:gs>
                <ns1:gs pos="100000">
                  <ns1:srgbClr val="3DC570">
                    <ns1:alpha val="100000"/>
                  </ns1:srgbClr>
                </ns1:gs>
              </ns1:gsLst>
              <ns1:lin ang="2700000"/>
            </ns1:gradFill>
            <ns1:prstDash val="solid"/>
            <ns1:headEnd type="none" w="sm" len="sm"/>
            <ns1:tailEnd type="none" w="sm" len="sm"/>
          </ns1:ln>
        </ns0:spPr>
        <ns0:txBody>
          <ns1:bodyPr/>
          <ns1:lstStyle/>
          <ns1:p>
            <ns1:endParaRPr lang="en-US" sz="900"/>
          </ns1:p>
        </ns0:txBody>
      </ns0:sp>
      <ns0:sp>
        <ns0:nvSpPr>
          <ns0:cNvPr id="5" name="TextBox 5"/>
          <ns0:cNvSpPr txBox="1"/>
          <ns0:nvPr/>
        </ns0:nvSpPr>
        <ns0:spPr>
          <ns1:xfrm>
            <ns1:off x="522891" y="1880847"/>
            <ns1:ext cx="5719123" cy="640000"/>
          </ns1:xfrm>
          <ns1:prstGeom prst="rect">
            <ns1:avLst/>
          </ns1:prstGeom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700">
                <ns1:solidFill>
                  <ns1:srgbClr val="FFFFFF"/>
                </ns1:solidFill>
              </ns1:rPr>
              <ns1:t>New Jersey Office Systems</ns1:t>
            </ns1:r>
            <ns1:endParaRPr lang="en-US"/>
          </ns1:p>
          <ns1:p>
            <ns1:pPr algn="l">
              <ns1:buNone/>
            </ns1:pPr>
            <ns1:r>
              <ns1:rPr lang="en-US" sz="1800">
                <ns1:solidFill>
                  <ns1:srgbClr val="FFFFFF"/>
                </ns1:solidFill>
              </ns1:rPr>
              <ns1:t>Onboarding Kick-off Call</ns1:t>
            </ns1:r>
            <ns1:endParaRPr lang="en-US"/>
          </ns1:p>
        </ns0:txBody>
      </ns0:sp>
      <ns0:sp>
        <ns0:nvSpPr>
          <ns0:cNvPr id="7" name="TextBox 5">
            <ns1:extLst>
              <ns1:ext uri="{FF2B5EF4-FFF2-40B4-BE49-F238E27FC236}">
                <ns3:creationId id="{A4CFBC94-6E4E-6A95-33E4-9648209A10C3}"/>
              </ns1:ext>
            </ns1:extLst>
          </ns0:cNvPr>
          <ns0:cNvSpPr txBox="1"/>
          <ns0:nvPr/>
        </ns0:nvSpPr>
        <ns0:spPr>
          <ns1:xfrm>
            <ns1:off x="522890" y="2580000"/>
            <ns1:ext cx="4791079" cy="360000"/>
          </ns1:xfrm>
          <ns1:prstGeom prst="rect">
            <ns1:avLst/>
          </ns1:prstGeom>
          <ns1:solidFill>
            <ns1:srgbClr val="00FF00"/>
          </ns1:solidFill>
          <ns1:ln>
            <ns1:noFill/>
          </ns1:ln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300" b="1">
                <ns1:solidFill>
                  <ns1:srgbClr val="1D3756"/>
                </ns1:solidFill>
                <ns1:highlight>
                  <ns1:srgbClr val="00FF00"/>
                </ns1:highlight>
              </ns1:rPr>
              <ns1:t>NEEDS: Kickoff date</ns1:t>
            </ns1:r>
            <ns1:endParaRPr lang="en-US"/>
          </ns1:p>
        </ns0:txBody>
      </ns0:sp>
      <ns0:pic>
        <ns0:nvPicPr>
          <ns0:cNvPr id="8" name="Client Logo" descr="Client logo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4733254" y="991576"/>
            <ns1:ext cx="1508760" cy="452628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77741FC1-5157-E652-D4CC-992A9A21E3FE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9D047F12-78D6-0929-7E37-A0703CBCFF30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B64594EE-7C45-FD13-4EFD-F1A5ED9509F6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552FDBD5-28F9-280B-0B7D-E0A8F4108299}"/>
              </ns1:ext>
            </ns1:extLst>
          </ns0:cNvPr>
          <ns0:cNvSpPr/>
          <ns0:nvPr/>
        </ns0:nvSpPr>
        <ns0:spPr>
          <ns1:xfrm>
            <ns1:off x="446820" y="452855"/>
            <ns1:ext cx="3983355" cy="1244293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Contract &amp; Business Case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28" name="Group 27">
            <ns1:extLst>
              <ns1:ext uri="{FF2B5EF4-FFF2-40B4-BE49-F238E27FC236}">
                <ns2:creationId id="{FB03BAAF-7803-9B12-54C8-0AF8C1817E1B}"/>
              </ns1:ext>
            </ns1:extLst>
          </ns0:cNvPr>
          <ns0:cNvGrpSpPr/>
          <ns0:nvPr/>
        </ns0:nvGrpSpPr>
        <ns0:grpSpPr>
          <ns1:xfrm>
            <ns1:off x="457200" y="1709928"/>
            <ns1:ext cx="3840480" cy="1179576"/>
            <ns1:chOff x="457200" y="2157984"/>
            <ns1:chExt cx="3840480" cy="1179576"/>
          </ns1:xfrm>
        </ns0:grpSpPr>
        <ns0:grpSp>
          <ns0:nvGrpSpPr>
            <ns0:cNvPr id="26" name="Group 25">
              <ns1:extLst>
                <ns1:ext uri="{FF2B5EF4-FFF2-40B4-BE49-F238E27FC236}">
                  <ns2:creationId id="{DD5A77A1-6ED0-C5C5-7EF2-D42659BE108E}"/>
                </ns1:ext>
              </ns1:extLst>
            </ns0:cNvPr>
            <ns0:cNvGrpSpPr/>
            <ns0:nvPr/>
          </ns0:nvGrpSpPr>
          <ns0:grpSpPr>
            <ns1:xfrm>
              <ns1:off x="457200" y="2157984"/>
              <ns1:ext cx="3840480" cy="1179576"/>
              <ns1:chOff x="457200" y="2157984"/>
              <ns1:chExt cx="3840480" cy="1179576"/>
            </ns1:xfrm>
          </ns0:grpSpPr>
          <ns0:sp>
            <ns0:nvSpPr>
              <ns0:cNvPr id="5" name="Shape 4">
                <ns1:extLst>
                  <ns1:ext uri="{FF2B5EF4-FFF2-40B4-BE49-F238E27FC236}">
                    <ns2:creationId id="{CB052B5E-6438-2A60-6D7F-86187A185A38}"/>
                  </ns1:ext>
                </ns1:extLst>
              </ns0:cNvPr>
              <ns0:cNvSpPr/>
              <ns0:nvPr/>
            </ns0:nvSpPr>
            <ns0:spPr>
              <ns1:xfrm>
                <ns1:off x="457200" y="2249424"/>
                <ns1:ext cx="3840480" cy="1088136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6" name="Shape 5">
                <ns1:extLst>
                  <ns1:ext uri="{FF2B5EF4-FFF2-40B4-BE49-F238E27FC236}">
                    <ns2:creationId id="{130E358A-5F9A-2E36-A032-EE3ABD4B3D43}"/>
                  </ns1:ext>
                </ns1:extLst>
              </ns0:cNvPr>
              <ns0:cNvSpPr/>
              <ns0:nvPr/>
            </ns0:nvSpPr>
            <ns0:spPr>
              <ns1:xfrm>
                <ns1:off x="457200" y="2157984"/>
                <ns1:ext cx="3840480" cy="411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7" name="Text 6">
              <ns1:extLst>
                <ns1:ext uri="{FF2B5EF4-FFF2-40B4-BE49-F238E27FC236}">
                  <ns2:creationId id="{A07B7AD6-7D90-FFA4-60F2-EBA03EC56E36}"/>
                </ns1:ext>
              </ns1:extLst>
            </ns0:cNvPr>
            <ns0:cNvSpPr/>
            <ns0:nvPr/>
          </ns0:nvSpPr>
          <ns0:spPr>
            <ns1:xfrm>
              <ns1:off x="548640" y="2249424"/>
              <ns1:ext cx="347472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Motivations for Investment</ns1:t>
              </ns1:r>
              <ns1:endParaRPr lang="en-US" sz="1400" dirty="0"/>
            </ns1:p>
          </ns0:txBody>
        </ns0:sp>
        <ns0:sp>
          <ns0:nvSpPr>
            <ns0:cNvPr id="8" name="Text 7">
              <ns1:extLst>
                <ns1:ext uri="{FF2B5EF4-FFF2-40B4-BE49-F238E27FC236}">
                  <ns2:creationId id="{A2AC0942-6C6B-FED2-D450-0C0907410632}"/>
                </ns1:ext>
              </ns1:extLst>
            </ns0:cNvPr>
            <ns0:cNvSpPr/>
            <ns0:nvPr/>
          </ns0:nvSpPr>
          <ns0:spPr>
            <ns1:xfrm>
              <ns1:off x="640080" y="2660904"/>
              <ns1:ext cx="3474720" cy="5029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Replace E-Automate workflow friction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Shared service, field, billing, and AR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1" name="Group 30">
            <ns1:extLst>
              <ns1:ext uri="{FF2B5EF4-FFF2-40B4-BE49-F238E27FC236}">
                <ns2:creationId id="{BC8405FE-33DB-103A-671F-944B1D839188}"/>
              </ns1:ext>
            </ns1:extLst>
          </ns0:cNvPr>
          <ns0:cNvGrpSpPr/>
          <ns0:nvPr/>
        </ns0:nvGrpSpPr>
        <ns0:grpSpPr>
          <ns1:xfrm>
            <ns1:off x="457200" y="3109612"/>
            <ns1:ext cx="3840480" cy="1335024"/>
            <ns1:chOff x="457200" y="3575304"/>
            <ns1:chExt cx="3840480" cy="1335024"/>
          </ns1:xfrm>
        </ns0:grpSpPr>
        <ns0:grpSp>
          <ns0:nvGrpSpPr>
            <ns0:cNvPr id="27" name="Group 26">
              <ns1:extLst>
                <ns1:ext uri="{FF2B5EF4-FFF2-40B4-BE49-F238E27FC236}">
                  <ns2:creationId id="{2D1008F7-3A84-3F6A-AD08-D410DF342D4F}"/>
                </ns1:ext>
              </ns1:extLst>
            </ns0:cNvPr>
            <ns0:cNvGrpSpPr/>
            <ns0:nvPr/>
          </ns0:nvGrpSpPr>
          <ns0:grpSpPr>
            <ns1:xfrm>
              <ns1:off x="457200" y="3575304"/>
              <ns1:ext cx="3840480" cy="1335024"/>
              <ns1:chOff x="457200" y="3575304"/>
              <ns1:chExt cx="3840480" cy="1335024"/>
            </ns1:xfrm>
          </ns0:grpSpPr>
          <ns0:sp>
            <ns0:nvSpPr>
              <ns0:cNvPr id="9" name="Shape 8">
                <ns1:extLst>
                  <ns1:ext uri="{FF2B5EF4-FFF2-40B4-BE49-F238E27FC236}">
                    <ns2:creationId id="{E7FB6875-9262-CB2E-29C4-CB89EC299816}"/>
                  </ns1:ext>
                </ns1:extLst>
              </ns0:cNvPr>
              <ns0:cNvSpPr/>
              <ns0:nvPr/>
            </ns0:nvSpPr>
            <ns0:spPr>
              <ns1:xfrm>
                <ns1:off x="457200" y="3666744"/>
                <ns1:ext cx="3840480" cy="1243584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0" name="Shape 9">
                <ns1:extLst>
                  <ns1:ext uri="{FF2B5EF4-FFF2-40B4-BE49-F238E27FC236}">
                    <ns2:creationId id="{302B2518-8242-7D33-4A13-CBF35641AFF6}"/>
                  </ns1:ext>
                </ns1:extLst>
              </ns0:cNvPr>
              <ns0:cNvSpPr/>
              <ns0:nvPr/>
            </ns0:nvSpPr>
            <ns0:spPr>
              <ns1:xfrm>
                <ns1:off x="457200" y="3575304"/>
                <ns1:ext cx="3840480" cy="411480"/>
              </ns1:xfrm>
              <ns1:prstGeom prst="rect">
                <ns1:avLst/>
              </ns1:prstGeom>
              <ns1:solidFill>
                <ns1:srgbClr val="6EBE4F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" name="Text 10">
              <ns1:extLst>
                <ns1:ext uri="{FF2B5EF4-FFF2-40B4-BE49-F238E27FC236}">
                  <ns2:creationId id="{8BA78F0D-4D13-B38E-54CE-F452EA82C3E3}"/>
                </ns1:ext>
              </ns1:extLst>
            </ns0:cNvPr>
            <ns0:cNvSpPr/>
            <ns0:nvPr/>
          </ns0:nvSpPr>
          <ns0:spPr>
            <ns1:xfrm>
              <ns1:off x="548640" y="3643884"/>
              <ns1:ext cx="36576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How Rev.io Solves These Issues</ns1:t>
              </ns1:r>
              <ns1:endParaRPr lang="en-US" sz="1400" dirty="0"/>
            </ns1:p>
          </ns0:txBody>
        </ns0:sp>
        <ns0:sp>
          <ns0:nvSpPr>
            <ns0:cNvPr id="12" name="Text 11">
              <ns1:extLst>
                <ns1:ext uri="{FF2B5EF4-FFF2-40B4-BE49-F238E27FC236}">
                  <ns2:creationId id="{C1D14B8E-C786-DADF-C23D-E241CFC5C281}"/>
                </ns1:ext>
              </ns1:extLst>
            </ns0:cNvPr>
            <ns0:cNvSpPr/>
            <ns0:nvPr/>
          </ns0:nvSpPr>
          <ns0:spPr>
            <ns1:xfrm>
              <ns1:off x="640080" y="4123943"/>
              <ns1:ext cx="3474720" cy="584975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Simpler ticket and work-order workspace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Centralized operations and payment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2" name="Group 31">
            <ns1:extLst>
              <ns1:ext uri="{FF2B5EF4-FFF2-40B4-BE49-F238E27FC236}">
                <ns2:creationId id="{91815EC7-7305-CD8B-F26E-BAAD93A4A0E5}"/>
              </ns1:ext>
            </ns1:extLst>
          </ns0:cNvPr>
          <ns0:cNvGrpSpPr/>
          <ns0:nvPr/>
        </ns0:nvGrpSpPr>
        <ns0:grpSpPr>
          <ns1:xfrm>
            <ns1:off x="4572000" y="595012"/>
            <ns1:ext cx="4114800" cy="3849624"/>
            <ns1:chOff x="4572000" y="1060704"/>
            <ns1:chExt cx="4114800" cy="3849624"/>
          </ns1:xfrm>
        </ns0:grpSpPr>
        <ns0:grpSp>
          <ns0:nvGrpSpPr>
            <ns0:cNvPr id="25" name="Group 24">
              <ns1:extLst>
                <ns1:ext uri="{FF2B5EF4-FFF2-40B4-BE49-F238E27FC236}">
                  <ns2:creationId id="{67D1B6D0-F6DE-8B68-2E91-90567BC6EBD7}"/>
                </ns1:ext>
              </ns1:extLst>
            </ns0:cNvPr>
            <ns0:cNvGrpSpPr/>
            <ns0:nvPr/>
          </ns0:nvGrpSpPr>
          <ns0:grpSpPr>
            <ns1:xfrm>
              <ns1:off x="4572000" y="1060704"/>
              <ns1:ext cx="4114800" cy="3849624"/>
              <ns1:chOff x="4572000" y="685800"/>
              <ns1:chExt cx="4114800" cy="3840480"/>
            </ns1:xfrm>
          </ns0:grpSpPr>
          <ns0:sp>
            <ns0:nvSpPr>
              <ns0:cNvPr id="13" name="Shape 12">
                <ns1:extLst>
                  <ns1:ext uri="{FF2B5EF4-FFF2-40B4-BE49-F238E27FC236}">
                    <ns2:creationId id="{20E9BB06-1A39-B041-30CC-3A71BF4C62D6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4114800" cy="3840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4" name="Shape 13">
                <ns1:extLst>
                  <ns1:ext uri="{FF2B5EF4-FFF2-40B4-BE49-F238E27FC236}">
                    <ns2:creationId id="{8ADCBA2C-AEDF-B0B4-D548-10638E630312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109728" cy="3840480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8" name="Shape 17">
                <ns1:extLst>
                  <ns1:ext uri="{FF2B5EF4-FFF2-40B4-BE49-F238E27FC236}">
                    <ns2:creationId id="{EBA1EED3-B530-6D9F-6713-5C546C956C24}"/>
                  </ns1:ext>
                </ns1:extLst>
              </ns0:cNvPr>
              <ns0:cNvSpPr/>
              <ns0:nvPr/>
            </ns0:nvSpPr>
            <ns0:spPr>
              <ns1:xfrm>
                <ns1:off x="4892040" y="2148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1" name="Shape 20">
                <ns1:extLst>
                  <ns1:ext uri="{FF2B5EF4-FFF2-40B4-BE49-F238E27FC236}">
                    <ns2:creationId id="{1D775402-C0A7-C621-2A80-68334B84F584}"/>
                  </ns1:ext>
                </ns1:extLst>
              </ns0:cNvPr>
              <ns0:cNvSpPr/>
              <ns0:nvPr/>
            </ns0:nvSpPr>
            <ns0:spPr>
              <ns1:xfrm>
                <ns1:off x="4892040" y="3291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5" name="Text 14">
              <ns1:extLst>
                <ns1:ext uri="{FF2B5EF4-FFF2-40B4-BE49-F238E27FC236}">
                  <ns2:creationId id="{3B094176-B40C-DE45-F6CA-0BE136B810D2}"/>
                </ns1:ext>
              </ns1:extLst>
            </ns0:cNvPr>
            <ns0:cNvSpPr/>
            <ns0:nvPr/>
          </ns0:nvSpPr>
          <ns0:spPr>
            <ns1:xfrm>
              <ns1:off x="4892040" y="1243583"/>
              <ns1:ext cx="3566160" cy="366631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2399B5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YOUR CONTRACT SPECIFICS</ns1:t>
              </ns1:r>
              <ns1:endParaRPr lang="en-US" sz="1400" dirty="0"/>
            </ns1:p>
          </ns0:txBody>
        </ns0:sp>
        <ns0:sp>
          <ns0:nvSpPr>
            <ns0:cNvPr id="16" name="Text 15">
              <ns1:extLst>
                <ns1:ext uri="{FF2B5EF4-FFF2-40B4-BE49-F238E27FC236}">
                  <ns2:creationId id="{6210ED57-269D-69CB-B6E9-627BC6668B1C}"/>
                </ns1:ext>
              </ns1:extLst>
            </ns0:cNvPr>
            <ns0:cNvSpPr/>
            <ns0:nvPr/>
          </ns0:nvSpPr>
          <ns0:spPr>
            <ns1:xfrm>
              <ns1:off x="4892040" y="17922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Package Details</ns1:t>
              </ns1:r>
              <ns1:endParaRPr lang="en-US" sz="1400" b="1" dirty="0"/>
            </ns1:p>
          </ns0:txBody>
        </ns0:sp>
        <ns0:sp>
          <ns0:nvSpPr>
            <ns0:cNvPr id="17" name="Text 16">
              <ns1:extLst>
                <ns1:ext uri="{FF2B5EF4-FFF2-40B4-BE49-F238E27FC236}">
                  <ns2:creationId id="{C8941C86-09E3-23C7-A511-581C52C4FB25}"/>
                </ns1:ext>
              </ns1:extLst>
            </ns0:cNvPr>
            <ns0:cNvSpPr/>
            <ns0:nvPr/>
          </ns0:nvSpPr>
          <ns0:spPr>
            <ns1:xfrm>
              <ns1:off x="4892040" y="21122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PSA onboarding - $560 MRR from sales brief</ns1:t>
              </ns1:r>
              <ns1:endParaRPr lang="en-US" sz="1300" dirty="0"/>
            </ns1:p>
          </ns0:txBody>
        </ns0:sp>
        <ns0:sp>
          <ns0:nvSpPr>
            <ns0:cNvPr id="19" name="Text 18">
              <ns1:extLst>
                <ns1:ext uri="{FF2B5EF4-FFF2-40B4-BE49-F238E27FC236}">
                  <ns2:creationId id="{8381353F-B64A-DED5-8D69-659D0FC3AA78}"/>
                </ns1:ext>
              </ns1:extLst>
            </ns0:cNvPr>
            <ns0:cNvSpPr/>
            <ns0:nvPr/>
          </ns0:nvSpPr>
          <ns0:spPr>
            <ns1:xfrm>
              <ns1:off x="4892040" y="2706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Recurring Fees</ns1:t>
              </ns1:r>
              <ns1:endParaRPr lang="en-US" sz="1400" b="1" dirty="0"/>
            </ns1:p>
          </ns0:txBody>
        </ns0:sp>
        <ns0:sp>
          <ns0:nvSpPr>
            <ns0:cNvPr id="20" name="Text 19">
              <ns1:extLst>
                <ns1:ext uri="{FF2B5EF4-FFF2-40B4-BE49-F238E27FC236}">
                  <ns2:creationId id="{C0CEFCEC-DFC0-296C-59A0-C72D1E0C05AD}"/>
                </ns1:ext>
              </ns1:extLst>
            </ns0:cNvPr>
            <ns0:cNvSpPr/>
            <ns0:nvPr/>
          </ns0:nvSpPr>
          <ns0:spPr>
            <ns1:xfrm>
              <ns1:off x="4892040" y="3026664"/>
              <ns1:ext cx="3566160" cy="700000"/>
            </ns1:xfrm>
            <ns1:prstGeom prst="rect">
              <ns1:avLst/>
            </ns1:prstGeom>
            <ns1:noFill/>
            <ns1:ln/>
          </ns0:spPr>
          <ns0:txBody>
            <ns1:bodyPr wrap="square" rtlCol="0"/>
            <ns1:lstStyle/>
            <ns1:p>
              <ns1:r>
                <ns1:rPr lang="en-US" sz="1150">
                  <ns1:solidFill>
                    <ns1:srgbClr val="FFFFFF"/>
                  </ns1:solidFill>
                </ns1:rPr>
                <ns1:t>Standard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  <ns1:p>
              <ns1:r>
                <ns1:rPr lang="en-US" sz="1150">
                  <ns1:solidFill>
                    <ns1:srgbClr val="FFFFFF"/>
                  </ns1:solidFill>
                </ns1:rPr>
                <ns1:t>Field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</ns0:txBody>
        </ns0:sp>
        <ns0:sp>
          <ns0:nvSpPr>
            <ns0:cNvPr id="22" name="Text 21">
              <ns1:extLst>
                <ns1:ext uri="{FF2B5EF4-FFF2-40B4-BE49-F238E27FC236}">
                  <ns2:creationId id="{565DDFB8-7D23-D852-CB36-B2157232B3F9}"/>
                </ns1:ext>
              </ns1:extLst>
            </ns0:cNvPr>
            <ns0:cNvSpPr/>
            <ns0:nvPr/>
          </ns0:nvSpPr>
          <ns0:spPr>
            <ns1:xfrm>
              <ns1:off x="4892040" y="3849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Billing Start Date</ns1:t>
              </ns1:r>
              <ns1:endParaRPr lang="en-US" sz="1400" b="1" dirty="0"/>
            </ns1:p>
          </ns0:txBody>
        </ns0:sp>
        <ns0:sp>
          <ns0:nvSpPr>
            <ns0:cNvPr id="23" name="Text 22">
              <ns1:extLst>
                <ns1:ext uri="{FF2B5EF4-FFF2-40B4-BE49-F238E27FC236}">
                  <ns2:creationId id="{0C43F53B-E8E4-26D0-D789-17BCA8AF40BE}"/>
                </ns1:ext>
              </ns1:extLst>
            </ns0:cNvPr>
            <ns0:cNvSpPr/>
            <ns0:nvPr/>
          </ns0:nvSpPr>
          <ns0:spPr>
            <ns1:xfrm>
              <ns1:off x="4892040" y="4169663"/>
              <ns1:ext cx="3566160" cy="274973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3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Start date</ns1:t>
              </ns1:r>
              <ns1:endParaRPr lang="en-US"/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AD10A1EF-7200-45E9-6222-5B2735778AF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3096770195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 name="Slide 1"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FA43FAFC-54CF-2E7D-59AC-5405135BA269}"/>
              </ns1:ext>
            </ns1:extLst>
          </ns0:cNvPr>
          <ns0:cNvSpPr/>
          <ns0:nvPr/>
        </ns0:nvSpPr>
        <ns0:spPr>
          <ns1:xfrm>
            <ns1:off x="-73152" y="0"/>
            <ns1:ext cx="9217152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pic>
        <ns0:nvPicPr>
          <ns0:cNvPr id="34" name="Picture 33" descr="A blue and black logo&#10;&#10;AI-generated content may be incorrect.">
            <ns1:extLst>
              <ns1:ext uri="{FF2B5EF4-FFF2-40B4-BE49-F238E27FC236}">
                <ns2:creationId id="{46595C9B-268E-7BA3-28C9-196DB7DD6F7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  <ns0:sp>
        <ns0:nvSpPr>
          <ns0:cNvPr id="40" name="Text 2">
            <ns1:extLst>
              <ns1:ext uri="{FF2B5EF4-FFF2-40B4-BE49-F238E27FC236}">
                <ns2:creationId id="{FD4458DB-B546-4E12-D393-9FF424EBF38F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OPTIONAL MODULE DISCOVERY</ns1:t>
            </ns1:r>
            <ns1:endParaRPr lang="en-US" sz="1400" dirty="0"/>
          </ns1:p>
        </ns0:txBody>
      </ns0:sp>
      <ns0:sp>
        <ns0:nvSpPr>
          <ns0:cNvPr id="41" name="Text 3">
            <ns1:extLst>
              <ns1:ext uri="{FF2B5EF4-FFF2-40B4-BE49-F238E27FC236}">
                <ns2:creationId id="{570552DB-0EA7-000A-EC90-365B54E913C5}"/>
              </ns1:ext>
            </ns1:extLst>
          </ns0:cNvPr>
          <ns0:cNvSpPr/>
          <ns0:nvPr/>
        </ns0:nvSpPr>
        <ns0:spPr>
          <ns1:xfrm>
            <ns1:off x="441894" y="681455"/>
            <ns1:ext cx="822960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2800" b="1" dirty="0">
                <ns1:solidFill>
                  <ns1:srgbClr val="1D3756"/>
                </ns1:solidFill>
                <ns1:latin typeface="Montserrat" pitchFamily="34" charset="0"/>
              </ns1:rPr>
              <ns1:t>Setup Facts</ns1:t>
            </ns1:r>
            <ns1:endParaRPr lang="en-US" sz="2800" b="1" dirty="0"/>
          </ns1:p>
        </ns0:txBody>
      </ns0:sp>
      <ns0:grpSp>
        <ns0:nvGrpSpPr>
          <ns0:cNvPr id="136" name="Group 135">
            <ns1:extLst>
              <ns1:ext uri="{FF2B5EF4-FFF2-40B4-BE49-F238E27FC236}">
                <ns2:creationId id="{8330412D-FB30-0F1B-D3D5-E55CB27391E8}"/>
              </ns1:ext>
            </ns1:extLst>
          </ns0:cNvPr>
          <ns0:cNvGrpSpPr/>
          <ns0:nvPr/>
        </ns0:nvGrpSpPr>
        <ns0:grpSpPr>
          <ns1:xfrm>
            <ns1:off x="441894" y="1412975"/>
            <ns1:ext cx="8327202" cy="2697480"/>
            <ns1:chOff x="451038" y="1444752"/>
            <ns1:chExt cx="8327202" cy="2697480"/>
          </ns1:xfrm>
        </ns0:grpSpPr>
        <ns0:grpSp>
          <ns0:nvGrpSpPr>
            <ns0:cNvPr id="111" name="Group 110">
              <ns1:extLst>
                <ns1:ext uri="{FF2B5EF4-FFF2-40B4-BE49-F238E27FC236}">
                  <ns2:creationId id="{6AC7D38E-AF0F-C12B-20C6-6428ABAD671A}"/>
                </ns1:ext>
              </ns1:extLst>
            </ns0:cNvPr>
            <ns0:cNvGrpSpPr/>
            <ns0:nvPr/>
          </ns0:nvGrpSpPr>
          <ns0:grpSpPr>
            <ns1:xfrm>
              <ns1:off x="457200" y="1444752"/>
              <ns1:ext cx="8229600" cy="594360"/>
              <ns1:chOff x="457200" y="1920240"/>
              <ns1:chExt cx="8229600" cy="594360"/>
            </ns1:xfrm>
          </ns0:grpSpPr>
          <ns0:sp>
            <ns0:nvSpPr>
              <ns0:cNvPr id="112" name="Shape 3">
                <ns1:extLst>
                  <ns1:ext uri="{FF2B5EF4-FFF2-40B4-BE49-F238E27FC236}">
                    <ns2:creationId id="{69C3334F-6F10-0DDF-304B-37C6E9CC703A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8229600" cy="5943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13" name="Shape 4">
                <ns1:extLst>
                  <ns1:ext uri="{FF2B5EF4-FFF2-40B4-BE49-F238E27FC236}">
                    <ns2:creationId id="{BEF5E975-66D0-1281-6BDF-47DA5E1F75DD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73152" cy="5943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 dirty="0">
                  <ns1:highlight>
                    <ns1:srgbClr val="2299B6"/>
                  </ns1:highlight>
                </ns1:endParaRPr>
              </ns1:p>
            </ns0:txBody>
          </ns0:sp>
        </ns0:grpSp>
        <ns0:sp>
          <ns0:nvSpPr>
            <ns0:cNvPr id="114" name="Text 5">
              <ns1:extLst>
                <ns1:ext uri="{FF2B5EF4-FFF2-40B4-BE49-F238E27FC236}">
                  <ns2:creationId id="{EBB6265C-79E4-1D3F-7F02-BD2F21CC9FF1}"/>
                </ns1:ext>
              </ns1:extLst>
            </ns0:cNvPr>
            <ns0:cNvSpPr/>
            <ns0:nvPr/>
          </ns0:nvSpPr>
          <ns0:spPr>
            <ns1:xfrm>
              <ns1:off x="731520" y="1586484"/>
              <ns1:ext cx="7772400" cy="274320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400" b="1">
                  <ns1:solidFill>
                    <ns1:srgbClr val="1D3756"/>
                  </ns1:solidFill>
                </ns1:rPr>
                <ns1:t>Instance URL:  </ns1:t>
              </ns1:r>
              <ns1:r>
                <ns1:rPr lang="en-US" sz="14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Instance URL</ns1:t>
              </ns1:r>
              <ns1:endParaRPr lang="en-US"/>
            </ns1:p>
          </ns0:txBody>
        </ns0:sp>
        <ns0:grpSp>
          <ns0:nvGrpSpPr>
            <ns0:cNvPr id="115" name="Group 114">
              <ns1:extLst>
                <ns1:ext uri="{FF2B5EF4-FFF2-40B4-BE49-F238E27FC236}">
                  <ns2:creationId id="{49255F5E-ACE6-BB3C-6458-988108EDC65A}"/>
                </ns1:ext>
              </ns1:extLst>
            </ns0:cNvPr>
            <ns0:cNvGrpSpPr/>
            <ns0:nvPr/>
          </ns0:nvGrpSpPr>
          <ns0:grpSpPr>
            <ns1:xfrm>
              <ns1:off x="457200" y="2221992"/>
              <ns1:ext cx="8229600" cy="914400"/>
              <ns1:chOff x="457200" y="2697480"/>
              <ns1:chExt cx="8229600" cy="914400"/>
            </ns1:xfrm>
          </ns0:grpSpPr>
          <ns0:sp>
            <ns0:nvSpPr>
              <ns0:cNvPr id="116" name="Shape 6">
                <ns1:extLst>
                  <ns1:ext uri="{FF2B5EF4-FFF2-40B4-BE49-F238E27FC236}">
                    <ns2:creationId id="{F6DFFC74-7B8E-3D89-2E9B-DF8680EE1B39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8229600" cy="91440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17" name="Shape 7">
                <ns1:extLst>
                  <ns1:ext uri="{FF2B5EF4-FFF2-40B4-BE49-F238E27FC236}">
                    <ns2:creationId id="{DED6407B-CF7D-A057-CD8A-BDD0AC7F02C7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73152" cy="91440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8" name="Text 8">
              <ns1:extLst>
                <ns1:ext uri="{FF2B5EF4-FFF2-40B4-BE49-F238E27FC236}">
                  <ns2:creationId id="{512C6E18-2F37-8F9F-0346-F6F695982C24}"/>
                </ns1:ext>
              </ns1:extLst>
            </ns0:cNvPr>
            <ns0:cNvSpPr/>
            <ns0:nvPr/>
          </ns0:nvSpPr>
          <ns0:spPr>
            <ns1:xfrm>
              <ns1:off x="731520" y="2313432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Optional module requirements?</ns1:t>
              </ns1:r>
              <ns1:endParaRPr lang="en-US" sz="1400" dirty="0"/>
            </ns1:p>
          </ns0:txBody>
        </ns0:sp>
        <ns0:sp>
          <ns0:nvSpPr>
            <ns0:cNvPr id="119" name="Shape 9">
              <ns1:extLst>
                <ns1:ext uri="{FF2B5EF4-FFF2-40B4-BE49-F238E27FC236}">
                  <ns2:creationId id="{6898EF62-EBEA-B2CD-5E0C-88CCD7A58DC9}"/>
                </ns1:ext>
              </ns1:extLst>
            </ns0:cNvPr>
            <ns0:cNvSpPr/>
            <ns0:nvPr/>
          </ns0:nvSpPr>
          <ns0:spPr>
            <ns1:xfrm>
              <ns1:off x="91440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/>
              </ns1:r>
              <ns1:endParaRPr lang="en-US"/>
            </ns1:p>
          </ns0:txBody>
        </ns0:sp>
        <ns0:sp>
          <ns0:nvSpPr>
            <ns0:cNvPr id="120" name="Text 10">
              <ns1:extLst>
                <ns1:ext uri="{FF2B5EF4-FFF2-40B4-BE49-F238E27FC236}">
                  <ns2:creationId id="{C905DF38-CC81-55E9-5DDC-578E0BF9CFC0}"/>
                </ns1:ext>
              </ns1:extLst>
            </ns0:cNvPr>
            <ns0:cNvSpPr/>
            <ns0:nvPr/>
          </ns0:nvSpPr>
          <ns0:spPr>
            <ns1:xfrm>
              <ns1:off x="123444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B0B4CC"/>
                  </ns1:solidFill>
                </ns1:rPr>
                <ns1:t>Quoting</ns1:t>
              </ns1:r>
              <ns1:endParaRPr lang="en-US"/>
            </ns1:p>
          </ns0:txBody>
        </ns0:sp>
        <ns0:sp>
          <ns0:nvSpPr>
            <ns0:cNvPr id="121" name="Shape 11">
              <ns1:extLst>
                <ns1:ext uri="{FF2B5EF4-FFF2-40B4-BE49-F238E27FC236}">
                  <ns2:creationId id="{C58C5DC2-D17A-D480-E450-5A126371244F}"/>
                </ns1:ext>
              </ns1:extLst>
            </ns0:cNvPr>
            <ns0:cNvSpPr/>
            <ns0:nvPr/>
          </ns0:nvSpPr>
          <ns0:spPr>
            <ns1:xfrm>
              <ns1:off x="288036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2" name="Text 12">
              <ns1:extLst>
                <ns1:ext uri="{FF2B5EF4-FFF2-40B4-BE49-F238E27FC236}">
                  <ns2:creationId id="{FBBE7C2E-B016-60DE-FB4C-32A4E95561BA}"/>
                </ns1:ext>
              </ns1:extLst>
            </ns0:cNvPr>
            <ns0:cNvSpPr/>
            <ns0:nvPr/>
          </ns0:nvSpPr>
          <ns0:spPr>
            <ns1:xfrm>
              <ns1:off x="320040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Inventory</ns1:t>
              </ns1:r>
              <ns1:endParaRPr lang="en-US"/>
            </ns1:p>
          </ns0:txBody>
        </ns0:sp>
        <ns0:sp>
          <ns0:nvSpPr>
            <ns0:cNvPr id="123" name="Shape 13">
              <ns1:extLst>
                <ns1:ext uri="{FF2B5EF4-FFF2-40B4-BE49-F238E27FC236}">
                  <ns2:creationId id="{E3777183-A2F7-FCEE-32AA-91AAA5976953}"/>
                </ns1:ext>
              </ns1:extLst>
            </ns0:cNvPr>
            <ns0:cNvSpPr/>
            <ns0:nvPr/>
          </ns0:nvSpPr>
          <ns0:spPr>
            <ns1:xfrm>
              <ns1:off x="484632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4" name="Text 14">
              <ns1:extLst>
                <ns1:ext uri="{FF2B5EF4-FFF2-40B4-BE49-F238E27FC236}">
                  <ns2:creationId id="{8E90FB1B-7F09-4615-C7D2-9545D58991B7}"/>
                </ns1:ext>
              </ns1:extLst>
            </ns0:cNvPr>
            <ns0:cNvSpPr/>
            <ns0:nvPr/>
          </ns0:nvSpPr>
          <ns0:spPr>
            <ns1:xfrm>
              <ns1:off x="516636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Project Management</ns1:t>
              </ns1:r>
              <ns1:endParaRPr lang="en-US"/>
            </ns1:p>
          </ns0:txBody>
        </ns0:sp>
        <ns0:sp>
          <ns0:nvSpPr>
            <ns0:cNvPr id="125" name="Shape 15">
              <ns1:extLst>
                <ns1:ext uri="{FF2B5EF4-FFF2-40B4-BE49-F238E27FC236}">
                  <ns2:creationId id="{92FB4DBB-B1D4-9FBB-38EE-C984BB7AE469}"/>
                </ns1:ext>
              </ns1:extLst>
            </ns0:cNvPr>
            <ns0:cNvSpPr/>
            <ns0:nvPr/>
          </ns0:nvSpPr>
          <ns0:spPr>
            <ns1:xfrm>
              <ns1:off x="681228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6" name="Text 16">
              <ns1:extLst>
                <ns1:ext uri="{FF2B5EF4-FFF2-40B4-BE49-F238E27FC236}">
                  <ns2:creationId id="{6223ED9A-5FDC-ACBD-2B4D-DEA53DE1B6EE}"/>
                </ns1:ext>
              </ns1:extLst>
            </ns0:cNvPr>
            <ns0:cNvSpPr/>
            <ns0:nvPr/>
          </ns0:nvSpPr>
          <ns0:spPr>
            <ns1:xfrm>
              <ns1:off x="713232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Mobile App</ns1:t>
              </ns1:r>
              <ns1:endParaRPr lang="en-US"/>
            </ns1:p>
          </ns0:txBody>
        </ns0:sp>
        <ns0:grpSp>
          <ns0:nvGrpSpPr>
            <ns0:cNvPr id="131" name="Group 130">
              <ns1:extLst>
                <ns1:ext uri="{FF2B5EF4-FFF2-40B4-BE49-F238E27FC236}">
                  <ns2:creationId id="{A1F1E51D-5366-04F7-244B-330F6C3CA2AC}"/>
                </ns1:ext>
              </ns1:extLst>
            </ns0:cNvPr>
            <ns0:cNvGrpSpPr/>
            <ns0:nvPr/>
          </ns0:nvGrpSpPr>
          <ns0:grpSpPr>
            <ns1:xfrm>
              <ns1:off x="451038" y="3319272"/>
              <ns1:ext cx="8235762" cy="822960"/>
              <ns1:chOff x="451038" y="3319272"/>
              <ns1:chExt cx="8235762" cy="822960"/>
            </ns1:xfrm>
          </ns0:grpSpPr>
          <ns0:sp>
            <ns0:nvSpPr>
              <ns0:cNvPr id="127" name="Shape 17">
                <ns1:extLst>
                  <ns1:ext uri="{FF2B5EF4-FFF2-40B4-BE49-F238E27FC236}">
                    <ns2:creationId id="{62C1230A-A555-5807-CE0F-69CD92FD19FA}"/>
                  </ns1:ext>
                </ns1:extLst>
              </ns0:cNvPr>
              <ns0:cNvSpPr/>
              <ns0:nvPr/>
            </ns0:nvSpPr>
            <ns0:spPr>
              <ns1:xfrm>
                <ns1:off x="457200" y="3319272"/>
                <ns1:ext cx="8229600" cy="8229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30" name="Shape 18">
                <ns1:extLst>
                  <ns1:ext uri="{FF2B5EF4-FFF2-40B4-BE49-F238E27FC236}">
                    <ns2:creationId id="{24BC2768-A3BB-E92F-C2DD-F3C898654622}"/>
                  </ns1:ext>
                </ns1:extLst>
              </ns0:cNvPr>
              <ns0:cNvSpPr/>
              <ns0:nvPr/>
            </ns0:nvSpPr>
            <ns0:spPr>
              <ns1:xfrm>
                <ns1:off x="451038" y="3319272"/>
                <ns1:ext cx="73152" cy="8229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28" name="Text 19">
              <ns1:extLst>
                <ns1:ext uri="{FF2B5EF4-FFF2-40B4-BE49-F238E27FC236}">
                  <ns2:creationId id="{0F65846F-7B2E-3D23-BCE2-057FF6CBFAD2}"/>
                </ns1:ext>
              </ns1:extLst>
            </ns0:cNvPr>
            <ns0:cNvSpPr/>
            <ns0:nvPr/>
          </ns0:nvSpPr>
          <ns0:spPr>
            <ns1:xfrm>
              <ns1:off x="731520" y="3410712"/>
              <ns1:ext cx="4343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What integrations are you interested in?</ns1:t>
              </ns1:r>
              <ns1:endParaRPr lang="en-US" sz="1400" dirty="0"/>
            </ns1:p>
          </ns0:txBody>
        </ns0:sp>
        <ns0:sp>
          <ns0:nvSpPr>
            <ns0:cNvPr id="135" name="Text 10">
              <ns1:extLst>
                <ns1:ext uri="{FF2B5EF4-FFF2-40B4-BE49-F238E27FC236}">
                  <ns2:creationId id="{82556449-349A-B633-893B-D7B3F6C309A7}"/>
                </ns1:ext>
              </ns1:extLst>
            </ns0:cNvPr>
            <ns0:cNvSpPr/>
            <ns0:nvPr/>
          </ns0:nvSpPr>
          <ns0:spPr>
            <ns1:xfrm>
              <ns1:off x="731520" y="3753612"/>
              <ns1:ext cx="7534656" cy="228600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000" dirty="0">
                  <ns1:solidFill>
                    <ns1:srgbClr val="FFFFFF"/>
                  </ns1:solidFill>
                  <ns1:latin typeface="Montserrat"/>
                </ns1:rPr>
                <ns1:t>QuickBooks Desktop workaround, Authorize.net, Rev.io Payments</ns1:t>
              </ns1:r>
              <ns1:endParaRPr lang="en-US" sz="1200">
                <ns1:solidFill>
                  <ns1:srgbClr val="000000"/>
                </ns1:solidFill>
                <ns1:latin typeface="Calibri"/>
                <ns1:ea typeface="Calibri"/>
                <ns1:cs typeface="Calibri"/>
              </ns1:endParaRPr>
            </ns1:p>
          </ns0:txBody>
        </ns0:sp>
      </ns0:grp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0CA39810-A2DA-86BD-4F5D-78E299C3BCB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Text 19">
            <ns1:extLst>
              <ns1:ext uri="{FF2B5EF4-FFF2-40B4-BE49-F238E27FC236}">
                <ns2:creationId id="{95B0CC5F-5A6F-D38A-4FA2-8D12B4C8ADB9}"/>
              </ns1:ext>
            </ns1:extLst>
          </ns0:cNvPr>
          <ns0:cNvSpPr/>
          <ns0:nvPr/>
        </ns0:nvSpPr>
        <ns0:spPr>
          <ns1:xfrm>
            <ns1:off x="6324600" y="1456398"/>
            <ns1:ext cx="2448306" cy="1866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 algn="l">
              <ns1:lnSpc>
                <ns1:spcPts val="1470"/>
              </ns1:lnSpc>
              <ns1:buNone/>
            </ns1:pPr>
            <ns1:r>
              <ns1:rPr lang="en-US" sz="1050" b="1" dirty="0">
                <ns1:solidFill>
                  <ns1:srgbClr val="1A3656"/>
                </ns1:solidFill>
                <ns1:latin typeface="Montserrat" pitchFamily="2" charset="77"/>
                <ns1:ea typeface="Segoe UI" pitchFamily="34" charset="-122"/>
                <ns1:cs typeface="Segoe UI" pitchFamily="34" charset="-120"/>
              </ns1:rPr>
              <ns1:t>Security Aligns Naturally</ns1:t>
            </ns1:r>
            <ns1:endParaRPr lang="en-US" sz="1050" dirty="0">
              <ns1:solidFill>
                <ns1:srgbClr val="1A3656"/>
              </ns1:solidFill>
              <ns1:latin typeface="Montserrat" pitchFamily="2" charset="77"/>
            </ns1:endParaRPr>
          </ns1:p>
        </ns0:txBody>
      </ns0:sp>
      <ns0:sp>
        <ns0:nvSpPr>
          <ns0:cNvPr id="35" name="Freeform 10">
            <ns1:extLst>
              <ns1:ext uri="{FF2B5EF4-FFF2-40B4-BE49-F238E27FC236}">
                <ns2:creationId id="{69E32E10-2D22-C64B-13DC-65C2B3B37FEC}"/>
              </ns1:ext>
            </ns1:extLst>
          </ns0:cNvPr>
          <ns0:cNvSpPr/>
          <ns0:nvPr/>
        </ns0:nvSpPr>
        <ns0:spPr>
          <ns1:xfrm>
            <ns1:off x="7336320" y="4581107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  <ns0:grpSp>
        <ns0:nvGrpSpPr>
          <ns0:cNvPr id="33" name="Group 32">
            <ns1:extLst>
              <ns1:ext uri="{FF2B5EF4-FFF2-40B4-BE49-F238E27FC236}">
                <ns2:creationId id="{7ACD8B27-4A5F-258C-60CE-26C3BF724A3E}"/>
              </ns1:ext>
            </ns1:extLst>
          </ns0:cNvPr>
          <ns0:cNvGrpSpPr/>
          <ns0:nvPr/>
        </ns0:nvGrpSpPr>
        <ns0:grpSpPr>
          <ns1:xfrm>
            <ns1:off x="0" y="86967"/>
            <ns1:ext cx="9144000" cy="5143500"/>
            <ns1:chOff x="0" y="13989"/>
            <ns1:chExt cx="9144000" cy="5143500"/>
          </ns1:xfrm>
        </ns0:grpSpPr>
        <ns0:sp>
          <ns0:nvSpPr>
            <ns0:cNvPr id="32" name="Rectangle 31">
              <ns1:extLst>
                <ns1:ext uri="{FF2B5EF4-FFF2-40B4-BE49-F238E27FC236}">
                  <ns2:creationId id="{413942F2-6CF6-538E-D92E-B20EA1213F47}"/>
                </ns1:ext>
              </ns1:extLst>
            </ns0:cNvPr>
            <ns0:cNvSpPr/>
            <ns0:nvPr/>
          </ns0:nvSpPr>
          <ns0:spPr>
            <ns1:xfrm>
              <ns1:off x="0" y="13989"/>
              <ns1:ext cx="9144000" cy="5143500"/>
            </ns1:xfrm>
            <ns1:prstGeom prst="rect">
              <ns1:avLst/>
            </ns1:prstGeom>
            <ns1:solidFill>
              <ns1:srgbClr val="1A3656"/>
            </ns1:solidFill>
          </ns0:spPr>
          <ns0:style>
            <ns1:lnRef idx="2">
              <ns1:schemeClr val="accent1">
                <ns1:shade val="15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3" name="Group 2">
              <ns1:extLst>
                <ns1:ext uri="{FF2B5EF4-FFF2-40B4-BE49-F238E27FC236}">
                  <ns2:creationId id="{B25498A5-F2E6-9F92-B6F2-45FA186B3241}"/>
                </ns1:ext>
              </ns1:extLst>
            </ns0:cNvPr>
            <ns0:cNvGrpSpPr/>
            <ns0:nvPr/>
          </ns0:nvGrpSpPr>
          <ns0:grpSpPr>
            <ns1:xfrm>
              <ns1:off x="457200" y="320040"/>
              <ns1:ext cx="8229600" cy="4389120"/>
              <ns1:chOff x="457200" y="320040"/>
              <ns1:chExt cx="8229600" cy="4389120"/>
            </ns1:xfrm>
          </ns0:grpSpPr>
          <ns0:sp>
            <ns0:nvSpPr>
              <ns0:cNvPr id="4" name="Text 3">
                <ns1:extLst>
                  <ns1:ext uri="{FF2B5EF4-FFF2-40B4-BE49-F238E27FC236}">
                    <ns2:creationId id="{A4EF0E0C-6878-F022-1A82-72E9E53764F9}"/>
                  </ns1:ext>
                </ns1:extLst>
              </ns0:cNvPr>
              <ns0:cNvSpPr/>
              <ns0:nvPr/>
            </ns0:nvSpPr>
            <ns0:spPr>
              <ns1:xfrm>
                <ns1:off x="457200" y="32004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2399B5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DISCUSSION TOPICS</ns1:t>
                </ns1:r>
                <ns1:endParaRPr lang="en-US" sz="1400"/>
              </ns1:p>
            </ns0:txBody>
          </ns0:sp>
          <ns0:sp>
            <ns0:nvSpPr>
              <ns0:cNvPr id="5" name="Text 4">
                <ns1:extLst>
                  <ns1:ext uri="{FF2B5EF4-FFF2-40B4-BE49-F238E27FC236}">
                    <ns2:creationId id="{CB95E5CA-D834-116E-F905-5B4A03BFF5FC}"/>
                  </ns1:ext>
                </ns1:extLst>
              </ns0:cNvPr>
              <ns0:cNvSpPr/>
              <ns0:nvPr/>
            </ns0:nvSpPr>
            <ns0:spPr>
              <ns1:xfrm>
                <ns1:off x="457200" y="685800"/>
                <ns1:ext cx="8229600" cy="5486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2800" b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What’s Next?</ns1:t>
                </ns1:r>
                <ns1:endParaRPr lang="en-US" sz="2800"/>
              </ns1:p>
            </ns0:txBody>
          </ns0:sp>
          <ns0:sp>
            <ns0:nvSpPr>
              <ns0:cNvPr id="6" name="Text 5">
                <ns1:extLst>
                  <ns1:ext uri="{FF2B5EF4-FFF2-40B4-BE49-F238E27FC236}">
                    <ns2:creationId id="{02CDC88D-4CDE-487F-9D87-A24E81998B89}"/>
                  </ns1:ext>
                </ns1:extLst>
              </ns0:cNvPr>
              <ns0:cNvSpPr/>
              <ns0:nvPr/>
            </ns0:nvSpPr>
            <ns0:spPr>
              <ns1:xfrm>
                <ns1:off x="457200" y="132588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 i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Your action items to get started</ns1:t>
                </ns1:r>
                <ns1:endParaRPr lang="en-US" sz="1400">
                  <ns1:solidFill>
                    <ns1:srgbClr val="FFFFFF"/>
                  </ns1:solidFill>
                </ns1:endParaRPr>
              </ns1:p>
            </ns0:txBody>
          </ns0:sp>
          <ns0:sp>
            <ns0:nvSpPr>
              <ns0:cNvPr id="7" name="Text 8">
                <ns1:extLst>
                  <ns1:ext uri="{FF2B5EF4-FFF2-40B4-BE49-F238E27FC236}">
                    <ns2:creationId id="{4BBAAD93-6D98-D38B-6230-88335F71EB25}"/>
                  </ns1:ext>
                </ns1:extLst>
              </ns0:cNvPr>
              <ns0:cNvSpPr/>
              <ns0:nvPr/>
            </ns0:nvSpPr>
            <ns0:spPr>
              <ns1:xfrm>
                <ns1:off x="1188720" y="19202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Set kickoff target date and time</ns1:t>
                </ns1:r>
                <ns1:endParaRPr lang="en-US" sz="1400"/>
              </ns1:p>
            </ns0:txBody>
          </ns0:sp>
          <ns0:sp>
            <ns0:nvSpPr>
              <ns0:cNvPr id="8" name="Shape 9">
                <ns1:extLst>
                  <ns1:ext uri="{FF2B5EF4-FFF2-40B4-BE49-F238E27FC236}">
                    <ns2:creationId id="{5AECF63F-741E-A8EE-A6ED-6C19691EB481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9" name="Text 10">
                <ns1:extLst>
                  <ns1:ext uri="{FF2B5EF4-FFF2-40B4-BE49-F238E27FC236}">
                    <ns2:creationId id="{65216675-A510-1F32-DB27-9CB379ED6076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0" name="Text 11">
                <ns1:extLst>
                  <ns1:ext uri="{FF2B5EF4-FFF2-40B4-BE49-F238E27FC236}">
                    <ns2:creationId id="{F04E2227-CC18-C64B-FE97-25674D8D1067}"/>
                  </ns1:ext>
                </ns1:extLst>
              </ns0:cNvPr>
              <ns0:cNvSpPr/>
              <ns0:nvPr/>
            </ns0:nvSpPr>
            <ns0:spPr>
              <ns1:xfrm>
                <ns1:off x="1188720" y="23317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Vanessa vs. Shawn onboarding ownership and approval authority</ns1:t>
                </ns1:r>
                <ns1:endParaRPr lang="en-US" sz="1400"/>
              </ns1:p>
            </ns0:txBody>
          </ns0:sp>
          <ns0:sp>
            <ns0:nvSpPr>
              <ns0:cNvPr id="11" name="Shape 12">
                <ns1:extLst>
                  <ns1:ext uri="{FF2B5EF4-FFF2-40B4-BE49-F238E27FC236}">
                    <ns2:creationId id="{89189F7E-C4E6-DACB-6F49-A8BDD81B98D4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2" name="Text 13">
                <ns1:extLst>
                  <ns1:ext uri="{FF2B5EF4-FFF2-40B4-BE49-F238E27FC236}">
                    <ns2:creationId id="{D646F9DC-2CAF-363E-E2F9-84D8C7B81365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3" name="Text 14">
                <ns1:extLst>
                  <ns1:ext uri="{FF2B5EF4-FFF2-40B4-BE49-F238E27FC236}">
                    <ns2:creationId id="{27CF2A5F-79F1-AA91-B435-9ABE8D4E3B7A}"/>
                  </ns1:ext>
                </ns1:extLst>
              </ns0:cNvPr>
              <ns0:cNvSpPr/>
              <ns0:nvPr/>
            </ns0:nvSpPr>
            <ns0:spPr>
              <ns1:xfrm>
                <ns1:off x="1188720" y="274320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Sue O'Keefe role</ns1:t>
                </ns1:r>
                <ns1:endParaRPr lang="en-US" sz="1400"/>
              </ns1:p>
            </ns0:txBody>
          </ns0:sp>
          <ns0:sp>
            <ns0:nvSpPr>
              <ns0:cNvPr id="14" name="Shape 15">
                <ns1:extLst>
                  <ns1:ext uri="{FF2B5EF4-FFF2-40B4-BE49-F238E27FC236}">
                    <ns2:creationId id="{402F73A6-DE23-7666-819C-6A0EA4B65387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5" name="Text 16">
                <ns1:extLst>
                  <ns1:ext uri="{FF2B5EF4-FFF2-40B4-BE49-F238E27FC236}">
                    <ns2:creationId id="{60E0F09E-223A-5F4C-230C-AF0BC7B7E4AF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6" name="Text 17">
                <ns1:extLst>
                  <ns1:ext uri="{FF2B5EF4-FFF2-40B4-BE49-F238E27FC236}">
                    <ns2:creationId id="{6F80BDE0-029B-71D8-BE97-8AC204A5645A}"/>
                  </ns1:ext>
                </ns1:extLst>
              </ns0:cNvPr>
              <ns0:cNvSpPr/>
              <ns0:nvPr/>
            </ns0:nvSpPr>
            <ns0:spPr>
              <ns1:xfrm>
                <ns1:off x="1188720" y="315468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merchant statements for Rev.io Payments migration</ns1:t>
                </ns1:r>
                <ns1:endParaRPr lang="en-US" sz="1400"/>
              </ns1:p>
            </ns0:txBody>
          </ns0:sp>
          <ns0:sp>
            <ns0:nvSpPr>
              <ns0:cNvPr id="17" name="Shape 18">
                <ns1:extLst>
                  <ns1:ext uri="{FF2B5EF4-FFF2-40B4-BE49-F238E27FC236}">
                    <ns2:creationId id="{6D65581D-81A8-00D6-D5E9-C1E1D8CC68D7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9" name="Text 19">
                <ns1:extLst>
                  <ns1:ext uri="{FF2B5EF4-FFF2-40B4-BE49-F238E27FC236}">
                    <ns2:creationId id="{61A826BD-506F-3795-9AE6-7CEB437908E4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0" name="Text 20">
                <ns1:extLst>
                  <ns1:ext uri="{FF2B5EF4-FFF2-40B4-BE49-F238E27FC236}">
                    <ns2:creationId id="{FE432067-9A72-0EBB-2737-61D660EEF585}"/>
                  </ns1:ext>
                </ns1:extLst>
              </ns0:cNvPr>
              <ns0:cNvSpPr/>
              <ns0:nvPr/>
            </ns0:nvSpPr>
            <ns0:spPr>
              <ns1:xfrm>
                <ns1:off x="1188720" y="356616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QuickBooks Desktop workaround and accounting plan</ns1:t>
                </ns1:r>
                <ns1:endParaRPr lang="en-US" sz="1400"/>
              </ns1:p>
            </ns0:txBody>
          </ns0:sp>
          <ns0:sp>
            <ns0:nvSpPr>
              <ns0:cNvPr id="22" name="Shape 21">
                <ns1:extLst>
                  <ns1:ext uri="{FF2B5EF4-FFF2-40B4-BE49-F238E27FC236}">
                    <ns2:creationId id="{B6AD7EF1-C0DD-860E-713E-0B6CA9265051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3" name="Text 22">
                <ns1:extLst>
                  <ns1:ext uri="{FF2B5EF4-FFF2-40B4-BE49-F238E27FC236}">
                    <ns2:creationId id="{4A5C94A8-18F9-387C-7B04-FFDB565B5C17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4" name="Text 23">
                <ns1:extLst>
                  <ns1:ext uri="{FF2B5EF4-FFF2-40B4-BE49-F238E27FC236}">
                    <ns2:creationId id="{D3CE3FD5-50A2-B7EB-062C-01325125CADB}"/>
                  </ns1:ext>
                </ns1:extLst>
              </ns0:cNvPr>
              <ns0:cNvSpPr/>
              <ns0:nvPr/>
            </ns0:nvSpPr>
            <ns0:spPr>
              <ns1:xfrm>
                <ns1:off x="1188720" y="39776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GL/chart of accounts details</ns1:t>
                </ns1:r>
                <ns1:endParaRPr lang="en-US" sz="1400"/>
              </ns1:p>
            </ns0:txBody>
          </ns0:sp>
          <ns0:sp>
            <ns0:nvSpPr>
              <ns0:cNvPr id="25" name="Shape 24">
                <ns1:extLst>
                  <ns1:ext uri="{FF2B5EF4-FFF2-40B4-BE49-F238E27FC236}">
                    <ns2:creationId id="{B3A06F4B-B74F-FDA6-3856-6DD0317FAEF6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6" name="Text 25">
                <ns1:extLst>
                  <ns1:ext uri="{FF2B5EF4-FFF2-40B4-BE49-F238E27FC236}">
                    <ns2:creationId id="{C4B86BBA-1080-0A94-DFB8-2B9EEDEDA1E2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7" name="Text 26">
                <ns1:extLst>
                  <ns1:ext uri="{FF2B5EF4-FFF2-40B4-BE49-F238E27FC236}">
                    <ns2:creationId id="{56D656AC-56B5-9578-B73A-8A29451ABCFD}"/>
                  </ns1:ext>
                </ns1:extLst>
              </ns0:cNvPr>
              <ns0:cNvSpPr/>
              <ns0:nvPr/>
            </ns0:nvSpPr>
            <ns0:spPr>
              <ns1:xfrm>
                <ns1:off x="1188720" y="43891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field mobile workflow priorities</ns1:t>
                </ns1:r>
                <ns1:endParaRPr lang="en-US" sz="1400"/>
              </ns1:p>
            </ns0:txBody>
          </ns0:sp>
        </ns0:grpSp>
        <ns0:sp>
          <ns0:nvSpPr>
            <ns0:cNvPr id="30" name="Shape 9">
              <ns1:extLst>
                <ns1:ext uri="{FF2B5EF4-FFF2-40B4-BE49-F238E27FC236}">
                  <ns2:creationId id="{29CCE3E8-D32B-C473-3ABA-7DCC65D3D7F1}"/>
                </ns1:ext>
              </ns1:extLst>
            </ns0:cNvPr>
            <ns0:cNvSpPr/>
            <ns0:nvPr/>
          </ns0:nvSpPr>
          <ns0:spPr>
            <ns1:xfrm>
              <ns1:off x="737616" y="1935480"/>
              <ns1:ext cx="320040" cy="32004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2399B5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</ns0:grpSp>
      <ns0:sp>
        <ns0:nvSpPr>
          <ns0:cNvPr id="31" name="Text 10">
            <ns1:extLst>
              <ns1:ext uri="{FF2B5EF4-FFF2-40B4-BE49-F238E27FC236}">
                <ns2:creationId id="{33BD86F8-9BC0-B3BF-1A6D-3D44C620123C}"/>
              </ns1:ext>
            </ns1:extLst>
          </ns0:cNvPr>
          <ns0:cNvSpPr/>
          <ns0:nvPr/>
        </ns0:nvSpPr>
        <ns0:spPr>
          <ns1:xfrm>
            <ns1:off x="737616" y="2000216"/>
            <ns1:ext cx="3200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/>
            <ns1:r>
              <ns1:rPr lang="en-US" b="1" dirty="0">
                <ns1:solidFill>
                  <ns1:srgbClr val="6EBE4F"/>
                </ns1:solidFill>
              </ns1:rPr>
              <ns1:t>✓</ns1:t>
            </ns1:r>
            <ns1:endParaRPr lang="en-US" sz="1800" dirty="0"/>
          </ns1:p>
        </ns0:txBody>
      </ns0:sp>
      <ns0:sp>
        <ns0:nvSpPr>
          <ns0:cNvPr id="2" name="Freeform 10">
            <ns1:extLst>
              <ns1:ext uri="{FF2B5EF4-FFF2-40B4-BE49-F238E27FC236}">
                <ns2:creationId id="{0F76E402-2265-9E25-3BD3-228E06DCCC67}"/>
              </ns1:ext>
            </ns1:extLst>
          </ns0:cNvPr>
          <ns0:cNvSpPr/>
          <ns0:nvPr/>
        </ns0:nvSpPr>
        <ns0:spPr>
          <ns1:xfrm>
            <ns1:off x="7479576" y="4535151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</ns0:spTree>
    <ns0:extLst>
      <ns0:ext uri="{BB962C8B-B14F-4D97-AF65-F5344CB8AC3E}">
        <ns4:creationId val="1483844255"/>
      </ns0:ext>
    </ns0:extLst>
  </ns0:cSld>
  <ns0:clrMapOvr>
    <ns1:masterClrMapping/>
  </ns0:clrMapOvr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23</cp:revision>
  <dcterms:created xsi:type="dcterms:W3CDTF">2026-01-09T15:25:27Z</dcterms:created>
  <dcterms:modified xsi:type="dcterms:W3CDTF">2026-07-09T21:01:16Z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