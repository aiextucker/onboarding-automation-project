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297454"/>
          </ns1:xfrm>
          <ns1:prstGeom prst="rect">
            <ns1:avLst/>
          </ns1:prstGeom>
        </ns0:spPr>
        <ns0:txBody>
          <ns1:bodyPr wrap="square"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New Jersey Office Systems </ns1:t>
            </ns1: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Onboarding Kick-off Call</ns1:t>
            </ns1:r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178301"/>
            <ns1:ext cx="4791079" cy="284758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sz="1200" dirty="0">
                <ns1:latin typeface="Montserrat"/>
                <ns1:ea typeface="Montserrat"/>
                <ns1:cs typeface="Montserrat"/>
                <ns1:sym typeface="Montserrat"/>
                <ns1:solidFill>
                  <ns1:srgbClr val="6EBE4F"/>
                </ns1:solidFill>
                <ns1:highlight>
                  <ns1:srgbClr val="6EBE4F"/>
                </ns1:highlight>
              </ns1:rPr>
              <ns1:t>NEEDS: Kickoff date </ns1:t>
            </ns1: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9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Move away from E-Automate because it is cumbersome, freezes frequently, and slows common workflows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9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Give service, field, billing, and collections teams shared visibility without manual workarounds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9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Rev.io PSA gives NJOS a simpler shared workspace for tickets, work orders, and field activity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9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operational visibility across service, billing context, payments, and customer follow-up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549946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Standard license count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Standard Licenses at $</ns1:t>
              </ns1: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Standard license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Field license count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Field Licenses at $</ns1:t>
              </ns1: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Field license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Billing start date</ns1:t>
              </ns1:r>
              <ns1:endParaRPr lang="en-US" sz="1300" dirty="0">
                <ns1:highlight>
                  <ns1:srgbClr val="00FF00"/>
                </ns1:highlight>
              </ns1:endParaRPr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Instance URL:  </ns1:t>
              </ns1:r>
              <ns1:r>
                <ns1:rPr lang="en-US" sz="1400" i="1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6EBE4F"/>
                  </ns1:highlight>
                </ns1:rPr>
                <ns1:t>NEEDS: Instance URL</ns1:t>
              </ns1:r>
              <ns1:endParaRPr lang="en-US" sz="1400" i="1" dirty="0">
                <ns1:highlight>
                  <ns1:srgbClr val="00FF00"/>
                </ns1:highlight>
              </ns1:endParaRPr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B0B4CC"/>
                  </ns1:solidFill>
                </ns1:rPr>
                <ns1:t>☐ Quoting</ns1:t>
              </ns1:r>
              <ns1:endParaRPr lang="en-US" sz="1200" dirty="0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Inventory</ns1:t>
              </ns1:r>
              <ns1:endParaRPr lang="en-US" sz="1200" dirty="0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 dirty="0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Project Management</ns1:t>
              </ns1:r>
              <ns1:endParaRPr lang="en-US" sz="1200" dirty="0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</ns1:rPr>
                <ns1:t>✓ Mobile App</ns1:t>
              </ns1:r>
              <ns1:endParaRPr lang="en-US" sz="1200" dirty="0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