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69" r:id="rId5"/>
    <p:sldId id="272" r:id="rId6"/>
    <p:sldId id="273" r:id="rId7"/>
    <p:sldId id="278" r:id="rId8"/>
    <p:sldId id="279" r:id="rId9"/>
    <p:sldId id="256" r:id="rId10"/>
    <p:sldId id="257" r:id="rId11"/>
    <p:sldId id="258" r:id="rId12"/>
    <p:sldId id="274" r:id="rId13"/>
    <p:sldId id="260" r:id="rId14"/>
    <p:sldId id="275" r:id="rId15"/>
    <p:sldId id="276" r:id="rId16"/>
    <p:sldId id="277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E2E8C-D905-611B-B218-2DC9191F6ADD}" v="216" dt="2026-07-21T01:16:34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7B5D971A-87C7-53D3-360C-D3937E76514F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F651BDAA-06E1-D702-D5AA-4A11732D4952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>
            <ns1:extLst>
              <ns1:ext uri="{FF2B5EF4-FFF2-40B4-BE49-F238E27FC236}">
                <ns2:creationId id="{8C0FE348-DF90-ED7B-9C98-8D89F2002601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Package details: source field `deal.packageDetails`; context/value: $560 MRR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Standard license count: source field `(no source field found)`; context/value: (missing)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Standard license price: source field `(no source field found)`; context/value: (missing)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Field license count: source field `(no source field found)`; context/value: (missing)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Field license price: source field `(no source field found)`; context/value: (missing)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Billing start date: source field `(no source field found)`; context/value: (missing)</ns1:t>
            </ns1:r>
            <ns1:endParaRPr lang="en-US"/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D62AAE7B-E425-1161-9DAE-0DD3727B3C49}"/>
              </ns1:ext>
            </ns1:extLst>
          </ns0:cNvPr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3</ns1:t>
            </ns1:fld>
            <ns1:endParaRPr lang="en-US"/>
          </ns1:p>
        </ns0:txBody>
      </ns0:sp>
    </ns0:spTree>
    <ns0:extLst>
      <ns0:ext uri="{BB962C8B-B14F-4D97-AF65-F5344CB8AC3E}">
        <ns3:creationId val="2059260493"/>
      </ns0:ext>
    </ns0:extLst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3D26A2CE-D60F-8F51-1BE8-EC10DC1515FF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CE68CDC1-D6F9-E712-83B8-F12FC9B577BC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>
            <ns1:extLst>
              <ns1:ext uri="{FF2B5EF4-FFF2-40B4-BE49-F238E27FC236}">
                <ns2:creationId id="{033A0BF7-07BC-C053-B94D-A35D0C6C2725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Salesforce Business Issues Details: source field `salesforce.businessIssuesDetails`; context/value: E-Automate is slowing common service workflows and forces teams to work across disconnected billing, field, and collections views.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Salesforce Business Issue Pick List: source field `salesforce.businessIssuePickList`; context/value: Disconnected service workflows; Limited field visibility; Manual billing and collections follow-up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Salesforce Problems: source field `salesforce.problems`; context/value: Service teams do not have one reliable workspace for tickets and work orders.; Field activity and back-office billing context are split across tools.; Payment and AR follow-up require manual workarounds.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Fallback motivation/pain-point context: source field `salesforce.problems`; context/value: Service teams do not have one reliable workspace for tickets and work orders.; Field activity and back-office billing context are split across tools.</ns1:t>
            </ns1:r>
            <ns1:endParaRPr lang="en-US"/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F416B3D1-5B13-C82F-D15D-E407BAB70DB4}"/>
              </ns1:ext>
            </ns1:extLst>
          </ns0:cNvPr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4</ns1:t>
            </ns1:fld>
            <ns1:endParaRPr lang="en-US"/>
          </ns1:p>
        </ns0:txBody>
      </ns0:sp>
    </ns0:spTree>
    <ns0:extLst>
      <ns0:ext uri="{BB962C8B-B14F-4D97-AF65-F5344CB8AC3E}">
        <ns3:creationId val="2696614909"/>
      </ns0:ext>
    </ns0:extLst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6E1065AF-5E47-7FA3-92FC-7CF5E1148248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D8B7501D-8809-601E-6493-B8ED2D661DA0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>
            <ns1:extLst>
              <ns1:ext uri="{FF2B5EF4-FFF2-40B4-BE49-F238E27FC236}">
                <ns2:creationId id="{E9452B87-6944-4BA7-61D9-DF7F0F697231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Salesforce Value: source field `salesforce.value`; context/value: Rev.io gives service, field, billing, and AR teams shared visibility with fewer handoffs and less manual reconciliation.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Salesforce Solutions: source field `salesforce.solutions`; context/value: Centralized PSA workspace for tickets, work orders, and field activity.; Operational visibility across service, billing context, payments, and follow-up.; Module path aligned to mobile field work, inventory, project management, and Rev.io Payments.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Fallback expected value: source field `brief.expectedValue`; context/value: Shared service, field, billing, and AR visibility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Fallback solution context: source field `brief.solutions`; context/value: Simpler ticket and work-order workspace; Centralized operations and payment visibility</ns1:t>
            </ns1:r>
            <ns1:endParaRPr lang="en-US"/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E1A2FC3E-CC9A-EA9A-AA0C-1D753D08895B}"/>
              </ns1:ext>
            </ns1:extLst>
          </ns0:cNvPr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5</ns1:t>
            </ns1:fld>
            <ns1:endParaRPr lang="en-US"/>
          </ns1:p>
        </ns0:txBody>
      </ns0:sp>
    </ns0:spTree>
    <ns0:extLst>
      <ns0:ext uri="{BB962C8B-B14F-4D97-AF65-F5344CB8AC3E}">
        <ns3:creationId val="2596275576"/>
      </ns0:ext>
    </ns0:extLst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Instance URL: source field `(no source field found)`; context/value: (missing)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Priority modules: source field `brief.priorityModules`; context/value: Mobile App; Rev.io Payments; Inventory; Project Management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Integrations: source field `brief.integrations`; context/value: QuickBooks Desktop workaround; Authorize.net; Rev.io Payments</ns1:t>
            </ns1:r>
            <ns1:endParaRPr lang="en-US"/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4</ns1:t>
            </ns1:fld>
            <ns1:endParaRPr lang="en-US"/>
          </ns1:p>
        </ns0:txBody>
      </ns0:sp>
    </ns0:spTree>
    <ns0:extLst>
      <ns0:ext uri="{BB962C8B-B14F-4D97-AF65-F5344CB8AC3E}">
        <ns2:creationId val="1024086991"/>
      </ns0:ext>
    </ns0:extLst>
  </ns0:cSld>
  <ns0:clrMapOvr>
    <ns1:masterClrMapping/>
  </ns0:clrMapOvr>
</ns0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2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7960E06A-934E-9D07-9904-9371D1B6E167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AE793E45-FD64-CB3A-E6ED-4DAC7E2A794B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3" name="Notes Placeholder 2">
            <ns1:extLst>
              <ns1:ext uri="{FF2B5EF4-FFF2-40B4-BE49-F238E27FC236}">
                <ns2:creationId id="{CEDB9976-0180-275C-B0C9-E1C3D466C65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 wrap="square" rtlCol="0"/>
          <ns1:lstStyle/>
          <ns1:p>
            <ns1:r>
              <ns1:rPr lang="en-US" sz="1000" b="1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Generated source context:</ns1:t>
            </ns1:r>
            <ns1:endParaRPr lang="en-US"/>
          </ns1:p>
          <ns1:p>
            <ns1:r>
              <ns1:rPr lang="en-US" sz="800">
                <ns1:latin typeface="Montserrat"/>
                <ns1:ea typeface="Montserrat"/>
                <ns1:cs typeface="Montserrat"/>
                <ns1:solidFill>
                  <ns1:srgbClr val="1D3756"/>
                </ns1:solidFill>
              </ns1:rPr>
              <ns1:t>Next steps: source field `brief.nextSteps`; context/value: Set kickoff target date and time; Confirm Vanessa vs. Shawn onboarding ownership and approval authority; Confirm Sue O'Keefe role; Collect merchant statements for Rev.io Payments migration; Confirm QuickBooks Desktop workaround and accounting plan; Collect GL/chart of accounts details; Confirm field mobile workflow priorities</ns1:t>
            </ns1:r>
            <ns1:endParaRPr lang="en-US"/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87C2732E-C6CA-097E-73A2-CA0338590DAC}"/>
              </ns1:ext>
            </ns1:extLst>
          </ns0:cNvPr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F7021451-1387-4CA6-816F-3879F97B5CBC}" type="slidenum">
              <ns1:rPr lang="en-US"/>
              <ns1:t>11</ns1:t>
            </ns1:fld>
            <ns1:endParaRPr lang="en-US"/>
          </ns1:p>
        </ns0:txBody>
      </ns0:sp>
    </ns0:spTree>
    <ns0:extLst>
      <ns0:ext uri="{BB962C8B-B14F-4D97-AF65-F5344CB8AC3E}">
        <ns3:creationId val="2528623351"/>
      </ns0:ext>
    </ns0:extLst>
  </ns0:cSld>
  <ns0:clrMapOvr>
    <ns1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64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700">
                <ns1:solidFill>
                  <ns1:srgbClr val="FFFFFF"/>
                </ns1:solidFill>
              </ns1:rPr>
              <ns1:t>New Jersey Office Systems</ns1:t>
            </ns1:r>
            <ns1:endParaRPr lang="en-US"/>
          </ns1:p>
          <ns1:p>
            <ns1:pPr algn="l">
              <ns1:buNone/>
            </ns1:pPr>
            <ns1:r>
              <ns1:rPr lang="en-US" sz="1800">
                <ns1:solidFill>
                  <ns1:srgbClr val="FFFFFF"/>
                </ns1:solidFill>
              </ns1:rPr>
              <ns1:t>Onboarding Kick-off Call</ns1:t>
            </ns1:r>
            <ns1:endParaRPr lang="en-US"/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580000"/>
            <ns1:ext cx="4791079" cy="360000"/>
          </ns1:xfrm>
          <ns1:prstGeom prst="rect">
            <ns1:avLst/>
          </ns1:prstGeom>
          <ns1:solidFill>
            <ns1:srgbClr val="00FF00"/>
          </ns1:solidFill>
          <ns1:ln>
            <ns1:noFill/>
          </ns1:ln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300" b="1">
                <ns1:solidFill>
                  <ns1:srgbClr val="1D3756"/>
                </ns1:solidFill>
                <ns1:highlight>
                  <ns1:srgbClr val="00FF00"/>
                </ns1:highlight>
              </ns1:rPr>
              <ns1:t>NEEDS: Kickoff date</ns1:t>
            </ns1:r>
            <ns1:endParaRPr lang="en-US"/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1378" y="588926"/>
            <ns1:ext cx="3988797" cy="5584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</ns1:t>
            </ns1:r>
            <ns1:r>
              <ns1:rPr lang="en-US" sz="2800" b="1" dirty="0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46315" y="1155626"/>
            <ns1:ext cx="8251370" cy="3289010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300">
                  <ns1:solidFill>
                    <ns1:srgbClr val="F8F8F8"/>
                  </ns1:solidFill>
                  <ns1:latin typeface="Montserrat"/>
                </ns1:rPr>
                <ns1:t>$560 MRR</ns1:t>
              </ns1:r>
              <ns1:endParaRPr lang="en-US" sz="1300" dirty="0">
                <ns1:solidFill>
                  <ns1:srgbClr val="F8F8F8"/>
                </ns1:solidFill>
                <ns1:highlight>
                  <ns1:srgbClr val="00FF00"/>
                </ns1:highlight>
                <ns1:latin typeface="Montserrat"/>
              </ns1:endParaRPr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700000"/>
            </ns1:xfrm>
            <ns1:prstGeom prst="rect">
              <ns1:avLst/>
            </ns1:prstGeom>
            <ns1:noFill/>
            <ns1:ln/>
          </ns0:spPr>
          <ns0:txBody>
            <ns1:bodyPr wrap="square" rtlCol="0"/>
            <ns1:lstStyle/>
            <ns1:p>
              <ns1:r>
                <ns1:rPr lang="en-US" sz="1150">
                  <ns1:solidFill>
                    <ns1:srgbClr val="FFFFFF"/>
                  </ns1:solidFill>
                </ns1:rPr>
                <ns1:t>Standard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  <ns1:p>
              <ns1:r>
                <ns1:rPr lang="en-US" sz="1150">
                  <ns1:solidFill>
                    <ns1:srgbClr val="FFFFFF"/>
                  </ns1:solidFill>
                </ns1:rPr>
                <ns1:t>Field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3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Start date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ns2:creationId id="{F3167B29-BF65-330F-EF37-AE5D3AD5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ns2:creationId id="{23A92973-B364-9534-EEA0-77AB5C5699B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0" name="Text 2">
            <a:extLst>
              <a:ext uri="{FF2B5EF4-FFF2-40B4-BE49-F238E27FC236}">
                <ns2:creationId id="{05974058-8179-6D83-4AD2-C872EB03F598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OVERVIEW</a:t>
            </a: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ns2:creationId id="{E7D36099-DAE6-B69E-54C0-351403F96BE5}"/>
              </a:ext>
            </a:extLst>
          </p:cNvPr>
          <p:cNvSpPr/>
          <p:nvPr/>
        </p:nvSpPr>
        <p:spPr>
          <a:xfrm>
            <a:off x="446820" y="588926"/>
            <a:ext cx="5578112" cy="6292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3756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Business Case Review</a:t>
            </a:r>
            <a:endParaRPr lang="en-US" sz="2800">
              <a:latin typeface="Montserrat"/>
            </a:endParaRPr>
          </a:p>
        </p:txBody>
      </p:sp>
      <p:grpSp>
        <p:nvGrpSpPr>
          <p:cNvPr id="28" name="Group 27">
            <a:extLst>
              <a:ext uri="{FF2B5EF4-FFF2-40B4-BE49-F238E27FC236}">
                <ns2:creationId id="{7C1ACAC9-7751-BFD1-F20A-DE94E843AF7A}"/>
              </a:ext>
            </a:extLst>
          </p:cNvPr>
          <p:cNvGrpSpPr/>
          <p:nvPr/>
        </p:nvGrpSpPr>
        <p:grpSpPr>
          <a:xfrm>
            <a:off x="440874" y="1388801"/>
            <a:ext cx="8260077" cy="2992045"/>
            <a:chOff x="454666" y="2157984"/>
            <a:chExt cx="3843014" cy="1179576"/>
          </a:xfrm>
        </p:grpSpPr>
        <p:grpSp>
          <p:nvGrpSpPr>
            <p:cNvPr id="26" name="Group 25">
              <a:extLst>
                <a:ext uri="{FF2B5EF4-FFF2-40B4-BE49-F238E27FC236}">
                  <ns2:creationId id="{7D6B76B0-F48F-394F-CEBB-22036F470CD8}"/>
                </a:ext>
              </a:extLst>
            </p:cNvPr>
            <p:cNvGrpSpPr/>
            <p:nvPr/>
          </p:nvGrpSpPr>
          <p:grpSpPr>
            <a:xfrm>
              <a:off x="454666" y="2157984"/>
              <a:ext cx="3843014" cy="1179576"/>
              <a:chOff x="454666" y="2157984"/>
              <a:chExt cx="3843014" cy="1179576"/>
            </a:xfrm>
          </p:grpSpPr>
          <p:sp>
            <p:nvSpPr>
              <p:cNvPr id="5" name="Shape 4">
                <a:extLst>
                  <a:ext uri="{FF2B5EF4-FFF2-40B4-BE49-F238E27FC236}">
                    <ns2:creationId id="{C1C9DA2D-CFCA-B1F5-2202-FC30D2B5B803}"/>
                  </a:ext>
                </a:extLst>
              </p:cNvPr>
              <p:cNvSpPr/>
              <p:nvPr/>
            </p:nvSpPr>
            <p:spPr>
              <a:xfrm>
                <a:off x="454666" y="2249424"/>
                <a:ext cx="3843014" cy="10881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hape 5">
                <a:extLst>
                  <a:ext uri="{FF2B5EF4-FFF2-40B4-BE49-F238E27FC236}">
                    <ns2:creationId id="{0D69DBE0-33F0-9D4C-8D13-3E5A7FB3D5F5}"/>
                  </a:ext>
                </a:extLst>
              </p:cNvPr>
              <p:cNvSpPr/>
              <p:nvPr/>
            </p:nvSpPr>
            <p:spPr>
              <a:xfrm>
                <a:off x="454666" y="2157984"/>
                <a:ext cx="3843014" cy="193906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6">
              <a:extLst>
                <a:ext uri="{FF2B5EF4-FFF2-40B4-BE49-F238E27FC236}">
                  <ns2:creationId id="{533C2C17-7230-94E3-091E-3CF604E0ECF3}"/>
                </a:ext>
              </a:extLst>
            </p:cNvPr>
            <p:cNvSpPr/>
            <p:nvPr/>
          </p:nvSpPr>
          <p:spPr>
            <a:xfrm>
              <a:off x="548640" y="2174322"/>
              <a:ext cx="3474720" cy="17044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rPr>
                <a:t>Business Issues &amp; Current Pain Points</a:t>
              </a:r>
              <a:endParaRPr lang="en-US"/>
            </a:p>
          </p:txBody>
        </p:sp>
        <p:sp>
          <p:nvSpPr>
            <p:cNvPr id="8" name="Text 7">
              <a:extLst>
                <a:ext uri="{FF2B5EF4-FFF2-40B4-BE49-F238E27FC236}">
                  <ns2:creationId id="{7E0D043E-C1AF-2C4C-5D15-DA710E4FF3E9}"/>
                </a:ext>
              </a:extLst>
            </p:cNvPr>
            <p:cNvSpPr/>
            <p:nvPr/>
          </p:nvSpPr>
          <p:spPr>
            <a:xfrm>
              <a:off x="640080" y="2497724"/>
              <a:ext cx="3474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• </a:t>
              </a:r>
              <a:r>
                <a:rPr lang="en-US" sz="1200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E-Automate workflow friction slows service, field, billing, and collections</a:t>
              </a:r>
              <a:endParaRPr lang="en-US"/>
            </a:p>
            <a:p>
              <a:r>
                <a:rPr lang="en-US" sz="1200" b="1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• </a:t>
              </a:r>
              <a:r>
                <a:rPr lang="en-US" sz="1200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Disconnected service workflows</a:t>
              </a:r>
              <a:endParaRPr lang="en-US"/>
            </a:p>
            <a:p>
              <a:r>
                <a:rPr lang="en-US" sz="1200" b="1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• </a:t>
              </a:r>
              <a:r>
                <a:rPr lang="en-US" sz="1200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Limited field visibility</a:t>
              </a:r>
              <a:endParaRPr lang="en-US"/>
            </a:p>
            <a:p>
              <a:r>
                <a:rPr lang="en-US" sz="1200" b="1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• </a:t>
              </a:r>
              <a:r>
                <a:rPr lang="en-US" sz="1200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Manual billing and collections follow-up</a:t>
              </a:r>
              <a:endParaRPr lang="en-US"/>
            </a:p>
          </p:txBody>
        </p:sp>
      </p:grpSp>
      <p:pic>
        <p:nvPicPr>
          <p:cNvPr id="33" name="Picture 32" descr="A blue and black logo&#10;&#10;AI-generated content may be incorrect.">
            <a:extLst>
              <a:ext uri="{FF2B5EF4-FFF2-40B4-BE49-F238E27FC236}">
                <ns2:creationId id="{17184858-F328-64E7-CEE7-62B2137FE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</p:spTree>
    <p:extLst>
      <p:ext uri="{BB962C8B-B14F-4D97-AF65-F5344CB8AC3E}">
        <p14:creationId val="1922762526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ns2:creationId id="{3B957091-3A59-9887-FF55-1819BD19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ns2:creationId id="{2C543515-E62B-2416-EA5A-97DA4FD44E8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0" name="Text 2">
            <a:extLst>
              <a:ext uri="{FF2B5EF4-FFF2-40B4-BE49-F238E27FC236}">
                <ns2:creationId id="{BA4B345A-239C-34DE-A22F-3FF3E2958BFF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OVERVIEW</a:t>
            </a: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ns2:creationId id="{12D1E842-5504-A290-3D9F-5D456D5C9223}"/>
              </a:ext>
            </a:extLst>
          </p:cNvPr>
          <p:cNvSpPr/>
          <p:nvPr/>
        </p:nvSpPr>
        <p:spPr>
          <a:xfrm>
            <a:off x="446820" y="588926"/>
            <a:ext cx="5578112" cy="6292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3756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Business Case Review</a:t>
            </a:r>
            <a:endParaRPr lang="en-US" sz="2800">
              <a:latin typeface="Montserrat"/>
            </a:endParaRPr>
          </a:p>
        </p:txBody>
      </p:sp>
      <p:grpSp>
        <p:nvGrpSpPr>
          <p:cNvPr id="28" name="Group 27">
            <a:extLst>
              <a:ext uri="{FF2B5EF4-FFF2-40B4-BE49-F238E27FC236}">
                <ns2:creationId id="{DF159CAA-894F-2900-A6D5-D71B6AB24C46}"/>
              </a:ext>
            </a:extLst>
          </p:cNvPr>
          <p:cNvGrpSpPr/>
          <p:nvPr/>
        </p:nvGrpSpPr>
        <p:grpSpPr>
          <a:xfrm>
            <a:off x="440874" y="1388801"/>
            <a:ext cx="8260077" cy="2992045"/>
            <a:chOff x="454666" y="2157984"/>
            <a:chExt cx="3843014" cy="1179576"/>
          </a:xfrm>
        </p:grpSpPr>
        <p:grpSp>
          <p:nvGrpSpPr>
            <p:cNvPr id="26" name="Group 25">
              <a:extLst>
                <a:ext uri="{FF2B5EF4-FFF2-40B4-BE49-F238E27FC236}">
                  <ns2:creationId id="{8835AD95-F4A8-A0ED-AB52-C50876C281D4}"/>
                </a:ext>
              </a:extLst>
            </p:cNvPr>
            <p:cNvGrpSpPr/>
            <p:nvPr/>
          </p:nvGrpSpPr>
          <p:grpSpPr>
            <a:xfrm>
              <a:off x="454666" y="2157984"/>
              <a:ext cx="3843014" cy="1179576"/>
              <a:chOff x="454666" y="2157984"/>
              <a:chExt cx="3843014" cy="1179576"/>
            </a:xfrm>
          </p:grpSpPr>
          <p:sp>
            <p:nvSpPr>
              <p:cNvPr id="5" name="Shape 4">
                <a:extLst>
                  <a:ext uri="{FF2B5EF4-FFF2-40B4-BE49-F238E27FC236}">
                    <ns2:creationId id="{5A54F80F-8303-A060-CB29-5E131DC0E3E2}"/>
                  </a:ext>
                </a:extLst>
              </p:cNvPr>
              <p:cNvSpPr/>
              <p:nvPr/>
            </p:nvSpPr>
            <p:spPr>
              <a:xfrm>
                <a:off x="454666" y="2249424"/>
                <a:ext cx="3843014" cy="10881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hape 5">
                <a:extLst>
                  <a:ext uri="{FF2B5EF4-FFF2-40B4-BE49-F238E27FC236}">
                    <ns2:creationId id="{CC2BA08B-7FF0-9820-AC78-36A9F08BD88B}"/>
                  </a:ext>
                </a:extLst>
              </p:cNvPr>
              <p:cNvSpPr/>
              <p:nvPr/>
            </p:nvSpPr>
            <p:spPr>
              <a:xfrm>
                <a:off x="454666" y="2157984"/>
                <a:ext cx="3843014" cy="193906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6">
              <a:extLst>
                <a:ext uri="{FF2B5EF4-FFF2-40B4-BE49-F238E27FC236}">
                  <ns2:creationId id="{5B45CA69-43B8-54AC-1FC0-EB1CCBB38020}"/>
                </a:ext>
              </a:extLst>
            </p:cNvPr>
            <p:cNvSpPr/>
            <p:nvPr/>
          </p:nvSpPr>
          <p:spPr>
            <a:xfrm>
              <a:off x="548640" y="2174322"/>
              <a:ext cx="3474720" cy="17044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rPr>
                <a:t>Rev.io Value &amp; Solutions</a:t>
              </a:r>
              <a:endParaRPr lang="en-US"/>
            </a:p>
          </p:txBody>
        </p:sp>
        <p:sp>
          <p:nvSpPr>
            <p:cNvPr id="8" name="Text 7">
              <a:extLst>
                <a:ext uri="{FF2B5EF4-FFF2-40B4-BE49-F238E27FC236}">
                  <ns2:creationId id="{62B8D862-0C61-A1FB-D522-DFBFCC877490}"/>
                </a:ext>
              </a:extLst>
            </p:cNvPr>
            <p:cNvSpPr/>
            <p:nvPr/>
          </p:nvSpPr>
          <p:spPr>
            <a:xfrm>
              <a:off x="640080" y="2497724"/>
              <a:ext cx="3474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• </a:t>
              </a:r>
              <a:r>
                <a:rPr lang="en-US" sz="1200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Shared visibility for service, field, billing, and AR with fewer handoffs</a:t>
              </a:r>
              <a:endParaRPr lang="en-US"/>
            </a:p>
            <a:p>
              <a:r>
                <a:rPr lang="en-US" sz="1200" b="1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• </a:t>
              </a:r>
              <a:r>
                <a:rPr lang="en-US" sz="1200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Centralized PSA workspace for tickets, work orders, and field activity</a:t>
              </a:r>
              <a:endParaRPr lang="en-US"/>
            </a:p>
            <a:p>
              <a:r>
                <a:rPr lang="en-US" sz="1200" b="1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• </a:t>
              </a:r>
              <a:r>
                <a:rPr lang="en-US" sz="1200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Operational visibility across service, billing, payments, and follow-up</a:t>
              </a:r>
              <a:endParaRPr lang="en-US"/>
            </a:p>
            <a:p>
              <a:r>
                <a:rPr lang="en-US" sz="1200" b="1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• </a:t>
              </a:r>
              <a:r>
                <a:rPr lang="en-US" sz="1200">
                  <a:solidFill>
                    <a:srgbClr val="1D3756"/>
                  </a:solidFill>
                  <a:latin typeface="Montserrat"/>
                  <a:ea typeface="Montserrat"/>
                  <a:cs typeface="Montserrat"/>
                </a:rPr>
                <a:t>Module path aligned to mobile field work, inventory, and projects</a:t>
              </a:r>
              <a:endParaRPr lang="en-US"/>
            </a:p>
          </p:txBody>
        </p:sp>
      </p:grpSp>
      <p:pic>
        <p:nvPicPr>
          <p:cNvPr id="33" name="Picture 32" descr="A blue and black logo&#10;&#10;AI-generated content may be incorrect.">
            <a:extLst>
              <a:ext uri="{FF2B5EF4-FFF2-40B4-BE49-F238E27FC236}">
                <ns2:creationId id="{CD104B89-DB8B-B3B4-5163-6C1F785B4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</p:spTree>
    <p:extLst>
      <p:ext uri="{BB962C8B-B14F-4D97-AF65-F5344CB8AC3E}">
        <p14:creationId val="37263028"/>
      </p:ext>
    </p:extLst>
  </p:cSld>
  <p:clrMapOvr>
    <a:masterClrMapping/>
  </p:clrMapOvr>
</p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400" b="1">
                  <ns1:solidFill>
                    <ns1:srgbClr val="1D3756"/>
                  </ns1:solidFill>
                </ns1:rPr>
                <ns1:t>Instance URL:  </ns1:t>
              </ns1:r>
              <ns1:r>
                <ns1:rPr lang="en-US" sz="14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Instance URL</ns1:t>
              </ns1:r>
              <ns1:endParaRPr lang="en-US"/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/>
              </ns1:r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B0B4CC"/>
                  </ns1:solidFill>
                </ns1:rPr>
                <ns1:t>Quoting</ns1:t>
              </ns1:r>
              <ns1:endParaRPr lang="en-US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Inventory</ns1:t>
              </ns1:r>
              <ns1:endParaRPr lang="en-US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Project Management</ns1:t>
              </ns1:r>
              <ns1:endParaRPr lang="en-US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Mobile App</ns1:t>
              </ns1:r>
              <ns1:endParaRPr lang="en-US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2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90</cp:revision>
  <dcterms:created xsi:type="dcterms:W3CDTF">2026-01-09T15:25:27Z</dcterms:created>
  <dcterms:modified xsi:type="dcterms:W3CDTF">2026-07-21T01:17:11Z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