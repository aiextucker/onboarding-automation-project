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69" r:id="rId5"/>
    <p:sldId id="272" r:id="rId6"/>
    <p:sldId id="273" r:id="rId7"/>
    <p:sldId id="278" r:id="rId8"/>
    <p:sldId id="279" r:id="rId9"/>
    <p:sldId id="256" r:id="rId10"/>
    <p:sldId id="257" r:id="rId11"/>
    <p:sldId id="258" r:id="rId12"/>
    <p:sldId id="274" r:id="rId13"/>
    <p:sldId id="260" r:id="rId14"/>
    <p:sldId id="275" r:id="rId15"/>
    <p:sldId id="276" r:id="rId16"/>
    <p:sldId id="27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E2E8C-D905-611B-B218-2DC9191F6ADD}" v="216" dt="2026-07-21T01:16:34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7B5D971A-87C7-53D3-360C-D3937E76514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F651BDAA-06E1-D702-D5AA-4A11732D4952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8C0FE348-DF90-ED7B-9C98-8D89F2002601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Package details: source field `deal.packageDetails`; context/value: $560 MRR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Standard license count: source field `(no source field found)`; context/value: (missing)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Standard license price: source field `(no source field found)`; context/value: (missing)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Field license count: source field `(no source field found)`; context/value: (missing)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Field license price: source field `(no source field found)`; context/value: (missing)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Billing start date: source field `(no source field found)`; context/value: (missing)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D62AAE7B-E425-1161-9DAE-0DD3727B3C49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3</ns1:t>
            </ns1:fld>
            <ns1:endParaRPr lang="en-US"/>
          </ns1:p>
        </ns0:txBody>
      </ns0:sp>
    </ns0:spTree>
    <ns0:extLst>
      <ns0:ext uri="{BB962C8B-B14F-4D97-AF65-F5344CB8AC3E}">
        <ns3:creationId val="2059260493"/>
      </ns0:ext>
    </ns0:extLst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3D26A2CE-D60F-8F51-1BE8-EC10DC1515F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CE68CDC1-D6F9-E712-83B8-F12FC9B577BC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033A0BF7-07BC-C053-B94D-A35D0C6C2725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Salesforce Business Issues Details: source field `salesforce.businessIssuesDetails`; context/value: E-Automate is slowing common service workflows and forces teams to work across disconnected billing, field, and collections views.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Salesforce Business Issue Pick List: source field `salesforce.businessIssuePickList`; context/value: Disconnected service workflows; Limited field visibility; Manual billing and collections follow-up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Salesforce Problems: source field `salesforce.problems`; context/value: Service teams do not have one reliable workspace for tickets and work orders.; Field activity and back-office billing context are split across tools.; Payment and AR follow-up require manual workarounds.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Fallback motivation/pain-point context: source field `salesforce.problems`; context/value: Service teams do not have one reliable workspace for tickets and work orders.; Field activity and back-office billing context are split across tools.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F416B3D1-5B13-C82F-D15D-E407BAB70DB4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4</ns1:t>
            </ns1:fld>
            <ns1:endParaRPr lang="en-US"/>
          </ns1:p>
        </ns0:txBody>
      </ns0:sp>
    </ns0:spTree>
    <ns0:extLst>
      <ns0:ext uri="{BB962C8B-B14F-4D97-AF65-F5344CB8AC3E}">
        <ns3:creationId val="2696614909"/>
      </ns0:ext>
    </ns0:extLst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6E1065AF-5E47-7FA3-92FC-7CF5E1148248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D8B7501D-8809-601E-6493-B8ED2D661DA0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E9452B87-6944-4BA7-61D9-DF7F0F697231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Salesforce Value: source field `salesforce.value`; context/value: Rev.io gives service, field, billing, and AR teams shared visibility with fewer handoffs and less manual reconciliation.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Salesforce Solutions: source field `salesforce.solutions`; context/value: Centralized PSA workspace for tickets, work orders, and field activity.; Operational visibility across service, billing context, payments, and follow-up.; Module path aligned to mobile field work, inventory, project management, and Rev.io Payments.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Fallback expected value: source field `brief.expectedValue`; context/value: Shared service, field, billing, and AR visibility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Fallback solution context: source field `brief.solutions`; context/value: Simpler ticket and work-order workspace; Centralized operations and payment visibility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E1A2FC3E-CC9A-EA9A-AA0C-1D753D08895B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5</ns1:t>
            </ns1:fld>
            <ns1:endParaRPr lang="en-US"/>
          </ns1:p>
        </ns0:txBody>
      </ns0:sp>
    </ns0:spTree>
    <ns0:extLst>
      <ns0:ext uri="{BB962C8B-B14F-4D97-AF65-F5344CB8AC3E}">
        <ns3:creationId val="2596275576"/>
      </ns0:ext>
    </ns0:extLst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Instance URL: source field `(no source field found)`; context/value: (missing)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Priority modules: source field `brief.priorityModules`; context/value: Mobile App; Rev.io Payments; Inventory; Project Management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Integrations: source field `brief.integrations`; context/value: QuickBooks Desktop workaround; Authorize.net; Rev.io Payments</ns1:t>
            </ns1:r>
            <ns1:endParaRPr lang="en-US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4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2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7960E06A-934E-9D07-9904-9371D1B6E167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AE793E45-FD64-CB3A-E6ED-4DAC7E2A794B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CEDB9976-0180-275C-B0C9-E1C3D466C65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solidFill>
                  <ns1:srgbClr val="1D3756"/>
                </ns1:solidFill>
              </ns1:rPr>
              <ns1:t>Next steps: source field `brief.nextSteps`; context/value: Set kickoff target date and time; Confirm Vanessa vs. Shawn onboarding ownership and approval authority; Confirm Sue O'Keefe role; Collect merchant statements for Rev.io Payments migration; Confirm QuickBooks Desktop workaround and accounting plan; Collect GL/chart of accounts details; Confirm field mobile workflow priorities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87C2732E-C6CA-097E-73A2-CA0338590DAC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11</ns1:t>
            </ns1:fld>
            <ns1:endParaRPr lang="en-US"/>
          </ns1:p>
        </ns0:txBody>
      </ns0:sp>
    </ns0:spTree>
    <ns0:extLst>
      <ns0:ext uri="{BB962C8B-B14F-4D97-AF65-F5344CB8AC3E}">
        <ns3:creationId val="2528623351"/>
      </ns0:ext>
    </ns0:extLst>
  </ns0:cSld>
  <ns0:clrMapOvr>
    <ns1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  <ns1:solidFill>
            <ns1:srgbClr val="00FF00"/>
          </ns1:solidFill>
          <ns1:ln>
            <ns1:noFill/>
          </ns1:ln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 b="1">
                <ns1:solidFill>
                  <ns1:srgbClr val="1D3756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1378" y="588926"/>
            <ns1:ext cx="3988797" cy="5584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</ns1:t>
            </ns1:r>
            <ns1:r>
              <ns1:rPr lang="en-US" sz="2800" b="1" dirty="0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46315" y="1155626"/>
            <ns1:ext cx="8251370" cy="3289010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300">
                  <ns1:solidFill>
                    <ns1:srgbClr val="F8F8F8"/>
                  </ns1:solidFill>
                  <ns1:latin typeface="Montserrat"/>
                </ns1:rPr>
                <ns1:t>$560 MRR</ns1:t>
              </ns1:r>
              <ns1:endParaRPr lang="en-US" sz="1300" dirty="0">
                <ns1:solidFill>
                  <ns1:srgbClr val="F8F8F8"/>
                </ns1:solidFill>
                <ns1:highlight>
                  <ns1:srgbClr val="00FF00"/>
                </ns1:highlight>
                <ns1:latin typeface="Montserrat"/>
              </ns1:endParaRPr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3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F3167B29-BF65-330F-EF37-AE5D3AD589F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23A92973-B364-9534-EEA0-77AB5C5699BB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05974058-8179-6D83-4AD2-C872EB03F598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E7D36099-DAE6-B69E-54C0-351403F96BE5}"/>
              </ns1:ext>
            </ns1:extLst>
          </ns0:cNvPr>
          <ns0:cNvSpPr/>
          <ns0:nvPr/>
        </ns0:nvSpPr>
        <ns0:spPr>
          <ns1:xfrm>
            <ns1:off x="446820" y="588926"/>
            <ns1:ext cx="5578112" cy="629251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7C1ACAC9-7751-BFD1-F20A-DE94E843AF7A}"/>
              </ns1:ext>
            </ns1:extLst>
          </ns0:cNvPr>
          <ns0:cNvGrpSpPr/>
          <ns0:nvPr/>
        </ns0:nvGrpSpPr>
        <ns0:grpSpPr>
          <ns1:xfrm>
            <ns1:off x="440874" y="1388801"/>
            <ns1:ext cx="8260077" cy="2992045"/>
            <ns1:chOff x="454666" y="2157984"/>
            <ns1:chExt cx="3843014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7D6B76B0-F48F-394F-CEBB-22036F470CD8}"/>
                </ns1:ext>
              </ns1:extLst>
            </ns0:cNvPr>
            <ns0:cNvGrpSpPr/>
            <ns0:nvPr/>
          </ns0:nvGrpSpPr>
          <ns0:grpSpPr>
            <ns1:xfrm>
              <ns1:off x="454666" y="2157984"/>
              <ns1:ext cx="3843014" cy="1179576"/>
              <ns1:chOff x="454666" y="2157984"/>
              <ns1:chExt cx="3843014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1C9DA2D-CFCA-B1F5-2202-FC30D2B5B803}"/>
                  </ns1:ext>
                </ns1:extLst>
              </ns0:cNvPr>
              <ns0:cNvSpPr/>
              <ns0:nvPr/>
            </ns0:nvSpPr>
            <ns0:spPr>
              <ns1:xfrm>
                <ns1:off x="454666" y="2249424"/>
                <ns1:ext cx="3843014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0D69DBE0-33F0-9D4C-8D13-3E5A7FB3D5F5}"/>
                  </ns1:ext>
                </ns1:extLst>
              </ns0:cNvPr>
              <ns0:cNvSpPr/>
              <ns0:nvPr/>
            </ns0:nvSpPr>
            <ns0:spPr>
              <ns1:xfrm>
                <ns1:off x="454666" y="2157984"/>
                <ns1:ext cx="3843014" cy="193906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533C2C17-7230-94E3-091E-3CF604E0ECF3}"/>
                </ns1:ext>
              </ns1:extLst>
            </ns0:cNvPr>
            <ns0:cNvSpPr/>
            <ns0:nvPr/>
          </ns0:nvSpPr>
          <ns0:spPr>
            <ns1:xfrm>
              <ns1:off x="548640" y="2174322"/>
              <ns1:ext cx="3474720" cy="170447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100" b="1">
                  <ns1:latin typeface="Montserrat"/>
                  <ns1:ea typeface="Montserrat"/>
                  <ns1:cs typeface="Montserrat"/>
                  <ns1:solidFill>
                    <ns1:srgbClr val="FFFFFF"/>
                  </ns1:solidFill>
                </ns1:rPr>
                <ns1:t>Business Issues &amp; Current Pain Points</ns1:t>
              </ns1:r>
              <ns1:endParaRPr lang="en-US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7E0D043E-C1AF-2C4C-5D15-DA710E4FF3E9}"/>
                </ns1:ext>
              </ns1:extLst>
            </ns0:cNvPr>
            <ns0:cNvSpPr/>
            <ns0:nvPr/>
          </ns0:nvSpPr>
          <ns0:spPr>
            <ns1:xfrm>
              <ns1:off x="640080" y="249772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E-Automate workflow friction slows service, field, billing, and collections</ns1:t>
              </ns1:r>
              <ns1:endParaRPr lang="en-US"/>
            </ns1:p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Disconnected service workflows</ns1:t>
              </ns1:r>
              <ns1:endParaRPr lang="en-US"/>
            </ns1:p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Limited field visibility</ns1:t>
              </ns1:r>
              <ns1:endParaRPr lang="en-US"/>
            </ns1:p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Manual billing and collections follow-up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17184858-F328-64E7-CEE7-62B2137FEF2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1922762526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3B957091-3A59-9887-FF55-1819BD1920DD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2C543515-E62B-2416-EA5A-97DA4FD44E8B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A4B345A-239C-34DE-A22F-3FF3E2958BF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12D1E842-5504-A290-3D9F-5D456D5C9223}"/>
              </ns1:ext>
            </ns1:extLst>
          </ns0:cNvPr>
          <ns0:cNvSpPr/>
          <ns0:nvPr/>
        </ns0:nvSpPr>
        <ns0:spPr>
          <ns1:xfrm>
            <ns1:off x="446820" y="588926"/>
            <ns1:ext cx="5578112" cy="629251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DF159CAA-894F-2900-A6D5-D71B6AB24C46}"/>
              </ns1:ext>
            </ns1:extLst>
          </ns0:cNvPr>
          <ns0:cNvGrpSpPr/>
          <ns0:nvPr/>
        </ns0:nvGrpSpPr>
        <ns0:grpSpPr>
          <ns1:xfrm>
            <ns1:off x="440874" y="1388801"/>
            <ns1:ext cx="8260077" cy="2992045"/>
            <ns1:chOff x="454666" y="2157984"/>
            <ns1:chExt cx="3843014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8835AD95-F4A8-A0ED-AB52-C50876C281D4}"/>
                </ns1:ext>
              </ns1:extLst>
            </ns0:cNvPr>
            <ns0:cNvGrpSpPr/>
            <ns0:nvPr/>
          </ns0:nvGrpSpPr>
          <ns0:grpSpPr>
            <ns1:xfrm>
              <ns1:off x="454666" y="2157984"/>
              <ns1:ext cx="3843014" cy="1179576"/>
              <ns1:chOff x="454666" y="2157984"/>
              <ns1:chExt cx="3843014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5A54F80F-8303-A060-CB29-5E131DC0E3E2}"/>
                  </ns1:ext>
                </ns1:extLst>
              </ns0:cNvPr>
              <ns0:cNvSpPr/>
              <ns0:nvPr/>
            </ns0:nvSpPr>
            <ns0:spPr>
              <ns1:xfrm>
                <ns1:off x="454666" y="2249424"/>
                <ns1:ext cx="3843014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CC2BA08B-7FF0-9820-AC78-36A9F08BD88B}"/>
                  </ns1:ext>
                </ns1:extLst>
              </ns0:cNvPr>
              <ns0:cNvSpPr/>
              <ns0:nvPr/>
            </ns0:nvSpPr>
            <ns0:spPr>
              <ns1:xfrm>
                <ns1:off x="454666" y="2157984"/>
                <ns1:ext cx="3843014" cy="193906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5B45CA69-43B8-54AC-1FC0-EB1CCBB38020}"/>
                </ns1:ext>
              </ns1:extLst>
            </ns0:cNvPr>
            <ns0:cNvSpPr/>
            <ns0:nvPr/>
          </ns0:nvSpPr>
          <ns0:spPr>
            <ns1:xfrm>
              <ns1:off x="548640" y="2174322"/>
              <ns1:ext cx="3474720" cy="170447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100" b="1">
                  <ns1:latin typeface="Montserrat"/>
                  <ns1:ea typeface="Montserrat"/>
                  <ns1:cs typeface="Montserrat"/>
                  <ns1:solidFill>
                    <ns1:srgbClr val="FFFFFF"/>
                  </ns1:solidFill>
                </ns1:rPr>
                <ns1:t>Rev.io Value &amp; Solutions</ns1:t>
              </ns1:r>
              <ns1:endParaRPr lang="en-US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62B8D862-0C61-A1FB-D522-DFBFCC877490}"/>
                </ns1:ext>
              </ns1:extLst>
            </ns0:cNvPr>
            <ns0:cNvSpPr/>
            <ns0:nvPr/>
          </ns0:nvSpPr>
          <ns0:spPr>
            <ns1:xfrm>
              <ns1:off x="640080" y="249772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Shared visibility for service, field, billing, and AR with fewer handoffs</ns1:t>
              </ns1:r>
              <ns1:endParaRPr lang="en-US"/>
            </ns1:p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Centralized PSA workspace for tickets, work orders, and field activity</ns1:t>
              </ns1:r>
              <ns1:endParaRPr lang="en-US"/>
            </ns1:p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Operational visibility across service, billing, payments, and follow-up</ns1:t>
              </ns1:r>
              <ns1:endParaRPr lang="en-US"/>
            </ns1:p>
            <ns1:p>
              <ns1:r>
                <ns1:rPr lang="en-US" sz="1200" b="1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• </ns1:t>
              </ns1:r>
              <ns1:r>
                <ns1:rPr lang="en-US" sz="1200">
                  <ns1:latin typeface="Montserrat"/>
                  <ns1:ea typeface="Montserrat"/>
                  <ns1:cs typeface="Montserrat"/>
                  <ns1:solidFill>
                    <ns1:srgbClr val="1D3756"/>
                  </ns1:solidFill>
                </ns1:rPr>
                <ns1:t>Module path aligned to mobile field work, inventory, and projects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CD104B89-DB8B-B3B4-5163-6C1F785B4929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7263028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400" b="1">
                  <ns1:solidFill>
                    <ns1:srgbClr val="1D3756"/>
                  </ns1:solidFill>
                </ns1:rPr>
                <ns1:t>Instance URL:  </ns1:t>
              </ns1:r>
              <ns1:r>
                <ns1:rPr lang="en-US" sz="14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/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2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90</cp:revision>
  <dcterms:created xsi:type="dcterms:W3CDTF">2026-01-09T15:25:27Z</dcterms:created>
  <dcterms:modified xsi:type="dcterms:W3CDTF">2026-07-21T01:17:11Z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